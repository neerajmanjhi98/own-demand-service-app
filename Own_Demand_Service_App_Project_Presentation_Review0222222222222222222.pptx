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marR="0" algn="l">
      <a:lnSpc>
        <a:spcPct val="100000"/>
      </a:lnSpc>
      <a:spcBef>
        <a:spcPts val="0"/>
      </a:spcBef>
      <a:spcAft>
        <a:spcPts val="0"/>
      </a:spcAft>
      <a:buNone/>
    </a:defPPr>
    <a:lvl1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AB96F70-AEE2-41DE-B56D-7921EAF9746E}">
  <a:tblStyle styleId="{1AB96F70-AEE2-41DE-B56D-7921EAF9746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-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>
            <a:extLst>
              <a:ext uri="{FF2B5EF4-FFF2-40B4-BE49-F238E27FC236}">
                <a16:creationId xmlns:a16="http://schemas.microsoft.com/office/drawing/2014/main" id="{FCB71010-B9C7-43F1-8FD5-848C9BD89250}"/>
              </a:ext>
            </a:extLst>
          </p:cNvPr>
          <p:cNvSpPr>
            <a:spLocks noGrp="1"/>
          </p:cNvSpPr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>
            <a:extLst>
              <a:ext uri="{FF2B5EF4-FFF2-40B4-BE49-F238E27FC236}">
                <a16:creationId xmlns:a16="http://schemas.microsoft.com/office/drawing/2014/main" id="{CB922255-6C81-4019-AC9E-73C7B8DA3E5F}"/>
              </a:ext>
            </a:extLst>
          </p:cNvPr>
          <p:cNvSpPr>
            <a:spLocks noGrp="1"/>
          </p:cNvSpPr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" name="Google Shape;18;p3">
            <a:extLst>
              <a:ext uri="{FF2B5EF4-FFF2-40B4-BE49-F238E27FC236}">
                <a16:creationId xmlns:a16="http://schemas.microsoft.com/office/drawing/2014/main" id="{A4B27A40-5AEA-4106-A3A4-C57C7811521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91556" y="420624"/>
            <a:ext cx="1005840" cy="996696"/>
          </a:xfrm>
          <a:prstGeom prst="rect">
            <a:avLst/>
          </a:prstGeom>
          <a:ln>
            <a:noFill/>
          </a:ln>
        </p:spPr>
      </p:pic>
      <p:sp>
        <p:nvSpPr>
          <p:cNvPr id="19" name="Google Shape;19;p3">
            <a:extLst>
              <a:ext uri="{FF2B5EF4-FFF2-40B4-BE49-F238E27FC236}">
                <a16:creationId xmlns:a16="http://schemas.microsoft.com/office/drawing/2014/main" id="{59274BC5-DF21-4D50-933F-8D9320286306}"/>
              </a:ext>
            </a:extLst>
          </p:cNvPr>
          <p:cNvSpPr>
            <a:spLocks noGrp="1"/>
          </p:cNvSpPr>
          <p:nvPr/>
        </p:nvSpPr>
        <p:spPr>
          <a:xfrm>
            <a:off x="914400" y="1691640"/>
            <a:ext cx="103601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mbria"/>
              <a:buNone/>
            </a:pPr>
            <a:r>
              <a:rPr sz="27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LLOYD INSTITUTE OF ENGINEERING &amp; TECHNOLOGY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Google Shape;20;p3">
            <a:extLst>
              <a:ext uri="{FF2B5EF4-FFF2-40B4-BE49-F238E27FC236}">
                <a16:creationId xmlns:a16="http://schemas.microsoft.com/office/drawing/2014/main" id="{1138C525-3F94-4650-B313-E4E897AF1AF2}"/>
              </a:ext>
            </a:extLst>
          </p:cNvPr>
          <p:cNvSpPr>
            <a:spLocks noGrp="1"/>
          </p:cNvSpPr>
          <p:nvPr/>
        </p:nvSpPr>
        <p:spPr>
          <a:xfrm>
            <a:off x="914400" y="2112264"/>
            <a:ext cx="103601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CFE3EE"/>
              </a:buClr>
              <a:buSzPts val="1600"/>
              <a:buFont typeface="Calibri"/>
              <a:buNone/>
            </a:pPr>
            <a:r>
              <a:rPr sz="1800" b="0" i="0" u="none" strike="noStrike" cap="none">
                <a:solidFill>
                  <a:srgbClr val="CFE3EE"/>
                </a:solidFill>
                <a:latin typeface="Calibri"/>
                <a:ea typeface="Calibri"/>
                <a:cs typeface="Calibri"/>
              </a:rPr>
              <a:t>Department of Computer Science &amp; Engineering (Data Science)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Google Shape;21;p3">
            <a:extLst>
              <a:ext uri="{FF2B5EF4-FFF2-40B4-BE49-F238E27FC236}">
                <a16:creationId xmlns:a16="http://schemas.microsoft.com/office/drawing/2014/main" id="{E5883AE5-B06A-42AE-ABF3-B2E1E7FAA75B}"/>
              </a:ext>
            </a:extLst>
          </p:cNvPr>
          <p:cNvSpPr>
            <a:spLocks noGrp="1"/>
          </p:cNvSpPr>
          <p:nvPr/>
        </p:nvSpPr>
        <p:spPr>
          <a:xfrm>
            <a:off x="914400" y="2715768"/>
            <a:ext cx="1036015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6FB6CE"/>
              </a:buClr>
              <a:buSzPts val="2000"/>
              <a:buFont typeface="Calibri"/>
              <a:buNone/>
            </a:pPr>
            <a:r>
              <a:rPr sz="2000" b="1" i="0" u="none" strike="noStrike" cap="none">
                <a:solidFill>
                  <a:srgbClr val="6FB6CE"/>
                </a:solidFill>
                <a:latin typeface="Calibri"/>
                <a:ea typeface="Calibri"/>
                <a:cs typeface="Calibri"/>
              </a:rPr>
              <a:t>B.TECH MINI PROJECT  ·  FINAL EVALUATION (REVIEW-02)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Google Shape;22;p3">
            <a:extLst>
              <a:ext uri="{FF2B5EF4-FFF2-40B4-BE49-F238E27FC236}">
                <a16:creationId xmlns:a16="http://schemas.microsoft.com/office/drawing/2014/main" id="{274D3D96-FDF3-4EA1-B1B0-763FBC401669}"/>
              </a:ext>
            </a:extLst>
          </p:cNvPr>
          <p:cNvSpPr>
            <a:spLocks noGrp="1"/>
          </p:cNvSpPr>
          <p:nvPr/>
        </p:nvSpPr>
        <p:spPr>
          <a:xfrm>
            <a:off x="1280160" y="3200400"/>
            <a:ext cx="9628632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10196"/>
            </a:srgbClr>
          </a:solidFill>
          <a:ln w="9525" cap="flat" cmpd="sng">
            <a:solidFill>
              <a:srgbClr val="FFFFFF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>
            <a:extLst>
              <a:ext uri="{FF2B5EF4-FFF2-40B4-BE49-F238E27FC236}">
                <a16:creationId xmlns:a16="http://schemas.microsoft.com/office/drawing/2014/main" id="{731327F1-2985-4198-95D8-4F67AC208484}"/>
              </a:ext>
            </a:extLst>
          </p:cNvPr>
          <p:cNvSpPr>
            <a:spLocks noGrp="1"/>
          </p:cNvSpPr>
          <p:nvPr/>
        </p:nvSpPr>
        <p:spPr>
          <a:xfrm>
            <a:off x="1463040" y="3200400"/>
            <a:ext cx="9262872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sz="30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OWN DEMAND SERVICE APP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sz="30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 Web-Based Platform for On-Demand Household Services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" name="Google Shape;24;p3">
            <a:extLst>
              <a:ext uri="{FF2B5EF4-FFF2-40B4-BE49-F238E27FC236}">
                <a16:creationId xmlns:a16="http://schemas.microsoft.com/office/drawing/2014/main" id="{41936389-305E-4B57-ADFA-70117B26CE96}"/>
              </a:ext>
            </a:extLst>
          </p:cNvPr>
          <p:cNvSpPr>
            <a:spLocks noGrp="1"/>
          </p:cNvSpPr>
          <p:nvPr/>
        </p:nvSpPr>
        <p:spPr>
          <a:xfrm>
            <a:off x="914400" y="4709160"/>
            <a:ext cx="1036015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CFE3EE"/>
              </a:buClr>
              <a:buSzPts val="1500"/>
              <a:buFont typeface="Calibri"/>
              <a:buNone/>
            </a:pPr>
            <a:r>
              <a:rPr sz="1500">
                <a:solidFill>
                  <a:srgbClr val="CFE3EE"/>
                </a:solidFill>
                <a:latin typeface="Calibri"/>
                <a:ea typeface="Calibri"/>
                <a:cs typeface="Calibri"/>
              </a:rPr>
              <a:t>Mini Project Presentation – II (Final Evaluation)  |  Academic Session 2026–27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" name="Google Shape;25;p3">
            <a:extLst>
              <a:ext uri="{FF2B5EF4-FFF2-40B4-BE49-F238E27FC236}">
                <a16:creationId xmlns:a16="http://schemas.microsoft.com/office/drawing/2014/main" id="{C57302CD-F6E0-436B-9740-FC2E50421525}"/>
              </a:ext>
            </a:extLst>
          </p:cNvPr>
          <p:cNvSpPr>
            <a:spLocks noGrp="1"/>
          </p:cNvSpPr>
          <p:nvPr/>
        </p:nvSpPr>
        <p:spPr>
          <a:xfrm>
            <a:off x="914400" y="5303520"/>
            <a:ext cx="448056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>
            <a:defPPr algn="l">
              <a:defRPr sz="112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12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PROJECT GUIDE</a:t>
            </a:r>
          </a:p>
          <a:p>
            <a:pPr algn="l">
              <a:defRPr sz="112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en-US" sz="112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Dr. Alankrita Agarwal</a:t>
            </a:r>
            <a:endParaRPr sz="1125" b="1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algn="l">
              <a:defRPr sz="112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Department of Computer Science &amp; Engineering</a:t>
            </a:r>
          </a:p>
        </p:txBody>
      </p:sp>
      <p:sp>
        <p:nvSpPr>
          <p:cNvPr id="26" name="Google Shape;26;p3">
            <a:extLst>
              <a:ext uri="{FF2B5EF4-FFF2-40B4-BE49-F238E27FC236}">
                <a16:creationId xmlns:a16="http://schemas.microsoft.com/office/drawing/2014/main" id="{3DB86C18-3B0B-4E5A-A178-A8A00B49AF6F}"/>
              </a:ext>
            </a:extLst>
          </p:cNvPr>
          <p:cNvSpPr>
            <a:spLocks noGrp="1"/>
          </p:cNvSpPr>
          <p:nvPr/>
        </p:nvSpPr>
        <p:spPr>
          <a:xfrm>
            <a:off x="6949440" y="5303520"/>
            <a:ext cx="43891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>
            <a:defPPr algn="l">
              <a:defRPr sz="112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12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SUBMITTED BY</a:t>
            </a:r>
          </a:p>
          <a:p>
            <a:pPr algn="l">
              <a:defRPr sz="112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en-US" b="1" dirty="0"/>
              <a:t>Neeraj Manjhi</a:t>
            </a:r>
            <a:endParaRPr sz="1125" b="1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algn="l">
              <a:defRPr sz="112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Roll No.: 23015315400</a:t>
            </a:r>
            <a:r>
              <a:rPr lang="en-US" sz="1125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26</a:t>
            </a:r>
            <a:endParaRPr sz="1125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algn="l">
              <a:defRPr sz="112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Year IV  |  Section E</a:t>
            </a:r>
          </a:p>
        </p:txBody>
      </p:sp>
    </p:spTree>
    <p:extLst>
      <p:ext uri="{BB962C8B-B14F-4D97-AF65-F5344CB8AC3E}">
        <p14:creationId xmlns:p14="http://schemas.microsoft.com/office/powerpoint/2010/main" val="498135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>
            <a:extLst>
              <a:ext uri="{FF2B5EF4-FFF2-40B4-BE49-F238E27FC236}">
                <a16:creationId xmlns:a16="http://schemas.microsoft.com/office/drawing/2014/main" id="{6FAB075C-3233-4480-A22F-E5F2CFD5607E}"/>
              </a:ext>
            </a:extLst>
          </p:cNvPr>
          <p:cNvSpPr>
            <a:spLocks noGrp="1"/>
          </p:cNvSpPr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4">
            <a:extLst>
              <a:ext uri="{FF2B5EF4-FFF2-40B4-BE49-F238E27FC236}">
                <a16:creationId xmlns:a16="http://schemas.microsoft.com/office/drawing/2014/main" id="{51B6E9FB-39CE-4CAA-A6CF-FD2CC56EFC12}"/>
              </a:ext>
            </a:extLst>
          </p:cNvPr>
          <p:cNvSpPr>
            <a:spLocks noGrp="1"/>
          </p:cNvSpPr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4">
            <a:extLst>
              <a:ext uri="{FF2B5EF4-FFF2-40B4-BE49-F238E27FC236}">
                <a16:creationId xmlns:a16="http://schemas.microsoft.com/office/drawing/2014/main" id="{AE5BB5B1-F686-46D4-8B86-F864F9F7094C}"/>
              </a:ext>
            </a:extLst>
          </p:cNvPr>
          <p:cNvSpPr>
            <a:spLocks noGrp="1"/>
          </p:cNvSpPr>
          <p:nvPr/>
        </p:nvSpPr>
        <p:spPr>
          <a:xfrm>
            <a:off x="502920" y="457200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21295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4">
            <a:extLst>
              <a:ext uri="{FF2B5EF4-FFF2-40B4-BE49-F238E27FC236}">
                <a16:creationId xmlns:a16="http://schemas.microsoft.com/office/drawing/2014/main" id="{AFFFAE21-D7B6-4F93-8708-4B2B7D4A1FFB}"/>
              </a:ext>
            </a:extLst>
          </p:cNvPr>
          <p:cNvSpPr>
            <a:spLocks noGrp="1"/>
          </p:cNvSpPr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" name="Google Shape;36;p4">
            <a:extLst>
              <a:ext uri="{FF2B5EF4-FFF2-40B4-BE49-F238E27FC236}">
                <a16:creationId xmlns:a16="http://schemas.microsoft.com/office/drawing/2014/main" id="{87AFD780-1E24-45D7-A52E-045315DCDFD4}"/>
              </a:ext>
            </a:extLst>
          </p:cNvPr>
          <p:cNvSpPr>
            <a:spLocks noGrp="1"/>
          </p:cNvSpPr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sz="11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PROJECT FLOW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" name="Google Shape;37;p4">
            <a:extLst>
              <a:ext uri="{FF2B5EF4-FFF2-40B4-BE49-F238E27FC236}">
                <a16:creationId xmlns:a16="http://schemas.microsoft.com/office/drawing/2014/main" id="{F713C78C-65E7-41C4-8951-13871BA2D38D}"/>
              </a:ext>
            </a:extLst>
          </p:cNvPr>
          <p:cNvSpPr>
            <a:spLocks noGrp="1"/>
          </p:cNvSpPr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sz="3000" b="1" i="0" u="none" strike="noStrike" cap="none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Review-02 Presentation Agenda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" name="Google Shape;38;p4">
            <a:extLst>
              <a:ext uri="{FF2B5EF4-FFF2-40B4-BE49-F238E27FC236}">
                <a16:creationId xmlns:a16="http://schemas.microsoft.com/office/drawing/2014/main" id="{9C1F063C-6FF4-475C-B12F-046F87D7AE26}"/>
              </a:ext>
            </a:extLst>
          </p:cNvPr>
          <p:cNvSpPr>
            <a:spLocks noGrp="1"/>
          </p:cNvSpPr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sz="900" b="0" i="0" u="none" strike="noStrike" cap="none">
                <a:solidFill>
                  <a:srgbClr val="6B7593"/>
                </a:solidFill>
                <a:latin typeface="Calibri"/>
                <a:ea typeface="Calibri"/>
                <a:cs typeface="Calibri"/>
              </a:rPr>
              <a:t>OWN DEMAND SERVICE APP  ·  MINI PROJECT FINAL EVALUATION (REVIEW-02)  ·  2026–27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" name="Google Shape;39;p4">
            <a:extLst>
              <a:ext uri="{FF2B5EF4-FFF2-40B4-BE49-F238E27FC236}">
                <a16:creationId xmlns:a16="http://schemas.microsoft.com/office/drawing/2014/main" id="{B2982FFD-AA86-4213-A6CE-CF0CB25E8608}"/>
              </a:ext>
            </a:extLst>
          </p:cNvPr>
          <p:cNvSpPr>
            <a:spLocks noGrp="1"/>
          </p:cNvSpPr>
          <p:nvPr/>
        </p:nvSpPr>
        <p:spPr>
          <a:xfrm>
            <a:off x="1122883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sz="900" b="0" i="0" u="none" strike="noStrike" cap="none">
                <a:solidFill>
                  <a:srgbClr val="6B7593"/>
                </a:solidFill>
                <a:latin typeface="Calibri"/>
                <a:ea typeface="Calibri"/>
                <a:cs typeface="Calibri"/>
              </a:rPr>
              <a:t>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" name="Google Shape;40;p4">
            <a:extLst>
              <a:ext uri="{FF2B5EF4-FFF2-40B4-BE49-F238E27FC236}">
                <a16:creationId xmlns:a16="http://schemas.microsoft.com/office/drawing/2014/main" id="{A1623916-35A8-4415-8996-5C21DDF2506E}"/>
              </a:ext>
            </a:extLst>
          </p:cNvPr>
          <p:cNvSpPr>
            <a:spLocks noGrp="1"/>
          </p:cNvSpPr>
          <p:nvPr/>
        </p:nvSpPr>
        <p:spPr>
          <a:xfrm>
            <a:off x="1234440" y="1691640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 cap="flat" cmpd="sng">
            <a:solidFill>
              <a:srgbClr val="DEE4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4">
            <a:extLst>
              <a:ext uri="{FF2B5EF4-FFF2-40B4-BE49-F238E27FC236}">
                <a16:creationId xmlns:a16="http://schemas.microsoft.com/office/drawing/2014/main" id="{C5DC6CFF-C802-40BB-B15D-B1642DE14102}"/>
              </a:ext>
            </a:extLst>
          </p:cNvPr>
          <p:cNvSpPr>
            <a:spLocks noGrp="1"/>
          </p:cNvSpPr>
          <p:nvPr/>
        </p:nvSpPr>
        <p:spPr>
          <a:xfrm>
            <a:off x="1417320" y="1847088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4">
            <a:extLst>
              <a:ext uri="{FF2B5EF4-FFF2-40B4-BE49-F238E27FC236}">
                <a16:creationId xmlns:a16="http://schemas.microsoft.com/office/drawing/2014/main" id="{B762C213-B353-4C23-BCA6-CED310A7509D}"/>
              </a:ext>
            </a:extLst>
          </p:cNvPr>
          <p:cNvSpPr>
            <a:spLocks noGrp="1"/>
          </p:cNvSpPr>
          <p:nvPr/>
        </p:nvSpPr>
        <p:spPr>
          <a:xfrm>
            <a:off x="1417320" y="184708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" name="Google Shape;43;p4">
            <a:extLst>
              <a:ext uri="{FF2B5EF4-FFF2-40B4-BE49-F238E27FC236}">
                <a16:creationId xmlns:a16="http://schemas.microsoft.com/office/drawing/2014/main" id="{D84E8563-4479-4047-9C4C-73BA110C741A}"/>
              </a:ext>
            </a:extLst>
          </p:cNvPr>
          <p:cNvSpPr>
            <a:spLocks noGrp="1"/>
          </p:cNvSpPr>
          <p:nvPr/>
        </p:nvSpPr>
        <p:spPr>
          <a:xfrm>
            <a:off x="2011680" y="169164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sz="1600" b="1" i="0" u="none" strike="noStrike" cap="none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Project Recap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" name="Google Shape;44;p4">
            <a:extLst>
              <a:ext uri="{FF2B5EF4-FFF2-40B4-BE49-F238E27FC236}">
                <a16:creationId xmlns:a16="http://schemas.microsoft.com/office/drawing/2014/main" id="{FDC0D9D4-F244-4EAA-AE9F-917AB08611A5}"/>
              </a:ext>
            </a:extLst>
          </p:cNvPr>
          <p:cNvSpPr>
            <a:spLocks noGrp="1"/>
          </p:cNvSpPr>
          <p:nvPr/>
        </p:nvSpPr>
        <p:spPr>
          <a:xfrm>
            <a:off x="1234440" y="2560320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 cap="flat" cmpd="sng">
            <a:solidFill>
              <a:srgbClr val="DEE4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4">
            <a:extLst>
              <a:ext uri="{FF2B5EF4-FFF2-40B4-BE49-F238E27FC236}">
                <a16:creationId xmlns:a16="http://schemas.microsoft.com/office/drawing/2014/main" id="{F8171A50-B543-40F3-941C-1C370007F0C7}"/>
              </a:ext>
            </a:extLst>
          </p:cNvPr>
          <p:cNvSpPr>
            <a:spLocks noGrp="1"/>
          </p:cNvSpPr>
          <p:nvPr/>
        </p:nvSpPr>
        <p:spPr>
          <a:xfrm>
            <a:off x="1417320" y="2715768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4">
            <a:extLst>
              <a:ext uri="{FF2B5EF4-FFF2-40B4-BE49-F238E27FC236}">
                <a16:creationId xmlns:a16="http://schemas.microsoft.com/office/drawing/2014/main" id="{978D8AEA-B203-47B2-897B-A4DDD4AA25B7}"/>
              </a:ext>
            </a:extLst>
          </p:cNvPr>
          <p:cNvSpPr>
            <a:spLocks noGrp="1"/>
          </p:cNvSpPr>
          <p:nvPr/>
        </p:nvSpPr>
        <p:spPr>
          <a:xfrm>
            <a:off x="1417320" y="271576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" name="Google Shape;47;p4">
            <a:extLst>
              <a:ext uri="{FF2B5EF4-FFF2-40B4-BE49-F238E27FC236}">
                <a16:creationId xmlns:a16="http://schemas.microsoft.com/office/drawing/2014/main" id="{E1EC2463-80DF-424D-8C10-A04F924C5044}"/>
              </a:ext>
            </a:extLst>
          </p:cNvPr>
          <p:cNvSpPr>
            <a:spLocks noGrp="1"/>
          </p:cNvSpPr>
          <p:nvPr/>
        </p:nvSpPr>
        <p:spPr>
          <a:xfrm>
            <a:off x="2011680" y="256032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sz="1600" b="1" i="0" u="none" strike="noStrike" cap="none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Project Progress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8" name="Google Shape;48;p4">
            <a:extLst>
              <a:ext uri="{FF2B5EF4-FFF2-40B4-BE49-F238E27FC236}">
                <a16:creationId xmlns:a16="http://schemas.microsoft.com/office/drawing/2014/main" id="{071495B6-9A4D-410B-A545-5771254166D6}"/>
              </a:ext>
            </a:extLst>
          </p:cNvPr>
          <p:cNvSpPr>
            <a:spLocks noGrp="1"/>
          </p:cNvSpPr>
          <p:nvPr/>
        </p:nvSpPr>
        <p:spPr>
          <a:xfrm>
            <a:off x="1234440" y="3429000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 cap="flat" cmpd="sng">
            <a:solidFill>
              <a:srgbClr val="DEE4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4">
            <a:extLst>
              <a:ext uri="{FF2B5EF4-FFF2-40B4-BE49-F238E27FC236}">
                <a16:creationId xmlns:a16="http://schemas.microsoft.com/office/drawing/2014/main" id="{BCEB8EEE-A08F-4B43-A57D-716EC68DEE8C}"/>
              </a:ext>
            </a:extLst>
          </p:cNvPr>
          <p:cNvSpPr>
            <a:spLocks noGrp="1"/>
          </p:cNvSpPr>
          <p:nvPr/>
        </p:nvSpPr>
        <p:spPr>
          <a:xfrm>
            <a:off x="1417320" y="3584448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4">
            <a:extLst>
              <a:ext uri="{FF2B5EF4-FFF2-40B4-BE49-F238E27FC236}">
                <a16:creationId xmlns:a16="http://schemas.microsoft.com/office/drawing/2014/main" id="{BE36D139-D55D-4F93-9ABD-863CD6B614F3}"/>
              </a:ext>
            </a:extLst>
          </p:cNvPr>
          <p:cNvSpPr>
            <a:spLocks noGrp="1"/>
          </p:cNvSpPr>
          <p:nvPr/>
        </p:nvSpPr>
        <p:spPr>
          <a:xfrm>
            <a:off x="1417320" y="358444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1" name="Google Shape;51;p4">
            <a:extLst>
              <a:ext uri="{FF2B5EF4-FFF2-40B4-BE49-F238E27FC236}">
                <a16:creationId xmlns:a16="http://schemas.microsoft.com/office/drawing/2014/main" id="{AF5FA17D-12D6-4303-B24D-D524C94D4C4D}"/>
              </a:ext>
            </a:extLst>
          </p:cNvPr>
          <p:cNvSpPr>
            <a:spLocks noGrp="1"/>
          </p:cNvSpPr>
          <p:nvPr/>
        </p:nvSpPr>
        <p:spPr>
          <a:xfrm>
            <a:off x="2011680" y="342900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sz="1600" b="1" i="0" u="none" strike="noStrike" cap="none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System Architecture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2" name="Google Shape;52;p4">
            <a:extLst>
              <a:ext uri="{FF2B5EF4-FFF2-40B4-BE49-F238E27FC236}">
                <a16:creationId xmlns:a16="http://schemas.microsoft.com/office/drawing/2014/main" id="{6FA8894F-827D-4705-8785-5320B6AAE0C5}"/>
              </a:ext>
            </a:extLst>
          </p:cNvPr>
          <p:cNvSpPr>
            <a:spLocks noGrp="1"/>
          </p:cNvSpPr>
          <p:nvPr/>
        </p:nvSpPr>
        <p:spPr>
          <a:xfrm>
            <a:off x="1234440" y="4297680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 cap="flat" cmpd="sng">
            <a:solidFill>
              <a:srgbClr val="DEE4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>
            <a:extLst>
              <a:ext uri="{FF2B5EF4-FFF2-40B4-BE49-F238E27FC236}">
                <a16:creationId xmlns:a16="http://schemas.microsoft.com/office/drawing/2014/main" id="{A0090E04-D560-4387-A148-7FBE81455971}"/>
              </a:ext>
            </a:extLst>
          </p:cNvPr>
          <p:cNvSpPr>
            <a:spLocks noGrp="1"/>
          </p:cNvSpPr>
          <p:nvPr/>
        </p:nvSpPr>
        <p:spPr>
          <a:xfrm>
            <a:off x="1417320" y="4453128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">
            <a:extLst>
              <a:ext uri="{FF2B5EF4-FFF2-40B4-BE49-F238E27FC236}">
                <a16:creationId xmlns:a16="http://schemas.microsoft.com/office/drawing/2014/main" id="{27F6AB34-FBFC-4623-AB9E-948D4269325A}"/>
              </a:ext>
            </a:extLst>
          </p:cNvPr>
          <p:cNvSpPr>
            <a:spLocks noGrp="1"/>
          </p:cNvSpPr>
          <p:nvPr/>
        </p:nvSpPr>
        <p:spPr>
          <a:xfrm>
            <a:off x="1417320" y="445312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5" name="Google Shape;55;p4">
            <a:extLst>
              <a:ext uri="{FF2B5EF4-FFF2-40B4-BE49-F238E27FC236}">
                <a16:creationId xmlns:a16="http://schemas.microsoft.com/office/drawing/2014/main" id="{4537A0D7-1FCD-4B89-A74D-57A941B1E99D}"/>
              </a:ext>
            </a:extLst>
          </p:cNvPr>
          <p:cNvSpPr>
            <a:spLocks noGrp="1"/>
          </p:cNvSpPr>
          <p:nvPr/>
        </p:nvSpPr>
        <p:spPr>
          <a:xfrm>
            <a:off x="2011680" y="429768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sz="1600" b="1" i="0" u="none" strike="noStrike" cap="none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Implementation Details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6" name="Google Shape;56;p4">
            <a:extLst>
              <a:ext uri="{FF2B5EF4-FFF2-40B4-BE49-F238E27FC236}">
                <a16:creationId xmlns:a16="http://schemas.microsoft.com/office/drawing/2014/main" id="{6D9F2DB1-6DC8-4E52-8EDB-E2C03D2B5229}"/>
              </a:ext>
            </a:extLst>
          </p:cNvPr>
          <p:cNvSpPr>
            <a:spLocks noGrp="1"/>
          </p:cNvSpPr>
          <p:nvPr/>
        </p:nvSpPr>
        <p:spPr>
          <a:xfrm>
            <a:off x="1234440" y="5166360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 cap="flat" cmpd="sng">
            <a:solidFill>
              <a:srgbClr val="DEE4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4">
            <a:extLst>
              <a:ext uri="{FF2B5EF4-FFF2-40B4-BE49-F238E27FC236}">
                <a16:creationId xmlns:a16="http://schemas.microsoft.com/office/drawing/2014/main" id="{20FCD0D8-16B2-4EB2-A01C-98D754865425}"/>
              </a:ext>
            </a:extLst>
          </p:cNvPr>
          <p:cNvSpPr>
            <a:spLocks noGrp="1"/>
          </p:cNvSpPr>
          <p:nvPr/>
        </p:nvSpPr>
        <p:spPr>
          <a:xfrm>
            <a:off x="1417320" y="5321808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4">
            <a:extLst>
              <a:ext uri="{FF2B5EF4-FFF2-40B4-BE49-F238E27FC236}">
                <a16:creationId xmlns:a16="http://schemas.microsoft.com/office/drawing/2014/main" id="{9CF0F02F-0D00-43E3-9FCE-ABD76288EF18}"/>
              </a:ext>
            </a:extLst>
          </p:cNvPr>
          <p:cNvSpPr>
            <a:spLocks noGrp="1"/>
          </p:cNvSpPr>
          <p:nvPr/>
        </p:nvSpPr>
        <p:spPr>
          <a:xfrm>
            <a:off x="1417320" y="532180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9" name="Google Shape;59;p4">
            <a:extLst>
              <a:ext uri="{FF2B5EF4-FFF2-40B4-BE49-F238E27FC236}">
                <a16:creationId xmlns:a16="http://schemas.microsoft.com/office/drawing/2014/main" id="{6024ED8C-7502-4865-B125-37545B47F79E}"/>
              </a:ext>
            </a:extLst>
          </p:cNvPr>
          <p:cNvSpPr>
            <a:spLocks noGrp="1"/>
          </p:cNvSpPr>
          <p:nvPr/>
        </p:nvSpPr>
        <p:spPr>
          <a:xfrm>
            <a:off x="2011680" y="516636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sz="1600" b="1" i="0" u="none" strike="noStrike" cap="none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Working Demonstration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0" name="Google Shape;60;p4">
            <a:extLst>
              <a:ext uri="{FF2B5EF4-FFF2-40B4-BE49-F238E27FC236}">
                <a16:creationId xmlns:a16="http://schemas.microsoft.com/office/drawing/2014/main" id="{8BD9C7E1-4CCF-435D-9A77-AE76BBD78808}"/>
              </a:ext>
            </a:extLst>
          </p:cNvPr>
          <p:cNvSpPr>
            <a:spLocks noGrp="1"/>
          </p:cNvSpPr>
          <p:nvPr/>
        </p:nvSpPr>
        <p:spPr>
          <a:xfrm>
            <a:off x="6263640" y="1691640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 cap="flat" cmpd="sng">
            <a:solidFill>
              <a:srgbClr val="DEE4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EED75974-678C-41FC-A446-69CEA52D1073}"/>
              </a:ext>
            </a:extLst>
          </p:cNvPr>
          <p:cNvSpPr>
            <a:spLocks noGrp="1"/>
          </p:cNvSpPr>
          <p:nvPr/>
        </p:nvSpPr>
        <p:spPr>
          <a:xfrm>
            <a:off x="6446520" y="1847088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4">
            <a:extLst>
              <a:ext uri="{FF2B5EF4-FFF2-40B4-BE49-F238E27FC236}">
                <a16:creationId xmlns:a16="http://schemas.microsoft.com/office/drawing/2014/main" id="{A830631D-4CA7-4F72-8B6C-7E69B500BE99}"/>
              </a:ext>
            </a:extLst>
          </p:cNvPr>
          <p:cNvSpPr>
            <a:spLocks noGrp="1"/>
          </p:cNvSpPr>
          <p:nvPr/>
        </p:nvSpPr>
        <p:spPr>
          <a:xfrm>
            <a:off x="6446520" y="184708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3" name="Google Shape;63;p4">
            <a:extLst>
              <a:ext uri="{FF2B5EF4-FFF2-40B4-BE49-F238E27FC236}">
                <a16:creationId xmlns:a16="http://schemas.microsoft.com/office/drawing/2014/main" id="{F88E962A-D52D-499A-90F1-B371F7F298B7}"/>
              </a:ext>
            </a:extLst>
          </p:cNvPr>
          <p:cNvSpPr>
            <a:spLocks noGrp="1"/>
          </p:cNvSpPr>
          <p:nvPr/>
        </p:nvSpPr>
        <p:spPr>
          <a:xfrm>
            <a:off x="7040880" y="169164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sz="1600" b="1" i="0" u="none" strike="noStrike" cap="none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Technical Understanding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4" name="Google Shape;64;p4">
            <a:extLst>
              <a:ext uri="{FF2B5EF4-FFF2-40B4-BE49-F238E27FC236}">
                <a16:creationId xmlns:a16="http://schemas.microsoft.com/office/drawing/2014/main" id="{09C0C40C-9C95-4909-A223-25DA3235913D}"/>
              </a:ext>
            </a:extLst>
          </p:cNvPr>
          <p:cNvSpPr>
            <a:spLocks noGrp="1"/>
          </p:cNvSpPr>
          <p:nvPr/>
        </p:nvSpPr>
        <p:spPr>
          <a:xfrm>
            <a:off x="6263640" y="2560320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 cap="flat" cmpd="sng">
            <a:solidFill>
              <a:srgbClr val="DEE4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4">
            <a:extLst>
              <a:ext uri="{FF2B5EF4-FFF2-40B4-BE49-F238E27FC236}">
                <a16:creationId xmlns:a16="http://schemas.microsoft.com/office/drawing/2014/main" id="{195CF584-8DDF-4E7E-9B13-13C5B5EF5FE8}"/>
              </a:ext>
            </a:extLst>
          </p:cNvPr>
          <p:cNvSpPr>
            <a:spLocks noGrp="1"/>
          </p:cNvSpPr>
          <p:nvPr/>
        </p:nvSpPr>
        <p:spPr>
          <a:xfrm>
            <a:off x="6446520" y="2715768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4">
            <a:extLst>
              <a:ext uri="{FF2B5EF4-FFF2-40B4-BE49-F238E27FC236}">
                <a16:creationId xmlns:a16="http://schemas.microsoft.com/office/drawing/2014/main" id="{4948B604-76A5-406E-B5ED-81654F1B2B65}"/>
              </a:ext>
            </a:extLst>
          </p:cNvPr>
          <p:cNvSpPr>
            <a:spLocks noGrp="1"/>
          </p:cNvSpPr>
          <p:nvPr/>
        </p:nvSpPr>
        <p:spPr>
          <a:xfrm>
            <a:off x="6446520" y="271576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7" name="Google Shape;67;p4">
            <a:extLst>
              <a:ext uri="{FF2B5EF4-FFF2-40B4-BE49-F238E27FC236}">
                <a16:creationId xmlns:a16="http://schemas.microsoft.com/office/drawing/2014/main" id="{30CB7CC1-2FAE-42D3-901E-5A8634C4C32F}"/>
              </a:ext>
            </a:extLst>
          </p:cNvPr>
          <p:cNvSpPr>
            <a:spLocks noGrp="1"/>
          </p:cNvSpPr>
          <p:nvPr/>
        </p:nvSpPr>
        <p:spPr>
          <a:xfrm>
            <a:off x="7040880" y="256032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sz="1600" b="1" i="0" u="none" strike="noStrike" cap="none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Results &amp; Testing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8" name="Google Shape;68;p4">
            <a:extLst>
              <a:ext uri="{FF2B5EF4-FFF2-40B4-BE49-F238E27FC236}">
                <a16:creationId xmlns:a16="http://schemas.microsoft.com/office/drawing/2014/main" id="{052BFB71-DF25-4A38-909F-6F5894D07ABE}"/>
              </a:ext>
            </a:extLst>
          </p:cNvPr>
          <p:cNvSpPr>
            <a:spLocks noGrp="1"/>
          </p:cNvSpPr>
          <p:nvPr/>
        </p:nvSpPr>
        <p:spPr>
          <a:xfrm>
            <a:off x="6263640" y="3429000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 cap="flat" cmpd="sng">
            <a:solidFill>
              <a:srgbClr val="DEE4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4">
            <a:extLst>
              <a:ext uri="{FF2B5EF4-FFF2-40B4-BE49-F238E27FC236}">
                <a16:creationId xmlns:a16="http://schemas.microsoft.com/office/drawing/2014/main" id="{91568976-8E90-4C20-B8E4-72ADA24ED9BB}"/>
              </a:ext>
            </a:extLst>
          </p:cNvPr>
          <p:cNvSpPr>
            <a:spLocks noGrp="1"/>
          </p:cNvSpPr>
          <p:nvPr/>
        </p:nvSpPr>
        <p:spPr>
          <a:xfrm>
            <a:off x="6446520" y="3584448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4">
            <a:extLst>
              <a:ext uri="{FF2B5EF4-FFF2-40B4-BE49-F238E27FC236}">
                <a16:creationId xmlns:a16="http://schemas.microsoft.com/office/drawing/2014/main" id="{93B75A17-58C4-46C7-8BF7-960CB60055C4}"/>
              </a:ext>
            </a:extLst>
          </p:cNvPr>
          <p:cNvSpPr>
            <a:spLocks noGrp="1"/>
          </p:cNvSpPr>
          <p:nvPr/>
        </p:nvSpPr>
        <p:spPr>
          <a:xfrm>
            <a:off x="6446520" y="358444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1" name="Google Shape;71;p4">
            <a:extLst>
              <a:ext uri="{FF2B5EF4-FFF2-40B4-BE49-F238E27FC236}">
                <a16:creationId xmlns:a16="http://schemas.microsoft.com/office/drawing/2014/main" id="{D47625CA-B104-44EC-A28B-11D4906A3A1D}"/>
              </a:ext>
            </a:extLst>
          </p:cNvPr>
          <p:cNvSpPr>
            <a:spLocks noGrp="1"/>
          </p:cNvSpPr>
          <p:nvPr/>
        </p:nvSpPr>
        <p:spPr>
          <a:xfrm>
            <a:off x="7040880" y="342900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sz="1600" b="1" i="0" u="none" strike="noStrike" cap="none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Conclusion &amp; Future Scope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2" name="Google Shape;72;p4">
            <a:extLst>
              <a:ext uri="{FF2B5EF4-FFF2-40B4-BE49-F238E27FC236}">
                <a16:creationId xmlns:a16="http://schemas.microsoft.com/office/drawing/2014/main" id="{3196FEA7-B036-4FF8-92B4-165AEDCA8132}"/>
              </a:ext>
            </a:extLst>
          </p:cNvPr>
          <p:cNvSpPr>
            <a:spLocks noGrp="1"/>
          </p:cNvSpPr>
          <p:nvPr/>
        </p:nvSpPr>
        <p:spPr>
          <a:xfrm>
            <a:off x="6263640" y="4297680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 cap="flat" cmpd="sng">
            <a:solidFill>
              <a:srgbClr val="DEE4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">
            <a:extLst>
              <a:ext uri="{FF2B5EF4-FFF2-40B4-BE49-F238E27FC236}">
                <a16:creationId xmlns:a16="http://schemas.microsoft.com/office/drawing/2014/main" id="{E92F8271-02E6-4281-B2DA-0F124981C02C}"/>
              </a:ext>
            </a:extLst>
          </p:cNvPr>
          <p:cNvSpPr>
            <a:spLocks noGrp="1"/>
          </p:cNvSpPr>
          <p:nvPr/>
        </p:nvSpPr>
        <p:spPr>
          <a:xfrm>
            <a:off x="6446520" y="4453128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4">
            <a:extLst>
              <a:ext uri="{FF2B5EF4-FFF2-40B4-BE49-F238E27FC236}">
                <a16:creationId xmlns:a16="http://schemas.microsoft.com/office/drawing/2014/main" id="{7DA43D43-4196-402D-B575-3E7EBE23A83A}"/>
              </a:ext>
            </a:extLst>
          </p:cNvPr>
          <p:cNvSpPr>
            <a:spLocks noGrp="1"/>
          </p:cNvSpPr>
          <p:nvPr/>
        </p:nvSpPr>
        <p:spPr>
          <a:xfrm>
            <a:off x="6446520" y="445312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5" name="Google Shape;75;p4">
            <a:extLst>
              <a:ext uri="{FF2B5EF4-FFF2-40B4-BE49-F238E27FC236}">
                <a16:creationId xmlns:a16="http://schemas.microsoft.com/office/drawing/2014/main" id="{AF344D2D-6DCD-4866-92B5-274B63D39C21}"/>
              </a:ext>
            </a:extLst>
          </p:cNvPr>
          <p:cNvSpPr>
            <a:spLocks noGrp="1"/>
          </p:cNvSpPr>
          <p:nvPr/>
        </p:nvSpPr>
        <p:spPr>
          <a:xfrm>
            <a:off x="7040880" y="429768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sz="1600" b="1" i="0" u="none" strike="noStrike" cap="none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References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51799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">
            <a:extLst>
              <a:ext uri="{FF2B5EF4-FFF2-40B4-BE49-F238E27FC236}">
                <a16:creationId xmlns:a16="http://schemas.microsoft.com/office/drawing/2014/main" id="{C431F1D4-E2D1-48C4-82F6-3BFB10CFE9C2}"/>
              </a:ext>
            </a:extLst>
          </p:cNvPr>
          <p:cNvSpPr>
            <a:spLocks noGrp="1"/>
          </p:cNvSpPr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5">
            <a:extLst>
              <a:ext uri="{FF2B5EF4-FFF2-40B4-BE49-F238E27FC236}">
                <a16:creationId xmlns:a16="http://schemas.microsoft.com/office/drawing/2014/main" id="{BAB65091-93C3-4462-AB95-DC73A31355B0}"/>
              </a:ext>
            </a:extLst>
          </p:cNvPr>
          <p:cNvSpPr>
            <a:spLocks noGrp="1"/>
          </p:cNvSpPr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5">
            <a:extLst>
              <a:ext uri="{FF2B5EF4-FFF2-40B4-BE49-F238E27FC236}">
                <a16:creationId xmlns:a16="http://schemas.microsoft.com/office/drawing/2014/main" id="{C42613B4-9E41-4AFE-95F4-E09A0FB68B5E}"/>
              </a:ext>
            </a:extLst>
          </p:cNvPr>
          <p:cNvSpPr>
            <a:spLocks noGrp="1"/>
          </p:cNvSpPr>
          <p:nvPr/>
        </p:nvSpPr>
        <p:spPr>
          <a:xfrm>
            <a:off x="502920" y="457200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21295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5">
            <a:extLst>
              <a:ext uri="{FF2B5EF4-FFF2-40B4-BE49-F238E27FC236}">
                <a16:creationId xmlns:a16="http://schemas.microsoft.com/office/drawing/2014/main" id="{191911BD-9374-43A0-BBA5-1B449FAFC321}"/>
              </a:ext>
            </a:extLst>
          </p:cNvPr>
          <p:cNvSpPr>
            <a:spLocks noGrp="1"/>
          </p:cNvSpPr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5" name="Google Shape;85;p5">
            <a:extLst>
              <a:ext uri="{FF2B5EF4-FFF2-40B4-BE49-F238E27FC236}">
                <a16:creationId xmlns:a16="http://schemas.microsoft.com/office/drawing/2014/main" id="{B749A3C2-10AF-4880-8856-BFD539964810}"/>
              </a:ext>
            </a:extLst>
          </p:cNvPr>
          <p:cNvSpPr>
            <a:spLocks noGrp="1"/>
          </p:cNvSpPr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sz="11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RECAP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6" name="Google Shape;86;p5">
            <a:extLst>
              <a:ext uri="{FF2B5EF4-FFF2-40B4-BE49-F238E27FC236}">
                <a16:creationId xmlns:a16="http://schemas.microsoft.com/office/drawing/2014/main" id="{D8E43B83-B15D-43C6-9211-8233ECC7C910}"/>
              </a:ext>
            </a:extLst>
          </p:cNvPr>
          <p:cNvSpPr>
            <a:spLocks noGrp="1"/>
          </p:cNvSpPr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sz="3000" b="1" i="0" u="none" strike="noStrike" cap="none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Project Recap: Problem &amp; Objectives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7" name="Google Shape;87;p5">
            <a:extLst>
              <a:ext uri="{FF2B5EF4-FFF2-40B4-BE49-F238E27FC236}">
                <a16:creationId xmlns:a16="http://schemas.microsoft.com/office/drawing/2014/main" id="{74F7E117-6169-458A-8641-B7B74C7C07F8}"/>
              </a:ext>
            </a:extLst>
          </p:cNvPr>
          <p:cNvSpPr>
            <a:spLocks noGrp="1"/>
          </p:cNvSpPr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sz="900" b="0" i="0" u="none" strike="noStrike" cap="none">
                <a:solidFill>
                  <a:srgbClr val="6B7593"/>
                </a:solidFill>
                <a:latin typeface="Calibri"/>
                <a:ea typeface="Calibri"/>
                <a:cs typeface="Calibri"/>
              </a:rPr>
              <a:t>OWN DEMAND SERVICE APP  ·  MINI PROJECT FINAL EVALUATION (REVIEW-02)  ·  2026–27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8" name="Google Shape;88;p5">
            <a:extLst>
              <a:ext uri="{FF2B5EF4-FFF2-40B4-BE49-F238E27FC236}">
                <a16:creationId xmlns:a16="http://schemas.microsoft.com/office/drawing/2014/main" id="{977E63B8-EEEC-4E38-B857-D3594AB79ABE}"/>
              </a:ext>
            </a:extLst>
          </p:cNvPr>
          <p:cNvSpPr>
            <a:spLocks noGrp="1"/>
          </p:cNvSpPr>
          <p:nvPr/>
        </p:nvSpPr>
        <p:spPr>
          <a:xfrm>
            <a:off x="1122883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sz="900" b="0" i="0" u="none" strike="noStrike" cap="none">
                <a:solidFill>
                  <a:srgbClr val="6B7593"/>
                </a:solidFill>
                <a:latin typeface="Calibri"/>
                <a:ea typeface="Calibri"/>
                <a:cs typeface="Calibri"/>
              </a:rPr>
              <a:t>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9" name="Google Shape;89;p5">
            <a:extLst>
              <a:ext uri="{FF2B5EF4-FFF2-40B4-BE49-F238E27FC236}">
                <a16:creationId xmlns:a16="http://schemas.microsoft.com/office/drawing/2014/main" id="{AB5A1C55-DC7A-4B7E-949A-2AB334522016}"/>
              </a:ext>
            </a:extLst>
          </p:cNvPr>
          <p:cNvSpPr>
            <a:spLocks noGrp="1"/>
          </p:cNvSpPr>
          <p:nvPr/>
        </p:nvSpPr>
        <p:spPr>
          <a:xfrm>
            <a:off x="1234440" y="1600200"/>
            <a:ext cx="48463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9525" cap="flat" cmpd="sng">
            <a:solidFill>
              <a:srgbClr val="DEE4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5">
            <a:extLst>
              <a:ext uri="{FF2B5EF4-FFF2-40B4-BE49-F238E27FC236}">
                <a16:creationId xmlns:a16="http://schemas.microsoft.com/office/drawing/2014/main" id="{73CCDF2C-45A3-4CAD-8D8B-CE65BF577DB7}"/>
              </a:ext>
            </a:extLst>
          </p:cNvPr>
          <p:cNvSpPr>
            <a:spLocks noGrp="1"/>
          </p:cNvSpPr>
          <p:nvPr/>
        </p:nvSpPr>
        <p:spPr>
          <a:xfrm>
            <a:off x="1508760" y="1828800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mbria"/>
              <a:buNone/>
            </a:pPr>
            <a:r>
              <a:rPr sz="1600" b="1" i="0" u="none" strike="noStrike" cap="none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Problem Statement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1" name="Google Shape;91;p5">
            <a:extLst>
              <a:ext uri="{FF2B5EF4-FFF2-40B4-BE49-F238E27FC236}">
                <a16:creationId xmlns:a16="http://schemas.microsoft.com/office/drawing/2014/main" id="{5FF26B82-FB21-40A4-9146-CD4D42DF5D3E}"/>
              </a:ext>
            </a:extLst>
          </p:cNvPr>
          <p:cNvSpPr>
            <a:spLocks noGrp="1"/>
          </p:cNvSpPr>
          <p:nvPr/>
        </p:nvSpPr>
        <p:spPr>
          <a:xfrm>
            <a:off x="1508760" y="2331720"/>
            <a:ext cx="429768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>
            <a:defPPr algn="l">
              <a:defRPr sz="142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defPPr>
            <a:lvl1pPr algn="l">
              <a:defRPr sz="142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42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42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42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42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42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42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42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42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  <a:defRPr sz="142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People who move to a new locality may not know reliable cleaners, electricians, plumbers or repair technicians. Finding help through informal contacts can take time and gives little visibility into a request or its status. This project prototypes one simple interface for expressing a household-service need and viewing a demo status.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" name="Google Shape;92;p5">
            <a:extLst>
              <a:ext uri="{FF2B5EF4-FFF2-40B4-BE49-F238E27FC236}">
                <a16:creationId xmlns:a16="http://schemas.microsoft.com/office/drawing/2014/main" id="{2D31C69D-FC41-40A3-869E-DC7F43DFA5E0}"/>
              </a:ext>
            </a:extLst>
          </p:cNvPr>
          <p:cNvSpPr>
            <a:spLocks noGrp="1"/>
          </p:cNvSpPr>
          <p:nvPr/>
        </p:nvSpPr>
        <p:spPr>
          <a:xfrm>
            <a:off x="6309360" y="1600200"/>
            <a:ext cx="47548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9525" cap="flat" cmpd="sng">
            <a:solidFill>
              <a:srgbClr val="DEE4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5">
            <a:extLst>
              <a:ext uri="{FF2B5EF4-FFF2-40B4-BE49-F238E27FC236}">
                <a16:creationId xmlns:a16="http://schemas.microsoft.com/office/drawing/2014/main" id="{EA62664D-1261-47B4-9EC1-AEEDA6F593F5}"/>
              </a:ext>
            </a:extLst>
          </p:cNvPr>
          <p:cNvSpPr>
            <a:spLocks noGrp="1"/>
          </p:cNvSpPr>
          <p:nvPr/>
        </p:nvSpPr>
        <p:spPr>
          <a:xfrm>
            <a:off x="6583680" y="182880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mbria"/>
              <a:buNone/>
            </a:pPr>
            <a:r>
              <a:rPr sz="1600" b="1" i="0" u="none" strike="noStrike" cap="none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Objectives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" name="Google Shape;94;p5">
            <a:extLst>
              <a:ext uri="{FF2B5EF4-FFF2-40B4-BE49-F238E27FC236}">
                <a16:creationId xmlns:a16="http://schemas.microsoft.com/office/drawing/2014/main" id="{35765A28-6653-4649-BB90-F1B9705728B2}"/>
              </a:ext>
            </a:extLst>
          </p:cNvPr>
          <p:cNvSpPr>
            <a:spLocks noGrp="1"/>
          </p:cNvSpPr>
          <p:nvPr/>
        </p:nvSpPr>
        <p:spPr>
          <a:xfrm>
            <a:off x="6583680" y="23774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2200"/>
              <a:buFont typeface="Cambria"/>
              <a:buNone/>
            </a:pPr>
            <a:r>
              <a:rPr sz="2200" b="1" i="0" u="none" strike="noStrike" cap="none">
                <a:solidFill>
                  <a:srgbClr val="9FB3C8"/>
                </a:solidFill>
                <a:latin typeface="Cambria"/>
                <a:ea typeface="Cambria"/>
                <a:cs typeface="Cambria"/>
              </a:rPr>
              <a:t>01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" name="Google Shape;95;p5">
            <a:extLst>
              <a:ext uri="{FF2B5EF4-FFF2-40B4-BE49-F238E27FC236}">
                <a16:creationId xmlns:a16="http://schemas.microsoft.com/office/drawing/2014/main" id="{6C6B664F-DDBA-4B9E-85B2-26AA4C64B806}"/>
              </a:ext>
            </a:extLst>
          </p:cNvPr>
          <p:cNvSpPr>
            <a:spLocks noGrp="1"/>
          </p:cNvSpPr>
          <p:nvPr/>
        </p:nvSpPr>
        <p:spPr>
          <a:xfrm>
            <a:off x="7223760" y="2423160"/>
            <a:ext cx="3611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>
            <a:normAutofit fontScale="82353"/>
          </a:bodyPr>
          <a:lstStyle>
            <a:defPPr algn="l">
              <a:defRPr sz="127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  <a:defRPr sz="127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Bring six common household-service categories into one simple interface.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6" name="Google Shape;96;p5">
            <a:extLst>
              <a:ext uri="{FF2B5EF4-FFF2-40B4-BE49-F238E27FC236}">
                <a16:creationId xmlns:a16="http://schemas.microsoft.com/office/drawing/2014/main" id="{7989E206-CA91-437B-90D3-1641342A2246}"/>
              </a:ext>
            </a:extLst>
          </p:cNvPr>
          <p:cNvSpPr>
            <a:spLocks noGrp="1"/>
          </p:cNvSpPr>
          <p:nvPr/>
        </p:nvSpPr>
        <p:spPr>
          <a:xfrm>
            <a:off x="6583680" y="327355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2200"/>
              <a:buFont typeface="Cambria"/>
              <a:buNone/>
            </a:pPr>
            <a:r>
              <a:rPr sz="2200" b="1" i="0" u="none" strike="noStrike" cap="none">
                <a:solidFill>
                  <a:srgbClr val="9FB3C8"/>
                </a:solidFill>
                <a:latin typeface="Cambria"/>
                <a:ea typeface="Cambria"/>
                <a:cs typeface="Cambria"/>
              </a:rPr>
              <a:t>02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7" name="Google Shape;97;p5">
            <a:extLst>
              <a:ext uri="{FF2B5EF4-FFF2-40B4-BE49-F238E27FC236}">
                <a16:creationId xmlns:a16="http://schemas.microsoft.com/office/drawing/2014/main" id="{6CE99D4B-E4F9-4FD9-8A83-A010EC396132}"/>
              </a:ext>
            </a:extLst>
          </p:cNvPr>
          <p:cNvSpPr>
            <a:spLocks noGrp="1"/>
          </p:cNvSpPr>
          <p:nvPr/>
        </p:nvSpPr>
        <p:spPr>
          <a:xfrm>
            <a:off x="7223760" y="3319272"/>
            <a:ext cx="3611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>
            <a:normAutofit fontScale="88256"/>
          </a:bodyPr>
          <a:lstStyle>
            <a:defPPr algn="l">
              <a:defRPr sz="127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  <a:defRPr sz="127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Collect contact, location, preferred slot and service details.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8" name="Google Shape;98;p5">
            <a:extLst>
              <a:ext uri="{FF2B5EF4-FFF2-40B4-BE49-F238E27FC236}">
                <a16:creationId xmlns:a16="http://schemas.microsoft.com/office/drawing/2014/main" id="{6E1A2408-046F-4FC6-9C50-305B1E4DF1DA}"/>
              </a:ext>
            </a:extLst>
          </p:cNvPr>
          <p:cNvSpPr>
            <a:spLocks noGrp="1"/>
          </p:cNvSpPr>
          <p:nvPr/>
        </p:nvSpPr>
        <p:spPr>
          <a:xfrm>
            <a:off x="6583680" y="4169664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2200"/>
              <a:buFont typeface="Cambria"/>
              <a:buNone/>
            </a:pPr>
            <a:r>
              <a:rPr sz="2200" b="1" i="0" u="none" strike="noStrike" cap="none">
                <a:solidFill>
                  <a:srgbClr val="9FB3C8"/>
                </a:solidFill>
                <a:latin typeface="Cambria"/>
                <a:ea typeface="Cambria"/>
                <a:cs typeface="Cambria"/>
              </a:rPr>
              <a:t>03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9" name="Google Shape;99;p5">
            <a:extLst>
              <a:ext uri="{FF2B5EF4-FFF2-40B4-BE49-F238E27FC236}">
                <a16:creationId xmlns:a16="http://schemas.microsoft.com/office/drawing/2014/main" id="{A5FDFD2A-25C8-48D5-A781-BCDB8821B0D7}"/>
              </a:ext>
            </a:extLst>
          </p:cNvPr>
          <p:cNvSpPr>
            <a:spLocks noGrp="1"/>
          </p:cNvSpPr>
          <p:nvPr/>
        </p:nvSpPr>
        <p:spPr>
          <a:xfrm>
            <a:off x="7223760" y="4215384"/>
            <a:ext cx="3611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>
            <a:normAutofit fontScale="83332"/>
          </a:bodyPr>
          <a:lstStyle>
            <a:defPPr algn="l">
              <a:defRPr sz="127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  <a:defRPr sz="127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Validate key inputs and display a temporary demo booking ID.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0" name="Google Shape;100;p5">
            <a:extLst>
              <a:ext uri="{FF2B5EF4-FFF2-40B4-BE49-F238E27FC236}">
                <a16:creationId xmlns:a16="http://schemas.microsoft.com/office/drawing/2014/main" id="{A1348F04-7EA7-4A73-BF64-F5F7673E7CE5}"/>
              </a:ext>
            </a:extLst>
          </p:cNvPr>
          <p:cNvSpPr>
            <a:spLocks noGrp="1"/>
          </p:cNvSpPr>
          <p:nvPr/>
        </p:nvSpPr>
        <p:spPr>
          <a:xfrm>
            <a:off x="6583680" y="5065776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2200"/>
              <a:buFont typeface="Cambria"/>
              <a:buNone/>
            </a:pPr>
            <a:r>
              <a:rPr sz="2200" b="1" i="0" u="none" strike="noStrike" cap="none">
                <a:solidFill>
                  <a:srgbClr val="9FB3C8"/>
                </a:solidFill>
                <a:latin typeface="Cambria"/>
                <a:ea typeface="Cambria"/>
                <a:cs typeface="Cambria"/>
              </a:rPr>
              <a:t>04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1" name="Google Shape;101;p5">
            <a:extLst>
              <a:ext uri="{FF2B5EF4-FFF2-40B4-BE49-F238E27FC236}">
                <a16:creationId xmlns:a16="http://schemas.microsoft.com/office/drawing/2014/main" id="{D5591692-DDB8-47EB-8D0B-F148527513C2}"/>
              </a:ext>
            </a:extLst>
          </p:cNvPr>
          <p:cNvSpPr>
            <a:spLocks noGrp="1"/>
          </p:cNvSpPr>
          <p:nvPr/>
        </p:nvSpPr>
        <p:spPr>
          <a:xfrm>
            <a:off x="7223760" y="5111496"/>
            <a:ext cx="3611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>
            <a:normAutofit fontScale="82353"/>
          </a:bodyPr>
          <a:lstStyle>
            <a:defPPr algn="l">
              <a:defRPr sz="127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  <a:defRPr sz="1275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Show sample status updates while making clear no real service is sent.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9065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>
            <a:extLst>
              <a:ext uri="{FF2B5EF4-FFF2-40B4-BE49-F238E27FC236}">
                <a16:creationId xmlns:a16="http://schemas.microsoft.com/office/drawing/2014/main" id="{87D7CB16-51B4-4749-B4E7-E0F3BF2C758B}"/>
              </a:ext>
            </a:extLst>
          </p:cNvPr>
          <p:cNvSpPr>
            <a:spLocks noGrp="1"/>
          </p:cNvSpPr>
          <p:nvPr/>
        </p:nvSpPr>
        <p:spPr>
          <a:xfrm>
            <a:off x="10424160" y="-1463040"/>
            <a:ext cx="3108900" cy="3108900"/>
          </a:xfrm>
          <a:prstGeom prst="ellipse">
            <a:avLst/>
          </a:prstGeom>
          <a:solidFill>
            <a:srgbClr val="1C7293">
              <a:alpha val="784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6">
            <a:extLst>
              <a:ext uri="{FF2B5EF4-FFF2-40B4-BE49-F238E27FC236}">
                <a16:creationId xmlns:a16="http://schemas.microsoft.com/office/drawing/2014/main" id="{BE6DA038-D2B6-4660-A306-27DACDD1F4CB}"/>
              </a:ext>
            </a:extLst>
          </p:cNvPr>
          <p:cNvSpPr>
            <a:spLocks noGrp="1"/>
          </p:cNvSpPr>
          <p:nvPr/>
        </p:nvSpPr>
        <p:spPr>
          <a:xfrm>
            <a:off x="-1097280" y="5669280"/>
            <a:ext cx="2194500" cy="2194500"/>
          </a:xfrm>
          <a:prstGeom prst="ellipse">
            <a:avLst/>
          </a:prstGeom>
          <a:solidFill>
            <a:srgbClr val="21295C">
              <a:alpha val="510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6">
            <a:extLst>
              <a:ext uri="{FF2B5EF4-FFF2-40B4-BE49-F238E27FC236}">
                <a16:creationId xmlns:a16="http://schemas.microsoft.com/office/drawing/2014/main" id="{77923F97-12DB-4873-8706-083DA20D8952}"/>
              </a:ext>
            </a:extLst>
          </p:cNvPr>
          <p:cNvSpPr>
            <a:spLocks noGrp="1"/>
          </p:cNvSpPr>
          <p:nvPr/>
        </p:nvSpPr>
        <p:spPr>
          <a:xfrm>
            <a:off x="502920" y="457200"/>
            <a:ext cx="530400" cy="530400"/>
          </a:xfrm>
          <a:prstGeom prst="roundRect">
            <a:avLst>
              <a:gd name="adj" fmla="val 20690"/>
            </a:avLst>
          </a:prstGeom>
          <a:solidFill>
            <a:srgbClr val="21295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6">
            <a:extLst>
              <a:ext uri="{FF2B5EF4-FFF2-40B4-BE49-F238E27FC236}">
                <a16:creationId xmlns:a16="http://schemas.microsoft.com/office/drawing/2014/main" id="{8C98E019-3A08-430E-826C-A1F84F6CB003}"/>
              </a:ext>
            </a:extLst>
          </p:cNvPr>
          <p:cNvSpPr>
            <a:spLocks noGrp="1"/>
          </p:cNvSpPr>
          <p:nvPr/>
        </p:nvSpPr>
        <p:spPr>
          <a:xfrm>
            <a:off x="502920" y="457200"/>
            <a:ext cx="5304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1" name="Google Shape;111;p6">
            <a:extLst>
              <a:ext uri="{FF2B5EF4-FFF2-40B4-BE49-F238E27FC236}">
                <a16:creationId xmlns:a16="http://schemas.microsoft.com/office/drawing/2014/main" id="{71ED73D1-DB77-4091-AA27-E8C0A5896D2F}"/>
              </a:ext>
            </a:extLst>
          </p:cNvPr>
          <p:cNvSpPr>
            <a:spLocks noGrp="1"/>
          </p:cNvSpPr>
          <p:nvPr/>
        </p:nvSpPr>
        <p:spPr>
          <a:xfrm>
            <a:off x="1234440" y="429768"/>
            <a:ext cx="8686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sz="11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PROJECT PROGRESS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2" name="Google Shape;112;p6">
            <a:extLst>
              <a:ext uri="{FF2B5EF4-FFF2-40B4-BE49-F238E27FC236}">
                <a16:creationId xmlns:a16="http://schemas.microsoft.com/office/drawing/2014/main" id="{DA02B373-917E-4FCE-95E9-4A46E0345082}"/>
              </a:ext>
            </a:extLst>
          </p:cNvPr>
          <p:cNvSpPr>
            <a:spLocks noGrp="1"/>
          </p:cNvSpPr>
          <p:nvPr/>
        </p:nvSpPr>
        <p:spPr>
          <a:xfrm>
            <a:off x="1234440" y="676656"/>
            <a:ext cx="96927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sz="3000" b="1" i="0" u="none" strike="noStrike" cap="none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Planned vs Completed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3" name="Google Shape;113;p6">
            <a:extLst>
              <a:ext uri="{FF2B5EF4-FFF2-40B4-BE49-F238E27FC236}">
                <a16:creationId xmlns:a16="http://schemas.microsoft.com/office/drawing/2014/main" id="{CF47F19B-685A-49BF-914A-8750D7CC63EF}"/>
              </a:ext>
            </a:extLst>
          </p:cNvPr>
          <p:cNvSpPr>
            <a:spLocks noGrp="1"/>
          </p:cNvSpPr>
          <p:nvPr/>
        </p:nvSpPr>
        <p:spPr>
          <a:xfrm>
            <a:off x="502920" y="649224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sz="900" b="0" i="0" u="none" strike="noStrike" cap="none">
                <a:solidFill>
                  <a:srgbClr val="6B7593"/>
                </a:solidFill>
                <a:latin typeface="Calibri"/>
                <a:ea typeface="Calibri"/>
                <a:cs typeface="Calibri"/>
              </a:rPr>
              <a:t>OWN DEMAND SERVICE APP  ·  MINI PROJECT FINAL EVALUATION (REVIEW-02)  ·  2026–27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4" name="Google Shape;114;p6">
            <a:extLst>
              <a:ext uri="{FF2B5EF4-FFF2-40B4-BE49-F238E27FC236}">
                <a16:creationId xmlns:a16="http://schemas.microsoft.com/office/drawing/2014/main" id="{D036C392-C29D-4F59-85BB-C3077FA29DBF}"/>
              </a:ext>
            </a:extLst>
          </p:cNvPr>
          <p:cNvSpPr>
            <a:spLocks noGrp="1"/>
          </p:cNvSpPr>
          <p:nvPr/>
        </p:nvSpPr>
        <p:spPr>
          <a:xfrm>
            <a:off x="11228832" y="649224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sz="900" b="0" i="0" u="none" strike="noStrike" cap="none">
                <a:solidFill>
                  <a:srgbClr val="6B7593"/>
                </a:solidFill>
                <a:latin typeface="Calibri"/>
                <a:ea typeface="Calibri"/>
                <a:cs typeface="Calibri"/>
              </a:rPr>
              <a:t>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5" name="Google Shape;115;p6">
            <a:extLst>
              <a:ext uri="{FF2B5EF4-FFF2-40B4-BE49-F238E27FC236}">
                <a16:creationId xmlns:a16="http://schemas.microsoft.com/office/drawing/2014/main" id="{713FFE54-8823-4C75-A84B-77ADAD29E847}"/>
              </a:ext>
            </a:extLst>
          </p:cNvPr>
          <p:cNvSpPr>
            <a:spLocks noGrp="1"/>
          </p:cNvSpPr>
          <p:nvPr/>
        </p:nvSpPr>
        <p:spPr>
          <a:xfrm>
            <a:off x="1234477" y="1600200"/>
            <a:ext cx="9994500" cy="44805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 cap="flat" cmpd="sng">
            <a:solidFill>
              <a:srgbClr val="DEE4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6">
            <a:extLst>
              <a:ext uri="{FF2B5EF4-FFF2-40B4-BE49-F238E27FC236}">
                <a16:creationId xmlns:a16="http://schemas.microsoft.com/office/drawing/2014/main" id="{1975A207-0E8E-4D4C-A449-E743366B8A47}"/>
              </a:ext>
            </a:extLst>
          </p:cNvPr>
          <p:cNvSpPr>
            <a:spLocks noGrp="1"/>
          </p:cNvSpPr>
          <p:nvPr/>
        </p:nvSpPr>
        <p:spPr>
          <a:xfrm>
            <a:off x="1590474" y="2194550"/>
            <a:ext cx="2387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>
            <a:defPPr algn="l">
              <a:defRPr sz="5100" b="1">
                <a:solidFill>
                  <a:srgbClr val="1C7293"/>
                </a:solidFill>
                <a:latin typeface="Cambria"/>
                <a:ea typeface="Cambria"/>
                <a:cs typeface="Cambria"/>
              </a:defRPr>
            </a:defPPr>
            <a:lvl1pPr algn="l">
              <a:defRPr sz="5100" b="1">
                <a:solidFill>
                  <a:srgbClr val="1C7293"/>
                </a:solidFill>
                <a:latin typeface="Cambria"/>
                <a:ea typeface="Cambria"/>
                <a:cs typeface="Cambria"/>
              </a:defRPr>
            </a:lvl1pPr>
            <a:lvl2pPr algn="l">
              <a:defRPr sz="5100" b="1">
                <a:solidFill>
                  <a:srgbClr val="1C7293"/>
                </a:solidFill>
                <a:latin typeface="Cambria"/>
                <a:ea typeface="Cambria"/>
                <a:cs typeface="Cambria"/>
              </a:defRPr>
            </a:lvl2pPr>
            <a:lvl3pPr algn="l">
              <a:defRPr sz="5100" b="1">
                <a:solidFill>
                  <a:srgbClr val="1C7293"/>
                </a:solidFill>
                <a:latin typeface="Cambria"/>
                <a:ea typeface="Cambria"/>
                <a:cs typeface="Cambria"/>
              </a:defRPr>
            </a:lvl3pPr>
            <a:lvl4pPr algn="l">
              <a:defRPr sz="5100" b="1">
                <a:solidFill>
                  <a:srgbClr val="1C7293"/>
                </a:solidFill>
                <a:latin typeface="Cambria"/>
                <a:ea typeface="Cambria"/>
                <a:cs typeface="Cambria"/>
              </a:defRPr>
            </a:lvl4pPr>
            <a:lvl5pPr algn="l">
              <a:defRPr sz="5100" b="1">
                <a:solidFill>
                  <a:srgbClr val="1C7293"/>
                </a:solidFill>
                <a:latin typeface="Cambria"/>
                <a:ea typeface="Cambria"/>
                <a:cs typeface="Cambria"/>
              </a:defRPr>
            </a:lvl5pPr>
            <a:lvl6pPr algn="l">
              <a:defRPr sz="5100" b="1">
                <a:solidFill>
                  <a:srgbClr val="1C7293"/>
                </a:solidFill>
                <a:latin typeface="Cambria"/>
                <a:ea typeface="Cambria"/>
                <a:cs typeface="Cambria"/>
              </a:defRPr>
            </a:lvl6pPr>
            <a:lvl7pPr algn="l">
              <a:defRPr sz="5100" b="1">
                <a:solidFill>
                  <a:srgbClr val="1C7293"/>
                </a:solidFill>
                <a:latin typeface="Cambria"/>
                <a:ea typeface="Cambria"/>
                <a:cs typeface="Cambria"/>
              </a:defRPr>
            </a:lvl7pPr>
            <a:lvl8pPr algn="l">
              <a:defRPr sz="5100" b="1">
                <a:solidFill>
                  <a:srgbClr val="1C7293"/>
                </a:solidFill>
                <a:latin typeface="Cambria"/>
                <a:ea typeface="Cambria"/>
                <a:cs typeface="Cambria"/>
              </a:defRPr>
            </a:lvl8pPr>
            <a:lvl9pPr algn="l">
              <a:defRPr sz="5100" b="1">
                <a:solidFill>
                  <a:srgbClr val="1C7293"/>
                </a:solidFill>
                <a:latin typeface="Cambria"/>
                <a:ea typeface="Cambria"/>
                <a:cs typeface="Cambria"/>
              </a:defRPr>
            </a:lvl9pPr>
          </a:lstStyle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4800"/>
              <a:buFont typeface="Cambria"/>
              <a:buNone/>
              <a:defRPr sz="5100" b="1">
                <a:solidFill>
                  <a:srgbClr val="1C7293"/>
                </a:solidFill>
                <a:latin typeface="Cambria"/>
                <a:ea typeface="Cambria"/>
                <a:cs typeface="Cambria"/>
              </a:defRPr>
            </a:pPr>
            <a:r>
              <a:rPr sz="5100" b="1" i="0" u="none" strike="noStrike" cap="none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DEMO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7" name="Google Shape;117;p6">
            <a:extLst>
              <a:ext uri="{FF2B5EF4-FFF2-40B4-BE49-F238E27FC236}">
                <a16:creationId xmlns:a16="http://schemas.microsoft.com/office/drawing/2014/main" id="{6A8EA0D2-A2B6-4A20-905E-9B43F2B49F36}"/>
              </a:ext>
            </a:extLst>
          </p:cNvPr>
          <p:cNvSpPr>
            <a:spLocks noGrp="1"/>
          </p:cNvSpPr>
          <p:nvPr/>
        </p:nvSpPr>
        <p:spPr>
          <a:xfrm>
            <a:off x="1234440" y="3154680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00"/>
              <a:buFont typeface="Calibri"/>
              <a:buNone/>
            </a:pPr>
            <a:r>
              <a:rPr sz="1200" b="1" i="0" u="none" strike="noStrike" cap="none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SUPPLIED BUILD STATUS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8" name="Google Shape;118;p6">
            <a:extLst>
              <a:ext uri="{FF2B5EF4-FFF2-40B4-BE49-F238E27FC236}">
                <a16:creationId xmlns:a16="http://schemas.microsoft.com/office/drawing/2014/main" id="{2855CA2D-CF3A-4DA4-9F97-41FF3B2CE08A}"/>
              </a:ext>
            </a:extLst>
          </p:cNvPr>
          <p:cNvSpPr>
            <a:spLocks noGrp="1"/>
          </p:cNvSpPr>
          <p:nvPr/>
        </p:nvSpPr>
        <p:spPr>
          <a:xfrm>
            <a:off x="1463064" y="3840475"/>
            <a:ext cx="5453400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 fontScale="74342"/>
          </a:bodyPr>
          <a:lstStyle>
            <a:defPPr algn="l">
              <a:defRPr sz="1350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  <a:defRPr sz="1350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pPr>
            <a:r>
              <a:rPr sz="1350" b="0" i="1" u="none" strike="noStrike" cap="none">
                <a:solidFill>
                  <a:srgbClr val="526486"/>
                </a:solidFill>
                <a:latin typeface="Calibri"/>
                <a:ea typeface="Calibri"/>
                <a:cs typeface="Calibri"/>
              </a:rPr>
              <a:t>Implemented in the supplied source: six service categories, booking form, required-field and 10-digit phone checks, a temporary ODS ID, confirmation summary and sample status controls.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  <a:defRPr sz="1350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pPr>
            <a:r>
              <a:rPr sz="1350" b="0" i="1" u="none" strike="noStrike" cap="none">
                <a:solidFill>
                  <a:srgbClr val="526486"/>
                </a:solidFill>
                <a:latin typeface="Calibri"/>
                <a:ea typeface="Calibri"/>
                <a:cs typeface="Calibri"/>
              </a:rPr>
              <a:t>Not included yet: backend, persistent database, verified providers, user accounts, payment or live dispatch.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  <a:defRPr sz="1350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pPr>
            <a:r>
              <a:rPr sz="1350" b="0" i="1" u="none" strike="noStrike" cap="none">
                <a:solidFill>
                  <a:srgbClr val="526486"/>
                </a:solidFill>
                <a:latin typeface="Calibri"/>
                <a:ea typeface="Calibri"/>
                <a:cs typeface="Calibri"/>
              </a:rPr>
              <a:t>The supplied files contain no Review-01 baseline or progress log, so a numeric completion percentage is not stated.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803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>
            <a:extLst>
              <a:ext uri="{FF2B5EF4-FFF2-40B4-BE49-F238E27FC236}">
                <a16:creationId xmlns:a16="http://schemas.microsoft.com/office/drawing/2014/main" id="{5DE4B69D-EC5C-4470-BBF1-A661D0706B3C}"/>
              </a:ext>
            </a:extLst>
          </p:cNvPr>
          <p:cNvSpPr>
            <a:spLocks noGrp="1"/>
          </p:cNvSpPr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7">
            <a:extLst>
              <a:ext uri="{FF2B5EF4-FFF2-40B4-BE49-F238E27FC236}">
                <a16:creationId xmlns:a16="http://schemas.microsoft.com/office/drawing/2014/main" id="{B5F9FA67-2E33-49EF-A5FA-69369BC26E62}"/>
              </a:ext>
            </a:extLst>
          </p:cNvPr>
          <p:cNvSpPr>
            <a:spLocks noGrp="1"/>
          </p:cNvSpPr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7">
            <a:extLst>
              <a:ext uri="{FF2B5EF4-FFF2-40B4-BE49-F238E27FC236}">
                <a16:creationId xmlns:a16="http://schemas.microsoft.com/office/drawing/2014/main" id="{94682246-D992-4115-A17D-2826FCCD9B95}"/>
              </a:ext>
            </a:extLst>
          </p:cNvPr>
          <p:cNvSpPr>
            <a:spLocks noGrp="1"/>
          </p:cNvSpPr>
          <p:nvPr/>
        </p:nvSpPr>
        <p:spPr>
          <a:xfrm>
            <a:off x="502920" y="457200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21295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7">
            <a:extLst>
              <a:ext uri="{FF2B5EF4-FFF2-40B4-BE49-F238E27FC236}">
                <a16:creationId xmlns:a16="http://schemas.microsoft.com/office/drawing/2014/main" id="{66C36737-D965-4A95-BDE1-523981EFE48B}"/>
              </a:ext>
            </a:extLst>
          </p:cNvPr>
          <p:cNvSpPr>
            <a:spLocks noGrp="1"/>
          </p:cNvSpPr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8" name="Google Shape;128;p7">
            <a:extLst>
              <a:ext uri="{FF2B5EF4-FFF2-40B4-BE49-F238E27FC236}">
                <a16:creationId xmlns:a16="http://schemas.microsoft.com/office/drawing/2014/main" id="{C8B30D7C-D9E6-448F-BA91-B864F7ECEF4D}"/>
              </a:ext>
            </a:extLst>
          </p:cNvPr>
          <p:cNvSpPr>
            <a:spLocks noGrp="1"/>
          </p:cNvSpPr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sz="11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ARCHITECTURE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9" name="Google Shape;129;p7">
            <a:extLst>
              <a:ext uri="{FF2B5EF4-FFF2-40B4-BE49-F238E27FC236}">
                <a16:creationId xmlns:a16="http://schemas.microsoft.com/office/drawing/2014/main" id="{5ED903A4-2E82-4543-B55F-974110619356}"/>
              </a:ext>
            </a:extLst>
          </p:cNvPr>
          <p:cNvSpPr>
            <a:spLocks noGrp="1"/>
          </p:cNvSpPr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sz="3000" b="1" i="0" u="none" strike="noStrike" cap="none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System Architecture / Workflow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0" name="Google Shape;130;p7">
            <a:extLst>
              <a:ext uri="{FF2B5EF4-FFF2-40B4-BE49-F238E27FC236}">
                <a16:creationId xmlns:a16="http://schemas.microsoft.com/office/drawing/2014/main" id="{0B761BD9-4A47-4150-B398-694B89A23381}"/>
              </a:ext>
            </a:extLst>
          </p:cNvPr>
          <p:cNvSpPr>
            <a:spLocks noGrp="1"/>
          </p:cNvSpPr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sz="900" b="0" i="0" u="none" strike="noStrike" cap="none">
                <a:solidFill>
                  <a:srgbClr val="6B7593"/>
                </a:solidFill>
                <a:latin typeface="Calibri"/>
                <a:ea typeface="Calibri"/>
                <a:cs typeface="Calibri"/>
              </a:rPr>
              <a:t>OWN DEMAND SERVICE APP  ·  MINI PROJECT FINAL EVALUATION (REVIEW-02)  ·  2026–27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1" name="Google Shape;131;p7">
            <a:extLst>
              <a:ext uri="{FF2B5EF4-FFF2-40B4-BE49-F238E27FC236}">
                <a16:creationId xmlns:a16="http://schemas.microsoft.com/office/drawing/2014/main" id="{89B28BEB-A37B-4FCA-87EB-B44E183D8173}"/>
              </a:ext>
            </a:extLst>
          </p:cNvPr>
          <p:cNvSpPr>
            <a:spLocks noGrp="1"/>
          </p:cNvSpPr>
          <p:nvPr/>
        </p:nvSpPr>
        <p:spPr>
          <a:xfrm>
            <a:off x="1122883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sz="900" b="0" i="0" u="none" strike="noStrike" cap="none">
                <a:solidFill>
                  <a:srgbClr val="6B7593"/>
                </a:solidFill>
                <a:latin typeface="Calibri"/>
                <a:ea typeface="Calibri"/>
                <a:cs typeface="Calibri"/>
              </a:rPr>
              <a:t>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2" name="Google Shape;132;p7">
            <a:extLst>
              <a:ext uri="{FF2B5EF4-FFF2-40B4-BE49-F238E27FC236}">
                <a16:creationId xmlns:a16="http://schemas.microsoft.com/office/drawing/2014/main" id="{70C70574-2BC8-4D25-924E-855DCEB4FECE}"/>
              </a:ext>
            </a:extLst>
          </p:cNvPr>
          <p:cNvSpPr>
            <a:spLocks noGrp="1"/>
          </p:cNvSpPr>
          <p:nvPr/>
        </p:nvSpPr>
        <p:spPr>
          <a:xfrm>
            <a:off x="1234440" y="1600200"/>
            <a:ext cx="9848088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9525" cap="flat" cmpd="sng">
            <a:solidFill>
              <a:srgbClr val="DEE4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7">
            <a:extLst>
              <a:ext uri="{FF2B5EF4-FFF2-40B4-BE49-F238E27FC236}">
                <a16:creationId xmlns:a16="http://schemas.microsoft.com/office/drawing/2014/main" id="{5F4ECAD0-2571-4554-B322-782F53B6136F}"/>
              </a:ext>
            </a:extLst>
          </p:cNvPr>
          <p:cNvSpPr>
            <a:spLocks noGrp="1"/>
          </p:cNvSpPr>
          <p:nvPr/>
        </p:nvSpPr>
        <p:spPr>
          <a:xfrm>
            <a:off x="1234440" y="3200400"/>
            <a:ext cx="984808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4" name="Architecture scope label">
            <a:extLst>
              <a:ext uri="{FF2B5EF4-FFF2-40B4-BE49-F238E27FC236}">
                <a16:creationId xmlns:a16="http://schemas.microsoft.com/office/drawing/2014/main" id="{27809FE3-7FC0-43AF-AF1C-FBAADF90CE00}"/>
              </a:ext>
            </a:extLst>
          </p:cNvPr>
          <p:cNvSpPr>
            <a:spLocks noGrp="1"/>
          </p:cNvSpPr>
          <p:nvPr/>
        </p:nvSpPr>
        <p:spPr>
          <a:xfrm>
            <a:off x="1438275" y="1866900"/>
            <a:ext cx="885825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lIns="0" tIns="0" rIns="0" bIns="0" anchor="ctr">
            <a:normAutofit/>
          </a:bodyPr>
          <a:lstStyle>
            <a:defPPr algn="ctr">
              <a:defRPr sz="11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1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1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1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1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1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1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1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1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1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1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CURRENT BUILD · CLIENT-SIDE ONLY</a:t>
            </a:r>
          </a:p>
        </p:txBody>
      </p:sp>
      <p:sp>
        <p:nvSpPr>
          <p:cNvPr id="135" name="Architecture CUSTOMER">
            <a:extLst>
              <a:ext uri="{FF2B5EF4-FFF2-40B4-BE49-F238E27FC236}">
                <a16:creationId xmlns:a16="http://schemas.microsoft.com/office/drawing/2014/main" id="{C29C789B-F32C-4E99-9DFE-F02354B45DA8}"/>
              </a:ext>
            </a:extLst>
          </p:cNvPr>
          <p:cNvSpPr>
            <a:spLocks noGrp="1"/>
          </p:cNvSpPr>
          <p:nvPr/>
        </p:nvSpPr>
        <p:spPr>
          <a:xfrm>
            <a:off x="1409700" y="2476500"/>
            <a:ext cx="1676400" cy="1238250"/>
          </a:xfrm>
          <a:prstGeom prst="roundRect">
            <a:avLst>
              <a:gd name="adj" fmla="val 7692"/>
            </a:avLst>
          </a:prstGeom>
          <a:solidFill>
            <a:srgbClr val="21295C"/>
          </a:solidFill>
          <a:ln w="9525">
            <a:solidFill>
              <a:srgbClr val="21295C"/>
            </a:solidFill>
            <a:prstDash val="solid"/>
          </a:ln>
        </p:spPr>
        <p:txBody>
          <a:bodyPr lIns="114300" tIns="114300" rIns="114300" bIns="114300" anchor="ctr">
            <a:normAutofit/>
          </a:bodyPr>
          <a:lstStyle>
            <a:defPPr algn="ctr"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CUSTOMER</a:t>
            </a:r>
          </a:p>
          <a:p>
            <a:pPr algn="ctr"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Selects a category and enters a service request.</a:t>
            </a:r>
          </a:p>
        </p:txBody>
      </p:sp>
      <p:sp>
        <p:nvSpPr>
          <p:cNvPr id="136" name="Architecture arrow 1">
            <a:extLst>
              <a:ext uri="{FF2B5EF4-FFF2-40B4-BE49-F238E27FC236}">
                <a16:creationId xmlns:a16="http://schemas.microsoft.com/office/drawing/2014/main" id="{135FE0D6-A83B-4214-A87E-52B397B86AAC}"/>
              </a:ext>
            </a:extLst>
          </p:cNvPr>
          <p:cNvSpPr>
            <a:spLocks noGrp="1"/>
          </p:cNvSpPr>
          <p:nvPr/>
        </p:nvSpPr>
        <p:spPr>
          <a:xfrm>
            <a:off x="3095625" y="2828925"/>
            <a:ext cx="228600" cy="4000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lIns="0" tIns="0" rIns="0" bIns="0" anchor="ctr">
            <a:normAutofit/>
          </a:bodyPr>
          <a:lstStyle>
            <a:defPPr algn="ctr">
              <a:defRPr sz="25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5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5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5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5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5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5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5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5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5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25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137" name="Architecture WEB INTERFACE">
            <a:extLst>
              <a:ext uri="{FF2B5EF4-FFF2-40B4-BE49-F238E27FC236}">
                <a16:creationId xmlns:a16="http://schemas.microsoft.com/office/drawing/2014/main" id="{23D92421-7E7F-42B3-9B69-090A4ED9BAD9}"/>
              </a:ext>
            </a:extLst>
          </p:cNvPr>
          <p:cNvSpPr>
            <a:spLocks noGrp="1"/>
          </p:cNvSpPr>
          <p:nvPr/>
        </p:nvSpPr>
        <p:spPr>
          <a:xfrm>
            <a:off x="3333750" y="2476500"/>
            <a:ext cx="1676400" cy="1238250"/>
          </a:xfrm>
          <a:prstGeom prst="roundRect">
            <a:avLst>
              <a:gd name="adj" fmla="val 7692"/>
            </a:avLst>
          </a:prstGeom>
          <a:solidFill>
            <a:srgbClr val="1C7293"/>
          </a:solidFill>
          <a:ln w="9525">
            <a:solidFill>
              <a:srgbClr val="1C7293"/>
            </a:solidFill>
            <a:prstDash val="solid"/>
          </a:ln>
        </p:spPr>
        <p:txBody>
          <a:bodyPr lIns="114300" tIns="114300" rIns="114300" bIns="114300" anchor="ctr">
            <a:normAutofit/>
          </a:bodyPr>
          <a:lstStyle>
            <a:defPPr algn="ctr"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WEB INTERFACE</a:t>
            </a:r>
          </a:p>
          <a:p>
            <a:pPr algn="ctr"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HTML form and service cards styled with CSS.</a:t>
            </a:r>
          </a:p>
        </p:txBody>
      </p:sp>
      <p:sp>
        <p:nvSpPr>
          <p:cNvPr id="138" name="Architecture arrow 2">
            <a:extLst>
              <a:ext uri="{FF2B5EF4-FFF2-40B4-BE49-F238E27FC236}">
                <a16:creationId xmlns:a16="http://schemas.microsoft.com/office/drawing/2014/main" id="{8E0C159B-FBBA-43A3-AC1C-278DEF5B5427}"/>
              </a:ext>
            </a:extLst>
          </p:cNvPr>
          <p:cNvSpPr>
            <a:spLocks noGrp="1"/>
          </p:cNvSpPr>
          <p:nvPr/>
        </p:nvSpPr>
        <p:spPr>
          <a:xfrm>
            <a:off x="5019675" y="2828925"/>
            <a:ext cx="228600" cy="4000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lIns="0" tIns="0" rIns="0" bIns="0" anchor="ctr">
            <a:normAutofit/>
          </a:bodyPr>
          <a:lstStyle>
            <a:defPPr algn="ctr">
              <a:defRPr sz="25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5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5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5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5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5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5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5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5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5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25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139" name="Architecture VALIDATION">
            <a:extLst>
              <a:ext uri="{FF2B5EF4-FFF2-40B4-BE49-F238E27FC236}">
                <a16:creationId xmlns:a16="http://schemas.microsoft.com/office/drawing/2014/main" id="{815DEE4F-A526-4680-9DF5-7F28671A64E2}"/>
              </a:ext>
            </a:extLst>
          </p:cNvPr>
          <p:cNvSpPr>
            <a:spLocks noGrp="1"/>
          </p:cNvSpPr>
          <p:nvPr/>
        </p:nvSpPr>
        <p:spPr>
          <a:xfrm>
            <a:off x="5257800" y="2476500"/>
            <a:ext cx="1676400" cy="1238250"/>
          </a:xfrm>
          <a:prstGeom prst="roundRect">
            <a:avLst>
              <a:gd name="adj" fmla="val 7692"/>
            </a:avLst>
          </a:prstGeom>
          <a:solidFill>
            <a:srgbClr val="21295C"/>
          </a:solidFill>
          <a:ln w="9525">
            <a:solidFill>
              <a:srgbClr val="21295C"/>
            </a:solidFill>
            <a:prstDash val="solid"/>
          </a:ln>
        </p:spPr>
        <p:txBody>
          <a:bodyPr lIns="114300" tIns="114300" rIns="114300" bIns="114300" anchor="ctr">
            <a:normAutofit/>
          </a:bodyPr>
          <a:lstStyle>
            <a:defPPr algn="ctr"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VALIDATION</a:t>
            </a:r>
          </a:p>
          <a:p>
            <a:pPr algn="ctr"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Required fields, selected category and 10-digit phone check.</a:t>
            </a:r>
          </a:p>
        </p:txBody>
      </p:sp>
      <p:sp>
        <p:nvSpPr>
          <p:cNvPr id="140" name="Architecture arrow 3">
            <a:extLst>
              <a:ext uri="{FF2B5EF4-FFF2-40B4-BE49-F238E27FC236}">
                <a16:creationId xmlns:a16="http://schemas.microsoft.com/office/drawing/2014/main" id="{967F2C53-039D-4C2C-9A0F-73B3242C0D21}"/>
              </a:ext>
            </a:extLst>
          </p:cNvPr>
          <p:cNvSpPr>
            <a:spLocks noGrp="1"/>
          </p:cNvSpPr>
          <p:nvPr/>
        </p:nvSpPr>
        <p:spPr>
          <a:xfrm>
            <a:off x="6943725" y="2828925"/>
            <a:ext cx="228600" cy="4000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lIns="0" tIns="0" rIns="0" bIns="0" anchor="ctr">
            <a:normAutofit/>
          </a:bodyPr>
          <a:lstStyle>
            <a:defPPr algn="ctr">
              <a:defRPr sz="25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5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5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5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5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5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5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5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5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5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25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141" name="Architecture DEMO STATE">
            <a:extLst>
              <a:ext uri="{FF2B5EF4-FFF2-40B4-BE49-F238E27FC236}">
                <a16:creationId xmlns:a16="http://schemas.microsoft.com/office/drawing/2014/main" id="{BE96CBB2-BC58-44BE-A910-ADC148C2B976}"/>
              </a:ext>
            </a:extLst>
          </p:cNvPr>
          <p:cNvSpPr>
            <a:spLocks noGrp="1"/>
          </p:cNvSpPr>
          <p:nvPr/>
        </p:nvSpPr>
        <p:spPr>
          <a:xfrm>
            <a:off x="7181850" y="2476500"/>
            <a:ext cx="1676400" cy="1238250"/>
          </a:xfrm>
          <a:prstGeom prst="roundRect">
            <a:avLst>
              <a:gd name="adj" fmla="val 7692"/>
            </a:avLst>
          </a:prstGeom>
          <a:solidFill>
            <a:srgbClr val="1C7293"/>
          </a:solidFill>
          <a:ln w="9525">
            <a:solidFill>
              <a:srgbClr val="1C7293"/>
            </a:solidFill>
            <a:prstDash val="solid"/>
          </a:ln>
        </p:spPr>
        <p:txBody>
          <a:bodyPr lIns="114300" tIns="114300" rIns="114300" bIns="114300" anchor="ctr">
            <a:normAutofit/>
          </a:bodyPr>
          <a:lstStyle>
            <a:defPPr algn="ctr"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DEMO STATE</a:t>
            </a:r>
          </a:p>
          <a:p>
            <a:pPr algn="ctr"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JavaScript stores one booking in memory and assigns ODS#####.</a:t>
            </a:r>
          </a:p>
        </p:txBody>
      </p:sp>
      <p:sp>
        <p:nvSpPr>
          <p:cNvPr id="142" name="Architecture arrow 4">
            <a:extLst>
              <a:ext uri="{FF2B5EF4-FFF2-40B4-BE49-F238E27FC236}">
                <a16:creationId xmlns:a16="http://schemas.microsoft.com/office/drawing/2014/main" id="{F74194D2-D555-432C-870C-261CD4C6CD6B}"/>
              </a:ext>
            </a:extLst>
          </p:cNvPr>
          <p:cNvSpPr>
            <a:spLocks noGrp="1"/>
          </p:cNvSpPr>
          <p:nvPr/>
        </p:nvSpPr>
        <p:spPr>
          <a:xfrm>
            <a:off x="8867775" y="2828925"/>
            <a:ext cx="228600" cy="4000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lIns="0" tIns="0" rIns="0" bIns="0" anchor="ctr">
            <a:normAutofit/>
          </a:bodyPr>
          <a:lstStyle>
            <a:defPPr algn="ctr">
              <a:defRPr sz="25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5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5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5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5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5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5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5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5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5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25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143" name="Architecture RESPONSE">
            <a:extLst>
              <a:ext uri="{FF2B5EF4-FFF2-40B4-BE49-F238E27FC236}">
                <a16:creationId xmlns:a16="http://schemas.microsoft.com/office/drawing/2014/main" id="{823D9F4C-C55F-4A08-AC10-96C174E73E53}"/>
              </a:ext>
            </a:extLst>
          </p:cNvPr>
          <p:cNvSpPr>
            <a:spLocks noGrp="1"/>
          </p:cNvSpPr>
          <p:nvPr/>
        </p:nvSpPr>
        <p:spPr>
          <a:xfrm>
            <a:off x="9105900" y="2476500"/>
            <a:ext cx="1676400" cy="1238250"/>
          </a:xfrm>
          <a:prstGeom prst="roundRect">
            <a:avLst>
              <a:gd name="adj" fmla="val 7692"/>
            </a:avLst>
          </a:prstGeom>
          <a:solidFill>
            <a:srgbClr val="21295C"/>
          </a:solidFill>
          <a:ln w="9525">
            <a:solidFill>
              <a:srgbClr val="21295C"/>
            </a:solidFill>
            <a:prstDash val="solid"/>
          </a:ln>
        </p:spPr>
        <p:txBody>
          <a:bodyPr lIns="114300" tIns="114300" rIns="114300" bIns="114300" anchor="ctr">
            <a:normAutofit/>
          </a:bodyPr>
          <a:lstStyle>
            <a:defPPr algn="ctr"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RESPONSE</a:t>
            </a:r>
          </a:p>
          <a:p>
            <a:pPr algn="ctr"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Confirmation summary and sample status progression.</a:t>
            </a:r>
          </a:p>
        </p:txBody>
      </p:sp>
      <p:sp>
        <p:nvSpPr>
          <p:cNvPr id="144" name="Architecture boundary callout">
            <a:extLst>
              <a:ext uri="{FF2B5EF4-FFF2-40B4-BE49-F238E27FC236}">
                <a16:creationId xmlns:a16="http://schemas.microsoft.com/office/drawing/2014/main" id="{C9A0C601-6297-48E3-82CB-023620608225}"/>
              </a:ext>
            </a:extLst>
          </p:cNvPr>
          <p:cNvSpPr>
            <a:spLocks noGrp="1"/>
          </p:cNvSpPr>
          <p:nvPr/>
        </p:nvSpPr>
        <p:spPr>
          <a:xfrm>
            <a:off x="1828800" y="4143375"/>
            <a:ext cx="8458200" cy="638175"/>
          </a:xfrm>
          <a:prstGeom prst="roundRect">
            <a:avLst>
              <a:gd name="adj" fmla="val 14925"/>
            </a:avLst>
          </a:prstGeom>
          <a:solidFill>
            <a:srgbClr val="EAF1F5"/>
          </a:solidFill>
          <a:ln w="12383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5" name="Architecture boundary text">
            <a:extLst>
              <a:ext uri="{FF2B5EF4-FFF2-40B4-BE49-F238E27FC236}">
                <a16:creationId xmlns:a16="http://schemas.microsoft.com/office/drawing/2014/main" id="{2391EEFB-AEFF-499F-9616-4696F13C24F6}"/>
              </a:ext>
            </a:extLst>
          </p:cNvPr>
          <p:cNvSpPr>
            <a:spLocks noGrp="1"/>
          </p:cNvSpPr>
          <p:nvPr/>
        </p:nvSpPr>
        <p:spPr>
          <a:xfrm>
            <a:off x="1952625" y="4171950"/>
            <a:ext cx="8210550" cy="571500"/>
          </a:xfrm>
          <a:prstGeom prst="rect">
            <a:avLst/>
          </a:prstGeom>
          <a:solidFill>
            <a:srgbClr val="EAF1F5"/>
          </a:solidFill>
          <a:ln w="0">
            <a:solidFill>
              <a:srgbClr val="EAF1F5"/>
            </a:solidFill>
            <a:prstDash val="solid"/>
          </a:ln>
        </p:spPr>
        <p:txBody>
          <a:bodyPr lIns="0" tIns="0" rIns="0" bIns="0" anchor="ctr">
            <a:normAutofit/>
          </a:bodyPr>
          <a:lstStyle>
            <a:defPPr algn="ctr">
              <a:defRPr sz="1350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350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No API server, persistent database, authentication, payment gateway or provider dispatch is connected in the supplied prototype.</a:t>
            </a:r>
          </a:p>
        </p:txBody>
      </p:sp>
    </p:spTree>
    <p:extLst>
      <p:ext uri="{BB962C8B-B14F-4D97-AF65-F5344CB8AC3E}">
        <p14:creationId xmlns:p14="http://schemas.microsoft.com/office/powerpoint/2010/main" val="286696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">
            <a:extLst>
              <a:ext uri="{FF2B5EF4-FFF2-40B4-BE49-F238E27FC236}">
                <a16:creationId xmlns:a16="http://schemas.microsoft.com/office/drawing/2014/main" id="{667B471B-E05F-4248-9B11-8E132BE6CDAF}"/>
              </a:ext>
            </a:extLst>
          </p:cNvPr>
          <p:cNvSpPr>
            <a:spLocks noGrp="1"/>
          </p:cNvSpPr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8">
            <a:extLst>
              <a:ext uri="{FF2B5EF4-FFF2-40B4-BE49-F238E27FC236}">
                <a16:creationId xmlns:a16="http://schemas.microsoft.com/office/drawing/2014/main" id="{2A271FB5-980A-4EC3-A5E2-723F03624A7D}"/>
              </a:ext>
            </a:extLst>
          </p:cNvPr>
          <p:cNvSpPr>
            <a:spLocks noGrp="1"/>
          </p:cNvSpPr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8">
            <a:extLst>
              <a:ext uri="{FF2B5EF4-FFF2-40B4-BE49-F238E27FC236}">
                <a16:creationId xmlns:a16="http://schemas.microsoft.com/office/drawing/2014/main" id="{9FFD2B85-63FC-4B14-9D36-0A0E9823252B}"/>
              </a:ext>
            </a:extLst>
          </p:cNvPr>
          <p:cNvSpPr>
            <a:spLocks noGrp="1"/>
          </p:cNvSpPr>
          <p:nvPr/>
        </p:nvSpPr>
        <p:spPr>
          <a:xfrm>
            <a:off x="502920" y="457200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21295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8">
            <a:extLst>
              <a:ext uri="{FF2B5EF4-FFF2-40B4-BE49-F238E27FC236}">
                <a16:creationId xmlns:a16="http://schemas.microsoft.com/office/drawing/2014/main" id="{7357D8A1-4F90-4A10-B9F5-6404CFA13921}"/>
              </a:ext>
            </a:extLst>
          </p:cNvPr>
          <p:cNvSpPr>
            <a:spLocks noGrp="1"/>
          </p:cNvSpPr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3" name="Google Shape;143;p8">
            <a:extLst>
              <a:ext uri="{FF2B5EF4-FFF2-40B4-BE49-F238E27FC236}">
                <a16:creationId xmlns:a16="http://schemas.microsoft.com/office/drawing/2014/main" id="{4013C63D-DA86-4723-98BE-FFCE6B585EBD}"/>
              </a:ext>
            </a:extLst>
          </p:cNvPr>
          <p:cNvSpPr>
            <a:spLocks noGrp="1"/>
          </p:cNvSpPr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sz="11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IMPLEMENTATION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4" name="Google Shape;144;p8">
            <a:extLst>
              <a:ext uri="{FF2B5EF4-FFF2-40B4-BE49-F238E27FC236}">
                <a16:creationId xmlns:a16="http://schemas.microsoft.com/office/drawing/2014/main" id="{D48CB7F9-AA63-4DCE-B13E-D998053948F8}"/>
              </a:ext>
            </a:extLst>
          </p:cNvPr>
          <p:cNvSpPr>
            <a:spLocks noGrp="1"/>
          </p:cNvSpPr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sz="3000" b="1" i="0" u="none" strike="noStrike" cap="none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Implementation Details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5" name="Google Shape;145;p8">
            <a:extLst>
              <a:ext uri="{FF2B5EF4-FFF2-40B4-BE49-F238E27FC236}">
                <a16:creationId xmlns:a16="http://schemas.microsoft.com/office/drawing/2014/main" id="{D0C035BF-F218-45BC-89C8-03E46CE75188}"/>
              </a:ext>
            </a:extLst>
          </p:cNvPr>
          <p:cNvSpPr>
            <a:spLocks noGrp="1"/>
          </p:cNvSpPr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sz="900" b="0" i="0" u="none" strike="noStrike" cap="none">
                <a:solidFill>
                  <a:srgbClr val="6B7593"/>
                </a:solidFill>
                <a:latin typeface="Calibri"/>
                <a:ea typeface="Calibri"/>
                <a:cs typeface="Calibri"/>
              </a:rPr>
              <a:t>OWN DEMAND SERVICE APP  ·  MINI PROJECT FINAL EVALUATION (REVIEW-02)  ·  2026–27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6" name="Google Shape;146;p8">
            <a:extLst>
              <a:ext uri="{FF2B5EF4-FFF2-40B4-BE49-F238E27FC236}">
                <a16:creationId xmlns:a16="http://schemas.microsoft.com/office/drawing/2014/main" id="{7D468799-EE55-4365-946A-F924844B33BA}"/>
              </a:ext>
            </a:extLst>
          </p:cNvPr>
          <p:cNvSpPr>
            <a:spLocks noGrp="1"/>
          </p:cNvSpPr>
          <p:nvPr/>
        </p:nvSpPr>
        <p:spPr>
          <a:xfrm>
            <a:off x="1122883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sz="900" b="0" i="0" u="none" strike="noStrike" cap="none">
                <a:solidFill>
                  <a:srgbClr val="6B7593"/>
                </a:solidFill>
                <a:latin typeface="Calibri"/>
                <a:ea typeface="Calibri"/>
                <a:cs typeface="Calibri"/>
              </a:rPr>
              <a:t>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7" name="Google Shape;147;p8">
            <a:extLst>
              <a:ext uri="{FF2B5EF4-FFF2-40B4-BE49-F238E27FC236}">
                <a16:creationId xmlns:a16="http://schemas.microsoft.com/office/drawing/2014/main" id="{C73BF4D7-9A74-4133-9507-80CE0AA6F4CA}"/>
              </a:ext>
            </a:extLst>
          </p:cNvPr>
          <p:cNvSpPr>
            <a:spLocks noGrp="1"/>
          </p:cNvSpPr>
          <p:nvPr/>
        </p:nvSpPr>
        <p:spPr>
          <a:xfrm>
            <a:off x="1234471" y="1600200"/>
            <a:ext cx="9811200" cy="448050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9525" cap="flat" cmpd="sng">
            <a:solidFill>
              <a:srgbClr val="DEE4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8">
            <a:extLst>
              <a:ext uri="{FF2B5EF4-FFF2-40B4-BE49-F238E27FC236}">
                <a16:creationId xmlns:a16="http://schemas.microsoft.com/office/drawing/2014/main" id="{4E5FFEA3-A8A2-485C-8854-DBDB5BF3A280}"/>
              </a:ext>
            </a:extLst>
          </p:cNvPr>
          <p:cNvSpPr>
            <a:spLocks noGrp="1"/>
          </p:cNvSpPr>
          <p:nvPr/>
        </p:nvSpPr>
        <p:spPr>
          <a:xfrm>
            <a:off x="1463075" y="1846475"/>
            <a:ext cx="9334500" cy="40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9" name="Implementation card 1">
            <a:extLst>
              <a:ext uri="{FF2B5EF4-FFF2-40B4-BE49-F238E27FC236}">
                <a16:creationId xmlns:a16="http://schemas.microsoft.com/office/drawing/2014/main" id="{8E5A5688-C29D-48B7-A052-F53FC2FD295B}"/>
              </a:ext>
            </a:extLst>
          </p:cNvPr>
          <p:cNvSpPr>
            <a:spLocks noGrp="1"/>
          </p:cNvSpPr>
          <p:nvPr/>
        </p:nvSpPr>
        <p:spPr>
          <a:xfrm>
            <a:off x="1438275" y="1866900"/>
            <a:ext cx="2952750" cy="37719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383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0" name="Implementation heading 1">
            <a:extLst>
              <a:ext uri="{FF2B5EF4-FFF2-40B4-BE49-F238E27FC236}">
                <a16:creationId xmlns:a16="http://schemas.microsoft.com/office/drawing/2014/main" id="{B6DA061C-3EF6-4DC0-B87B-F247C2E48EB6}"/>
              </a:ext>
            </a:extLst>
          </p:cNvPr>
          <p:cNvSpPr>
            <a:spLocks noGrp="1"/>
          </p:cNvSpPr>
          <p:nvPr/>
        </p:nvSpPr>
        <p:spPr>
          <a:xfrm>
            <a:off x="1609725" y="2028825"/>
            <a:ext cx="2609850" cy="3619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3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3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1. FORM &amp; SELECTION</a:t>
            </a:r>
          </a:p>
        </p:txBody>
      </p:sp>
      <p:sp>
        <p:nvSpPr>
          <p:cNvPr id="151" name="Implementation body 1">
            <a:extLst>
              <a:ext uri="{FF2B5EF4-FFF2-40B4-BE49-F238E27FC236}">
                <a16:creationId xmlns:a16="http://schemas.microsoft.com/office/drawing/2014/main" id="{33900B8F-13B7-4AC3-A1A2-D8B58B6291F3}"/>
              </a:ext>
            </a:extLst>
          </p:cNvPr>
          <p:cNvSpPr>
            <a:spLocks noGrp="1"/>
          </p:cNvSpPr>
          <p:nvPr/>
        </p:nvSpPr>
        <p:spPr>
          <a:xfrm>
            <a:off x="1609725" y="2476500"/>
            <a:ext cx="2609850" cy="30003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lIns="0" tIns="38100" rIns="0" bIns="0" anchor="t">
            <a:normAutofit/>
          </a:bodyPr>
          <a:lstStyle>
            <a:def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• Six service cards use data-service values.</a:t>
            </a:r>
          </a:p>
          <a:p>
            <a: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• Required fields: name, phone, date, time and address.</a:t>
            </a:r>
          </a:p>
          <a:p>
            <a: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• Work description is optional.</a:t>
            </a:r>
          </a:p>
          <a:p>
            <a:endParaRPr sz="1200">
              <a:solidFill>
                <a:srgbClr val="21295C"/>
              </a:solidFill>
              <a:latin typeface="Calibri"/>
              <a:ea typeface="Calibri"/>
              <a:cs typeface="Calibri"/>
            </a:endParaRPr>
          </a:p>
          <a:p>
            <a: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selectedService stores the active category.</a:t>
            </a:r>
          </a:p>
        </p:txBody>
      </p:sp>
      <p:sp>
        <p:nvSpPr>
          <p:cNvPr id="152" name="Implementation card 2">
            <a:extLst>
              <a:ext uri="{FF2B5EF4-FFF2-40B4-BE49-F238E27FC236}">
                <a16:creationId xmlns:a16="http://schemas.microsoft.com/office/drawing/2014/main" id="{0DC3FA39-3344-49C2-A4CF-F55B0F2640A0}"/>
              </a:ext>
            </a:extLst>
          </p:cNvPr>
          <p:cNvSpPr>
            <a:spLocks noGrp="1"/>
          </p:cNvSpPr>
          <p:nvPr/>
        </p:nvSpPr>
        <p:spPr>
          <a:xfrm>
            <a:off x="4610100" y="1866900"/>
            <a:ext cx="2952750" cy="3771900"/>
          </a:xfrm>
          <a:prstGeom prst="roundRect">
            <a:avLst>
              <a:gd name="adj" fmla="val 3226"/>
            </a:avLst>
          </a:prstGeom>
          <a:solidFill>
            <a:srgbClr val="F6F8FB"/>
          </a:solidFill>
          <a:ln w="12383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3" name="Implementation heading 2">
            <a:extLst>
              <a:ext uri="{FF2B5EF4-FFF2-40B4-BE49-F238E27FC236}">
                <a16:creationId xmlns:a16="http://schemas.microsoft.com/office/drawing/2014/main" id="{73514AD3-D5D6-43F1-87CE-365D82178995}"/>
              </a:ext>
            </a:extLst>
          </p:cNvPr>
          <p:cNvSpPr>
            <a:spLocks noGrp="1"/>
          </p:cNvSpPr>
          <p:nvPr/>
        </p:nvSpPr>
        <p:spPr>
          <a:xfrm>
            <a:off x="4781550" y="2028825"/>
            <a:ext cx="2609850" cy="361950"/>
          </a:xfrm>
          <a:prstGeom prst="rect">
            <a:avLst/>
          </a:prstGeom>
          <a:solidFill>
            <a:srgbClr val="F6F8FB"/>
          </a:solidFill>
          <a:ln w="0">
            <a:solidFill>
              <a:srgbClr val="F6F8FB"/>
            </a:solidFill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3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3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2. VALIDATION &amp; SUBMIT</a:t>
            </a:r>
          </a:p>
        </p:txBody>
      </p:sp>
      <p:sp>
        <p:nvSpPr>
          <p:cNvPr id="154" name="Implementation body 2">
            <a:extLst>
              <a:ext uri="{FF2B5EF4-FFF2-40B4-BE49-F238E27FC236}">
                <a16:creationId xmlns:a16="http://schemas.microsoft.com/office/drawing/2014/main" id="{249550EA-636A-4BC8-9521-52F59C70C137}"/>
              </a:ext>
            </a:extLst>
          </p:cNvPr>
          <p:cNvSpPr>
            <a:spLocks noGrp="1"/>
          </p:cNvSpPr>
          <p:nvPr/>
        </p:nvSpPr>
        <p:spPr>
          <a:xfrm>
            <a:off x="4781550" y="2476500"/>
            <a:ext cx="2609850" cy="3000375"/>
          </a:xfrm>
          <a:prstGeom prst="rect">
            <a:avLst/>
          </a:prstGeom>
          <a:solidFill>
            <a:srgbClr val="F6F8FB"/>
          </a:solidFill>
          <a:ln w="0">
            <a:solidFill>
              <a:srgbClr val="F6F8FB"/>
            </a:solidFill>
            <a:prstDash val="solid"/>
          </a:ln>
        </p:spPr>
        <p:txBody>
          <a:bodyPr lIns="0" tIns="38100" rIns="0" bIns="0" anchor="t">
            <a:normAutofit/>
          </a:bodyPr>
          <a:lstStyle>
            <a:def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• HTML required constraints protect mandatory inputs.</a:t>
            </a:r>
          </a:p>
          <a:p>
            <a: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• Phone check requires exactly 10 digits.</a:t>
            </a:r>
          </a:p>
          <a:p>
            <a: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• Browser date minimum is set to today.</a:t>
            </a:r>
          </a:p>
          <a:p>
            <a:endParaRPr sz="1200">
              <a:solidFill>
                <a:srgbClr val="21295C"/>
              </a:solidFill>
              <a:latin typeface="Calibri"/>
              <a:ea typeface="Calibri"/>
              <a:cs typeface="Calibri"/>
            </a:endParaRPr>
          </a:p>
          <a:p>
            <a: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Submit prevents page navigation and checks service selection.</a:t>
            </a:r>
          </a:p>
        </p:txBody>
      </p:sp>
      <p:sp>
        <p:nvSpPr>
          <p:cNvPr id="155" name="Implementation card 3">
            <a:extLst>
              <a:ext uri="{FF2B5EF4-FFF2-40B4-BE49-F238E27FC236}">
                <a16:creationId xmlns:a16="http://schemas.microsoft.com/office/drawing/2014/main" id="{D36B2862-A673-49D4-A045-753E9A81F398}"/>
              </a:ext>
            </a:extLst>
          </p:cNvPr>
          <p:cNvSpPr>
            <a:spLocks noGrp="1"/>
          </p:cNvSpPr>
          <p:nvPr/>
        </p:nvSpPr>
        <p:spPr>
          <a:xfrm>
            <a:off x="7781925" y="1866900"/>
            <a:ext cx="2952750" cy="37719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383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6" name="Implementation heading 3">
            <a:extLst>
              <a:ext uri="{FF2B5EF4-FFF2-40B4-BE49-F238E27FC236}">
                <a16:creationId xmlns:a16="http://schemas.microsoft.com/office/drawing/2014/main" id="{50C96EEE-049E-4948-9D97-21E23C48E83E}"/>
              </a:ext>
            </a:extLst>
          </p:cNvPr>
          <p:cNvSpPr>
            <a:spLocks noGrp="1"/>
          </p:cNvSpPr>
          <p:nvPr/>
        </p:nvSpPr>
        <p:spPr>
          <a:xfrm>
            <a:off x="7953375" y="2028825"/>
            <a:ext cx="2609850" cy="3619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3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3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3. STATE &amp; OUTPUT</a:t>
            </a:r>
          </a:p>
        </p:txBody>
      </p:sp>
      <p:sp>
        <p:nvSpPr>
          <p:cNvPr id="157" name="Implementation body 3">
            <a:extLst>
              <a:ext uri="{FF2B5EF4-FFF2-40B4-BE49-F238E27FC236}">
                <a16:creationId xmlns:a16="http://schemas.microsoft.com/office/drawing/2014/main" id="{B867E47C-EA62-478E-A6B6-EEAD003839F7}"/>
              </a:ext>
            </a:extLst>
          </p:cNvPr>
          <p:cNvSpPr>
            <a:spLocks noGrp="1"/>
          </p:cNvSpPr>
          <p:nvPr/>
        </p:nvSpPr>
        <p:spPr>
          <a:xfrm>
            <a:off x="7953375" y="2476500"/>
            <a:ext cx="2609850" cy="30003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lIns="0" tIns="38100" rIns="0" bIns="0" anchor="t">
            <a:normAutofit/>
          </a:bodyPr>
          <a:lstStyle>
            <a:def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• currentBooking stores one request in page memory.</a:t>
            </a:r>
          </a:p>
          <a:p>
            <a: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• ID pattern: ODS + five random digits.</a:t>
            </a:r>
          </a:p>
          <a:p>
            <a: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• escapeHTML() encodes entered values before display.</a:t>
            </a:r>
          </a:p>
          <a:p>
            <a: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• Status buttons re-render; Clear Form resets the demo.</a:t>
            </a:r>
          </a:p>
        </p:txBody>
      </p:sp>
    </p:spTree>
    <p:extLst>
      <p:ext uri="{BB962C8B-B14F-4D97-AF65-F5344CB8AC3E}">
        <p14:creationId xmlns:p14="http://schemas.microsoft.com/office/powerpoint/2010/main" val="870545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>
            <a:extLst>
              <a:ext uri="{FF2B5EF4-FFF2-40B4-BE49-F238E27FC236}">
                <a16:creationId xmlns:a16="http://schemas.microsoft.com/office/drawing/2014/main" id="{2601BAD6-CB94-454E-909E-93E1CAC1A52E}"/>
              </a:ext>
            </a:extLst>
          </p:cNvPr>
          <p:cNvSpPr>
            <a:spLocks noGrp="1"/>
          </p:cNvSpPr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9">
            <a:extLst>
              <a:ext uri="{FF2B5EF4-FFF2-40B4-BE49-F238E27FC236}">
                <a16:creationId xmlns:a16="http://schemas.microsoft.com/office/drawing/2014/main" id="{D8B576FF-1F22-4608-BDDE-CE7FFB217BC5}"/>
              </a:ext>
            </a:extLst>
          </p:cNvPr>
          <p:cNvSpPr>
            <a:spLocks noGrp="1"/>
          </p:cNvSpPr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9">
            <a:extLst>
              <a:ext uri="{FF2B5EF4-FFF2-40B4-BE49-F238E27FC236}">
                <a16:creationId xmlns:a16="http://schemas.microsoft.com/office/drawing/2014/main" id="{FEA1DFB1-DED5-4F8D-94EC-4DAB4766A0DD}"/>
              </a:ext>
            </a:extLst>
          </p:cNvPr>
          <p:cNvSpPr>
            <a:spLocks noGrp="1"/>
          </p:cNvSpPr>
          <p:nvPr/>
        </p:nvSpPr>
        <p:spPr>
          <a:xfrm>
            <a:off x="502920" y="457200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21295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9">
            <a:extLst>
              <a:ext uri="{FF2B5EF4-FFF2-40B4-BE49-F238E27FC236}">
                <a16:creationId xmlns:a16="http://schemas.microsoft.com/office/drawing/2014/main" id="{B7728481-F4E5-47BC-8E60-DB220FCA6B33}"/>
              </a:ext>
            </a:extLst>
          </p:cNvPr>
          <p:cNvSpPr>
            <a:spLocks noGrp="1"/>
          </p:cNvSpPr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06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8" name="Google Shape;158;p9">
            <a:extLst>
              <a:ext uri="{FF2B5EF4-FFF2-40B4-BE49-F238E27FC236}">
                <a16:creationId xmlns:a16="http://schemas.microsoft.com/office/drawing/2014/main" id="{AD0749DA-9590-42D2-9642-7A6BFE8A546F}"/>
              </a:ext>
            </a:extLst>
          </p:cNvPr>
          <p:cNvSpPr>
            <a:spLocks noGrp="1"/>
          </p:cNvSpPr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sz="11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WORKING DEMONSTRATION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9" name="Google Shape;159;p9">
            <a:extLst>
              <a:ext uri="{FF2B5EF4-FFF2-40B4-BE49-F238E27FC236}">
                <a16:creationId xmlns:a16="http://schemas.microsoft.com/office/drawing/2014/main" id="{FE805559-33EB-4412-8B74-69D67764C795}"/>
              </a:ext>
            </a:extLst>
          </p:cNvPr>
          <p:cNvSpPr>
            <a:spLocks noGrp="1"/>
          </p:cNvSpPr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sz="3000" b="1" i="0" u="none" strike="noStrike" cap="none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Demo Flow (Source-Based Schematics)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0" name="Google Shape;160;p9">
            <a:extLst>
              <a:ext uri="{FF2B5EF4-FFF2-40B4-BE49-F238E27FC236}">
                <a16:creationId xmlns:a16="http://schemas.microsoft.com/office/drawing/2014/main" id="{5C967427-E9F2-4119-B1ED-63ED1E34ED72}"/>
              </a:ext>
            </a:extLst>
          </p:cNvPr>
          <p:cNvSpPr>
            <a:spLocks noGrp="1"/>
          </p:cNvSpPr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sz="900" b="0" i="0" u="none" strike="noStrike" cap="none">
                <a:solidFill>
                  <a:srgbClr val="6B7593"/>
                </a:solidFill>
                <a:latin typeface="Calibri"/>
                <a:ea typeface="Calibri"/>
                <a:cs typeface="Calibri"/>
              </a:rPr>
              <a:t>OWN DEMAND SERVICE APP  ·  MINI PROJECT FINAL EVALUATION (REVIEW-02)  ·  2026–27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1" name="Google Shape;161;p9">
            <a:extLst>
              <a:ext uri="{FF2B5EF4-FFF2-40B4-BE49-F238E27FC236}">
                <a16:creationId xmlns:a16="http://schemas.microsoft.com/office/drawing/2014/main" id="{B28AABF5-EA79-4EE8-BD6B-88C2595D92AE}"/>
              </a:ext>
            </a:extLst>
          </p:cNvPr>
          <p:cNvSpPr>
            <a:spLocks noGrp="1"/>
          </p:cNvSpPr>
          <p:nvPr/>
        </p:nvSpPr>
        <p:spPr>
          <a:xfrm>
            <a:off x="1122883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sz="900" b="0" i="0" u="none" strike="noStrike" cap="none">
                <a:solidFill>
                  <a:srgbClr val="6B7593"/>
                </a:solidFill>
                <a:latin typeface="Calibri"/>
                <a:ea typeface="Calibri"/>
                <a:cs typeface="Calibri"/>
              </a:rPr>
              <a:t>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2" name="Google Shape;162;p9">
            <a:extLst>
              <a:ext uri="{FF2B5EF4-FFF2-40B4-BE49-F238E27FC236}">
                <a16:creationId xmlns:a16="http://schemas.microsoft.com/office/drawing/2014/main" id="{C1A834B9-BD93-4D0C-9723-6C46A198E18D}"/>
              </a:ext>
            </a:extLst>
          </p:cNvPr>
          <p:cNvSpPr>
            <a:spLocks noGrp="1"/>
          </p:cNvSpPr>
          <p:nvPr/>
        </p:nvSpPr>
        <p:spPr>
          <a:xfrm>
            <a:off x="1234440" y="1600200"/>
            <a:ext cx="3154680" cy="38404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9525" cap="flat" cmpd="sng">
            <a:solidFill>
              <a:srgbClr val="DEE4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9">
            <a:extLst>
              <a:ext uri="{FF2B5EF4-FFF2-40B4-BE49-F238E27FC236}">
                <a16:creationId xmlns:a16="http://schemas.microsoft.com/office/drawing/2014/main" id="{5CDAAEC9-4E49-456B-BEAD-EDDE7764416E}"/>
              </a:ext>
            </a:extLst>
          </p:cNvPr>
          <p:cNvSpPr>
            <a:spLocks noGrp="1"/>
          </p:cNvSpPr>
          <p:nvPr/>
        </p:nvSpPr>
        <p:spPr>
          <a:xfrm>
            <a:off x="1234440" y="3017520"/>
            <a:ext cx="31546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4" name="Google Shape;164;p9">
            <a:extLst>
              <a:ext uri="{FF2B5EF4-FFF2-40B4-BE49-F238E27FC236}">
                <a16:creationId xmlns:a16="http://schemas.microsoft.com/office/drawing/2014/main" id="{ED18E47A-0A65-44F1-A526-3BCC628C2852}"/>
              </a:ext>
            </a:extLst>
          </p:cNvPr>
          <p:cNvSpPr>
            <a:spLocks noGrp="1"/>
          </p:cNvSpPr>
          <p:nvPr/>
        </p:nvSpPr>
        <p:spPr>
          <a:xfrm>
            <a:off x="1234440" y="5623560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sz="12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INPUT FORM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5" name="Google Shape;165;p9">
            <a:extLst>
              <a:ext uri="{FF2B5EF4-FFF2-40B4-BE49-F238E27FC236}">
                <a16:creationId xmlns:a16="http://schemas.microsoft.com/office/drawing/2014/main" id="{2247C2A0-B257-4655-A948-3271B24F119A}"/>
              </a:ext>
            </a:extLst>
          </p:cNvPr>
          <p:cNvSpPr>
            <a:spLocks noGrp="1"/>
          </p:cNvSpPr>
          <p:nvPr/>
        </p:nvSpPr>
        <p:spPr>
          <a:xfrm>
            <a:off x="4389120" y="3017520"/>
            <a:ext cx="18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800"/>
              <a:buFont typeface="Calibri"/>
              <a:buNone/>
            </a:pPr>
            <a:r>
              <a:rPr sz="28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›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6" name="Google Shape;166;p9">
            <a:extLst>
              <a:ext uri="{FF2B5EF4-FFF2-40B4-BE49-F238E27FC236}">
                <a16:creationId xmlns:a16="http://schemas.microsoft.com/office/drawing/2014/main" id="{00C0C227-5B54-47D8-B22E-18E6E8F30EC1}"/>
              </a:ext>
            </a:extLst>
          </p:cNvPr>
          <p:cNvSpPr>
            <a:spLocks noGrp="1"/>
          </p:cNvSpPr>
          <p:nvPr/>
        </p:nvSpPr>
        <p:spPr>
          <a:xfrm>
            <a:off x="4572000" y="1600200"/>
            <a:ext cx="3154680" cy="38404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9525" cap="flat" cmpd="sng">
            <a:solidFill>
              <a:srgbClr val="DEE4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9">
            <a:extLst>
              <a:ext uri="{FF2B5EF4-FFF2-40B4-BE49-F238E27FC236}">
                <a16:creationId xmlns:a16="http://schemas.microsoft.com/office/drawing/2014/main" id="{5D926795-D014-4C97-A079-F6403F675A31}"/>
              </a:ext>
            </a:extLst>
          </p:cNvPr>
          <p:cNvSpPr>
            <a:spLocks noGrp="1"/>
          </p:cNvSpPr>
          <p:nvPr/>
        </p:nvSpPr>
        <p:spPr>
          <a:xfrm>
            <a:off x="4572000" y="3017520"/>
            <a:ext cx="31546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8" name="Google Shape;168;p9">
            <a:extLst>
              <a:ext uri="{FF2B5EF4-FFF2-40B4-BE49-F238E27FC236}">
                <a16:creationId xmlns:a16="http://schemas.microsoft.com/office/drawing/2014/main" id="{45CE1DED-79D7-4ECB-9F55-E3789F89EECA}"/>
              </a:ext>
            </a:extLst>
          </p:cNvPr>
          <p:cNvSpPr>
            <a:spLocks noGrp="1"/>
          </p:cNvSpPr>
          <p:nvPr/>
        </p:nvSpPr>
        <p:spPr>
          <a:xfrm>
            <a:off x="4572000" y="5623560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sz="12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CLIENT-SIDE PROCESS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9" name="Google Shape;169;p9">
            <a:extLst>
              <a:ext uri="{FF2B5EF4-FFF2-40B4-BE49-F238E27FC236}">
                <a16:creationId xmlns:a16="http://schemas.microsoft.com/office/drawing/2014/main" id="{46F2CEEF-1B4B-4DA4-A834-46FFF464EAC1}"/>
              </a:ext>
            </a:extLst>
          </p:cNvPr>
          <p:cNvSpPr>
            <a:spLocks noGrp="1"/>
          </p:cNvSpPr>
          <p:nvPr/>
        </p:nvSpPr>
        <p:spPr>
          <a:xfrm>
            <a:off x="7726680" y="3017520"/>
            <a:ext cx="18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800"/>
              <a:buFont typeface="Calibri"/>
              <a:buNone/>
            </a:pPr>
            <a:r>
              <a:rPr sz="28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›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0" name="Google Shape;170;p9">
            <a:extLst>
              <a:ext uri="{FF2B5EF4-FFF2-40B4-BE49-F238E27FC236}">
                <a16:creationId xmlns:a16="http://schemas.microsoft.com/office/drawing/2014/main" id="{10617F1F-AE67-4CDD-A6BB-5F3B9427BEC7}"/>
              </a:ext>
            </a:extLst>
          </p:cNvPr>
          <p:cNvSpPr>
            <a:spLocks noGrp="1"/>
          </p:cNvSpPr>
          <p:nvPr/>
        </p:nvSpPr>
        <p:spPr>
          <a:xfrm>
            <a:off x="7909560" y="1600200"/>
            <a:ext cx="3154680" cy="38404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9525" cap="flat" cmpd="sng">
            <a:solidFill>
              <a:srgbClr val="DEE4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9">
            <a:extLst>
              <a:ext uri="{FF2B5EF4-FFF2-40B4-BE49-F238E27FC236}">
                <a16:creationId xmlns:a16="http://schemas.microsoft.com/office/drawing/2014/main" id="{ECE82144-648D-4FD0-98EC-59849C190EDB}"/>
              </a:ext>
            </a:extLst>
          </p:cNvPr>
          <p:cNvSpPr>
            <a:spLocks noGrp="1"/>
          </p:cNvSpPr>
          <p:nvPr/>
        </p:nvSpPr>
        <p:spPr>
          <a:xfrm>
            <a:off x="7909560" y="3017520"/>
            <a:ext cx="31546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2" name="Google Shape;172;p9">
            <a:extLst>
              <a:ext uri="{FF2B5EF4-FFF2-40B4-BE49-F238E27FC236}">
                <a16:creationId xmlns:a16="http://schemas.microsoft.com/office/drawing/2014/main" id="{E9D8AE93-456B-4226-93B7-FE3EBCD59EDE}"/>
              </a:ext>
            </a:extLst>
          </p:cNvPr>
          <p:cNvSpPr>
            <a:spLocks noGrp="1"/>
          </p:cNvSpPr>
          <p:nvPr/>
        </p:nvSpPr>
        <p:spPr>
          <a:xfrm>
            <a:off x="7909560" y="5623560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sz="12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DEMO OUTPUT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3" name="Input schematic tag">
            <a:extLst>
              <a:ext uri="{FF2B5EF4-FFF2-40B4-BE49-F238E27FC236}">
                <a16:creationId xmlns:a16="http://schemas.microsoft.com/office/drawing/2014/main" id="{4E988524-5F8E-40EE-A35C-6FB6A481103C}"/>
              </a:ext>
            </a:extLst>
          </p:cNvPr>
          <p:cNvSpPr>
            <a:spLocks noGrp="1"/>
          </p:cNvSpPr>
          <p:nvPr/>
        </p:nvSpPr>
        <p:spPr>
          <a:xfrm>
            <a:off x="1428750" y="1724025"/>
            <a:ext cx="276225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lIns="0" tIns="0" rIns="0" bIns="0" anchor="ctr">
            <a:normAutofit/>
          </a:bodyPr>
          <a:lstStyle>
            <a:defPPr algn="ctr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SCHEMATIC — NOT A CAPTURED SCREENSHOT</a:t>
            </a:r>
          </a:p>
        </p:txBody>
      </p:sp>
      <p:sp>
        <p:nvSpPr>
          <p:cNvPr id="174" name="Input schematic title">
            <a:extLst>
              <a:ext uri="{FF2B5EF4-FFF2-40B4-BE49-F238E27FC236}">
                <a16:creationId xmlns:a16="http://schemas.microsoft.com/office/drawing/2014/main" id="{818768BB-27B9-496D-B1DD-729E420098D9}"/>
              </a:ext>
            </a:extLst>
          </p:cNvPr>
          <p:cNvSpPr>
            <a:spLocks noGrp="1"/>
          </p:cNvSpPr>
          <p:nvPr/>
        </p:nvSpPr>
        <p:spPr>
          <a:xfrm>
            <a:off x="1466850" y="2019300"/>
            <a:ext cx="2667000" cy="2857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350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350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Choose a service</a:t>
            </a:r>
          </a:p>
        </p:txBody>
      </p:sp>
      <p:sp>
        <p:nvSpPr>
          <p:cNvPr id="175" name="Input field label 0">
            <a:extLst>
              <a:ext uri="{FF2B5EF4-FFF2-40B4-BE49-F238E27FC236}">
                <a16:creationId xmlns:a16="http://schemas.microsoft.com/office/drawing/2014/main" id="{793B897F-AB36-438A-A901-34D7BD92F733}"/>
              </a:ext>
            </a:extLst>
          </p:cNvPr>
          <p:cNvSpPr>
            <a:spLocks noGrp="1"/>
          </p:cNvSpPr>
          <p:nvPr/>
        </p:nvSpPr>
        <p:spPr>
          <a:xfrm>
            <a:off x="1466850" y="2400300"/>
            <a:ext cx="2609850" cy="1524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defPPr>
            <a:lvl1pPr algn="l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1pPr>
            <a:lvl2pPr algn="l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2pPr>
            <a:lvl3pPr algn="l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3pPr>
            <a:lvl4pPr algn="l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4pPr>
            <a:lvl5pPr algn="l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5pPr>
            <a:lvl6pPr algn="l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6pPr>
            <a:lvl7pPr algn="l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7pPr>
            <a:lvl8pPr algn="l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8pPr>
            <a:lvl9pPr algn="l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SERVICE</a:t>
            </a:r>
          </a:p>
        </p:txBody>
      </p:sp>
      <p:sp>
        <p:nvSpPr>
          <p:cNvPr id="176" name="Input field schematic 0">
            <a:extLst>
              <a:ext uri="{FF2B5EF4-FFF2-40B4-BE49-F238E27FC236}">
                <a16:creationId xmlns:a16="http://schemas.microsoft.com/office/drawing/2014/main" id="{835BD9C6-E495-413D-942D-B435942845DD}"/>
              </a:ext>
            </a:extLst>
          </p:cNvPr>
          <p:cNvSpPr>
            <a:spLocks noGrp="1"/>
          </p:cNvSpPr>
          <p:nvPr/>
        </p:nvSpPr>
        <p:spPr>
          <a:xfrm>
            <a:off x="1466850" y="2552700"/>
            <a:ext cx="2609850" cy="266700"/>
          </a:xfrm>
          <a:prstGeom prst="roundRect">
            <a:avLst>
              <a:gd name="adj" fmla="val 17857"/>
            </a:avLst>
          </a:prstGeom>
          <a:solidFill>
            <a:srgbClr val="F6F8FB"/>
          </a:solidFill>
          <a:ln w="9525">
            <a:solidFill>
              <a:srgbClr val="D6E1EC"/>
            </a:solidFill>
            <a:prstDash val="solid"/>
          </a:ln>
        </p:spPr>
        <p:txBody>
          <a:bodyPr lIns="76200" tIns="0" rIns="76200" bIns="0" anchor="ctr">
            <a:normAutofit/>
          </a:bodyPr>
          <a:lstStyle>
            <a:defPPr algn="l">
              <a:defRPr sz="97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defPPr>
            <a:lvl1pPr algn="l">
              <a:defRPr sz="97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1pPr>
            <a:lvl2pPr algn="l">
              <a:defRPr sz="97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2pPr>
            <a:lvl3pPr algn="l">
              <a:defRPr sz="97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3pPr>
            <a:lvl4pPr algn="l">
              <a:defRPr sz="97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4pPr>
            <a:lvl5pPr algn="l">
              <a:defRPr sz="97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5pPr>
            <a:lvl6pPr algn="l">
              <a:defRPr sz="97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6pPr>
            <a:lvl7pPr algn="l">
              <a:defRPr sz="97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7pPr>
            <a:lvl8pPr algn="l">
              <a:defRPr sz="97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8pPr>
            <a:lvl9pPr algn="l">
              <a:defRPr sz="97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97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526486"/>
                </a:solidFill>
                <a:latin typeface="Calibri"/>
                <a:ea typeface="Calibri"/>
                <a:cs typeface="Calibri"/>
              </a:rPr>
              <a:t>Home Cleaning · Plumbing</a:t>
            </a:r>
          </a:p>
        </p:txBody>
      </p:sp>
      <p:sp>
        <p:nvSpPr>
          <p:cNvPr id="177" name="Input field label 1">
            <a:extLst>
              <a:ext uri="{FF2B5EF4-FFF2-40B4-BE49-F238E27FC236}">
                <a16:creationId xmlns:a16="http://schemas.microsoft.com/office/drawing/2014/main" id="{FE2F553A-F3A5-4923-AA76-6A63A483934A}"/>
              </a:ext>
            </a:extLst>
          </p:cNvPr>
          <p:cNvSpPr>
            <a:spLocks noGrp="1"/>
          </p:cNvSpPr>
          <p:nvPr/>
        </p:nvSpPr>
        <p:spPr>
          <a:xfrm>
            <a:off x="1466850" y="2857500"/>
            <a:ext cx="2609850" cy="1524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defPPr>
            <a:lvl1pPr algn="l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1pPr>
            <a:lvl2pPr algn="l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2pPr>
            <a:lvl3pPr algn="l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3pPr>
            <a:lvl4pPr algn="l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4pPr>
            <a:lvl5pPr algn="l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5pPr>
            <a:lvl6pPr algn="l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6pPr>
            <a:lvl7pPr algn="l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7pPr>
            <a:lvl8pPr algn="l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8pPr>
            <a:lvl9pPr algn="l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NAME</a:t>
            </a:r>
          </a:p>
        </p:txBody>
      </p:sp>
      <p:sp>
        <p:nvSpPr>
          <p:cNvPr id="178" name="Input field schematic 1">
            <a:extLst>
              <a:ext uri="{FF2B5EF4-FFF2-40B4-BE49-F238E27FC236}">
                <a16:creationId xmlns:a16="http://schemas.microsoft.com/office/drawing/2014/main" id="{DAB4BBC9-446B-4AFC-A908-C09ACC204FE6}"/>
              </a:ext>
            </a:extLst>
          </p:cNvPr>
          <p:cNvSpPr>
            <a:spLocks noGrp="1"/>
          </p:cNvSpPr>
          <p:nvPr/>
        </p:nvSpPr>
        <p:spPr>
          <a:xfrm>
            <a:off x="1466850" y="3009900"/>
            <a:ext cx="2609850" cy="266700"/>
          </a:xfrm>
          <a:prstGeom prst="roundRect">
            <a:avLst>
              <a:gd name="adj" fmla="val 17857"/>
            </a:avLst>
          </a:prstGeom>
          <a:solidFill>
            <a:srgbClr val="F6F8FB"/>
          </a:solidFill>
          <a:ln w="9525">
            <a:solidFill>
              <a:srgbClr val="D6E1EC"/>
            </a:solidFill>
            <a:prstDash val="solid"/>
          </a:ln>
        </p:spPr>
        <p:txBody>
          <a:bodyPr lIns="76200" tIns="0" rIns="76200" bIns="0" anchor="ctr">
            <a:normAutofit/>
          </a:bodyPr>
          <a:lstStyle>
            <a:defPPr algn="l">
              <a:defRPr sz="97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defPPr>
            <a:lvl1pPr algn="l">
              <a:defRPr sz="97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1pPr>
            <a:lvl2pPr algn="l">
              <a:defRPr sz="97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2pPr>
            <a:lvl3pPr algn="l">
              <a:defRPr sz="97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3pPr>
            <a:lvl4pPr algn="l">
              <a:defRPr sz="97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4pPr>
            <a:lvl5pPr algn="l">
              <a:defRPr sz="97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5pPr>
            <a:lvl6pPr algn="l">
              <a:defRPr sz="97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6pPr>
            <a:lvl7pPr algn="l">
              <a:defRPr sz="97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7pPr>
            <a:lvl8pPr algn="l">
              <a:defRPr sz="97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8pPr>
            <a:lvl9pPr algn="l">
              <a:defRPr sz="97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97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526486"/>
                </a:solidFill>
                <a:latin typeface="Calibri"/>
                <a:ea typeface="Calibri"/>
                <a:cs typeface="Calibri"/>
              </a:rPr>
              <a:t>Customer name</a:t>
            </a:r>
          </a:p>
        </p:txBody>
      </p:sp>
      <p:sp>
        <p:nvSpPr>
          <p:cNvPr id="179" name="Input field label 2">
            <a:extLst>
              <a:ext uri="{FF2B5EF4-FFF2-40B4-BE49-F238E27FC236}">
                <a16:creationId xmlns:a16="http://schemas.microsoft.com/office/drawing/2014/main" id="{627AA640-709E-456F-9743-66214F20E425}"/>
              </a:ext>
            </a:extLst>
          </p:cNvPr>
          <p:cNvSpPr>
            <a:spLocks noGrp="1"/>
          </p:cNvSpPr>
          <p:nvPr/>
        </p:nvSpPr>
        <p:spPr>
          <a:xfrm>
            <a:off x="1466850" y="3314700"/>
            <a:ext cx="2609850" cy="1524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defPPr>
            <a:lvl1pPr algn="l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1pPr>
            <a:lvl2pPr algn="l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2pPr>
            <a:lvl3pPr algn="l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3pPr>
            <a:lvl4pPr algn="l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4pPr>
            <a:lvl5pPr algn="l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5pPr>
            <a:lvl6pPr algn="l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6pPr>
            <a:lvl7pPr algn="l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7pPr>
            <a:lvl8pPr algn="l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8pPr>
            <a:lvl9pPr algn="l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PHONE</a:t>
            </a:r>
          </a:p>
        </p:txBody>
      </p:sp>
      <p:sp>
        <p:nvSpPr>
          <p:cNvPr id="180" name="Input field schematic 2">
            <a:extLst>
              <a:ext uri="{FF2B5EF4-FFF2-40B4-BE49-F238E27FC236}">
                <a16:creationId xmlns:a16="http://schemas.microsoft.com/office/drawing/2014/main" id="{DE26C7C4-1D2B-4B7C-B9FC-0E882156DF9D}"/>
              </a:ext>
            </a:extLst>
          </p:cNvPr>
          <p:cNvSpPr>
            <a:spLocks noGrp="1"/>
          </p:cNvSpPr>
          <p:nvPr/>
        </p:nvSpPr>
        <p:spPr>
          <a:xfrm>
            <a:off x="1466850" y="3467100"/>
            <a:ext cx="2609850" cy="266700"/>
          </a:xfrm>
          <a:prstGeom prst="roundRect">
            <a:avLst>
              <a:gd name="adj" fmla="val 17857"/>
            </a:avLst>
          </a:prstGeom>
          <a:solidFill>
            <a:srgbClr val="F6F8FB"/>
          </a:solidFill>
          <a:ln w="9525">
            <a:solidFill>
              <a:srgbClr val="D6E1EC"/>
            </a:solidFill>
            <a:prstDash val="solid"/>
          </a:ln>
        </p:spPr>
        <p:txBody>
          <a:bodyPr lIns="76200" tIns="0" rIns="76200" bIns="0" anchor="ctr">
            <a:normAutofit/>
          </a:bodyPr>
          <a:lstStyle>
            <a:defPPr algn="l">
              <a:defRPr sz="97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defPPr>
            <a:lvl1pPr algn="l">
              <a:defRPr sz="97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1pPr>
            <a:lvl2pPr algn="l">
              <a:defRPr sz="97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2pPr>
            <a:lvl3pPr algn="l">
              <a:defRPr sz="97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3pPr>
            <a:lvl4pPr algn="l">
              <a:defRPr sz="97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4pPr>
            <a:lvl5pPr algn="l">
              <a:defRPr sz="97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5pPr>
            <a:lvl6pPr algn="l">
              <a:defRPr sz="97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6pPr>
            <a:lvl7pPr algn="l">
              <a:defRPr sz="97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7pPr>
            <a:lvl8pPr algn="l">
              <a:defRPr sz="97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8pPr>
            <a:lvl9pPr algn="l">
              <a:defRPr sz="97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97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526486"/>
                </a:solidFill>
                <a:latin typeface="Calibri"/>
                <a:ea typeface="Calibri"/>
                <a:cs typeface="Calibri"/>
              </a:rPr>
              <a:t>10-digit phone number</a:t>
            </a:r>
          </a:p>
        </p:txBody>
      </p:sp>
      <p:sp>
        <p:nvSpPr>
          <p:cNvPr id="181" name="Input field label 3">
            <a:extLst>
              <a:ext uri="{FF2B5EF4-FFF2-40B4-BE49-F238E27FC236}">
                <a16:creationId xmlns:a16="http://schemas.microsoft.com/office/drawing/2014/main" id="{9FDAA06D-CC8A-415D-8A46-504082A11F7E}"/>
              </a:ext>
            </a:extLst>
          </p:cNvPr>
          <p:cNvSpPr>
            <a:spLocks noGrp="1"/>
          </p:cNvSpPr>
          <p:nvPr/>
        </p:nvSpPr>
        <p:spPr>
          <a:xfrm>
            <a:off x="1466850" y="3771900"/>
            <a:ext cx="2609850" cy="1524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defPPr>
            <a:lvl1pPr algn="l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1pPr>
            <a:lvl2pPr algn="l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2pPr>
            <a:lvl3pPr algn="l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3pPr>
            <a:lvl4pPr algn="l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4pPr>
            <a:lvl5pPr algn="l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5pPr>
            <a:lvl6pPr algn="l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6pPr>
            <a:lvl7pPr algn="l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7pPr>
            <a:lvl8pPr algn="l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8pPr>
            <a:lvl9pPr algn="l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DATE / TIME</a:t>
            </a:r>
          </a:p>
        </p:txBody>
      </p:sp>
      <p:sp>
        <p:nvSpPr>
          <p:cNvPr id="182" name="Input field schematic 3">
            <a:extLst>
              <a:ext uri="{FF2B5EF4-FFF2-40B4-BE49-F238E27FC236}">
                <a16:creationId xmlns:a16="http://schemas.microsoft.com/office/drawing/2014/main" id="{3F672152-359E-47F8-A97F-BD137FC4E680}"/>
              </a:ext>
            </a:extLst>
          </p:cNvPr>
          <p:cNvSpPr>
            <a:spLocks noGrp="1"/>
          </p:cNvSpPr>
          <p:nvPr/>
        </p:nvSpPr>
        <p:spPr>
          <a:xfrm>
            <a:off x="1466850" y="3924300"/>
            <a:ext cx="2609850" cy="266700"/>
          </a:xfrm>
          <a:prstGeom prst="roundRect">
            <a:avLst>
              <a:gd name="adj" fmla="val 17857"/>
            </a:avLst>
          </a:prstGeom>
          <a:solidFill>
            <a:srgbClr val="F6F8FB"/>
          </a:solidFill>
          <a:ln w="9525">
            <a:solidFill>
              <a:srgbClr val="D6E1EC"/>
            </a:solidFill>
            <a:prstDash val="solid"/>
          </a:ln>
        </p:spPr>
        <p:txBody>
          <a:bodyPr lIns="76200" tIns="0" rIns="76200" bIns="0" anchor="ctr">
            <a:normAutofit/>
          </a:bodyPr>
          <a:lstStyle>
            <a:defPPr algn="l">
              <a:defRPr sz="97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defPPr>
            <a:lvl1pPr algn="l">
              <a:defRPr sz="97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1pPr>
            <a:lvl2pPr algn="l">
              <a:defRPr sz="97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2pPr>
            <a:lvl3pPr algn="l">
              <a:defRPr sz="97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3pPr>
            <a:lvl4pPr algn="l">
              <a:defRPr sz="97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4pPr>
            <a:lvl5pPr algn="l">
              <a:defRPr sz="97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5pPr>
            <a:lvl6pPr algn="l">
              <a:defRPr sz="97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6pPr>
            <a:lvl7pPr algn="l">
              <a:defRPr sz="97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7pPr>
            <a:lvl8pPr algn="l">
              <a:defRPr sz="97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8pPr>
            <a:lvl9pPr algn="l">
              <a:defRPr sz="97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97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526486"/>
                </a:solidFill>
                <a:latin typeface="Calibri"/>
                <a:ea typeface="Calibri"/>
                <a:cs typeface="Calibri"/>
              </a:rPr>
              <a:t>Preferred date and time</a:t>
            </a:r>
          </a:p>
        </p:txBody>
      </p:sp>
      <p:sp>
        <p:nvSpPr>
          <p:cNvPr id="183" name="Input field label 4">
            <a:extLst>
              <a:ext uri="{FF2B5EF4-FFF2-40B4-BE49-F238E27FC236}">
                <a16:creationId xmlns:a16="http://schemas.microsoft.com/office/drawing/2014/main" id="{C7DD2658-23C3-480F-9680-CB8EA5F0C7C7}"/>
              </a:ext>
            </a:extLst>
          </p:cNvPr>
          <p:cNvSpPr>
            <a:spLocks noGrp="1"/>
          </p:cNvSpPr>
          <p:nvPr/>
        </p:nvSpPr>
        <p:spPr>
          <a:xfrm>
            <a:off x="1466850" y="4229100"/>
            <a:ext cx="2609850" cy="1524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defPPr>
            <a:lvl1pPr algn="l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1pPr>
            <a:lvl2pPr algn="l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2pPr>
            <a:lvl3pPr algn="l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3pPr>
            <a:lvl4pPr algn="l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4pPr>
            <a:lvl5pPr algn="l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5pPr>
            <a:lvl6pPr algn="l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6pPr>
            <a:lvl7pPr algn="l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7pPr>
            <a:lvl8pPr algn="l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8pPr>
            <a:lvl9pPr algn="l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ADDRESS</a:t>
            </a:r>
          </a:p>
        </p:txBody>
      </p:sp>
      <p:sp>
        <p:nvSpPr>
          <p:cNvPr id="184" name="Input field schematic 4">
            <a:extLst>
              <a:ext uri="{FF2B5EF4-FFF2-40B4-BE49-F238E27FC236}">
                <a16:creationId xmlns:a16="http://schemas.microsoft.com/office/drawing/2014/main" id="{41C3FBB6-FA59-42B4-ADA1-BCDB5EC7E697}"/>
              </a:ext>
            </a:extLst>
          </p:cNvPr>
          <p:cNvSpPr>
            <a:spLocks noGrp="1"/>
          </p:cNvSpPr>
          <p:nvPr/>
        </p:nvSpPr>
        <p:spPr>
          <a:xfrm>
            <a:off x="1466850" y="4381500"/>
            <a:ext cx="2609850" cy="266700"/>
          </a:xfrm>
          <a:prstGeom prst="roundRect">
            <a:avLst>
              <a:gd name="adj" fmla="val 17857"/>
            </a:avLst>
          </a:prstGeom>
          <a:solidFill>
            <a:srgbClr val="F6F8FB"/>
          </a:solidFill>
          <a:ln w="9525">
            <a:solidFill>
              <a:srgbClr val="D6E1EC"/>
            </a:solidFill>
            <a:prstDash val="solid"/>
          </a:ln>
        </p:spPr>
        <p:txBody>
          <a:bodyPr lIns="76200" tIns="0" rIns="76200" bIns="0" anchor="ctr">
            <a:normAutofit/>
          </a:bodyPr>
          <a:lstStyle>
            <a:defPPr algn="l">
              <a:defRPr sz="97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defPPr>
            <a:lvl1pPr algn="l">
              <a:defRPr sz="97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1pPr>
            <a:lvl2pPr algn="l">
              <a:defRPr sz="97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2pPr>
            <a:lvl3pPr algn="l">
              <a:defRPr sz="97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3pPr>
            <a:lvl4pPr algn="l">
              <a:defRPr sz="97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4pPr>
            <a:lvl5pPr algn="l">
              <a:defRPr sz="97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5pPr>
            <a:lvl6pPr algn="l">
              <a:defRPr sz="97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6pPr>
            <a:lvl7pPr algn="l">
              <a:defRPr sz="97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7pPr>
            <a:lvl8pPr algn="l">
              <a:defRPr sz="97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8pPr>
            <a:lvl9pPr algn="l">
              <a:defRPr sz="97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97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526486"/>
                </a:solidFill>
                <a:latin typeface="Calibri"/>
                <a:ea typeface="Calibri"/>
                <a:cs typeface="Calibri"/>
              </a:rPr>
              <a:t>Address / locality</a:t>
            </a:r>
          </a:p>
        </p:txBody>
      </p:sp>
      <p:sp>
        <p:nvSpPr>
          <p:cNvPr id="185" name="Processing schematic tag">
            <a:extLst>
              <a:ext uri="{FF2B5EF4-FFF2-40B4-BE49-F238E27FC236}">
                <a16:creationId xmlns:a16="http://schemas.microsoft.com/office/drawing/2014/main" id="{72D40C28-F15A-41F3-96CB-FA23D24737B7}"/>
              </a:ext>
            </a:extLst>
          </p:cNvPr>
          <p:cNvSpPr>
            <a:spLocks noGrp="1"/>
          </p:cNvSpPr>
          <p:nvPr/>
        </p:nvSpPr>
        <p:spPr>
          <a:xfrm>
            <a:off x="4762500" y="1724025"/>
            <a:ext cx="276225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lIns="0" tIns="0" rIns="0" bIns="0" anchor="ctr">
            <a:normAutofit/>
          </a:bodyPr>
          <a:lstStyle>
            <a:defPPr algn="ctr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SCHEMATIC — NOT A CAPTURED SCREENSHOT</a:t>
            </a:r>
          </a:p>
        </p:txBody>
      </p:sp>
      <p:sp>
        <p:nvSpPr>
          <p:cNvPr id="186" name="Processing schematic title">
            <a:extLst>
              <a:ext uri="{FF2B5EF4-FFF2-40B4-BE49-F238E27FC236}">
                <a16:creationId xmlns:a16="http://schemas.microsoft.com/office/drawing/2014/main" id="{F9C739AA-D777-4621-A1D5-8A5B1AC65F08}"/>
              </a:ext>
            </a:extLst>
          </p:cNvPr>
          <p:cNvSpPr>
            <a:spLocks noGrp="1"/>
          </p:cNvSpPr>
          <p:nvPr/>
        </p:nvSpPr>
        <p:spPr>
          <a:xfrm>
            <a:off x="4800600" y="2019300"/>
            <a:ext cx="2667000" cy="2857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350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350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Submit handler</a:t>
            </a:r>
          </a:p>
        </p:txBody>
      </p:sp>
      <p:sp>
        <p:nvSpPr>
          <p:cNvPr id="187" name="Processing step 1">
            <a:extLst>
              <a:ext uri="{FF2B5EF4-FFF2-40B4-BE49-F238E27FC236}">
                <a16:creationId xmlns:a16="http://schemas.microsoft.com/office/drawing/2014/main" id="{584547A2-67E0-43B8-804D-F31B5F391459}"/>
              </a:ext>
            </a:extLst>
          </p:cNvPr>
          <p:cNvSpPr>
            <a:spLocks noGrp="1"/>
          </p:cNvSpPr>
          <p:nvPr/>
        </p:nvSpPr>
        <p:spPr>
          <a:xfrm>
            <a:off x="4800600" y="2400300"/>
            <a:ext cx="2609850" cy="371475"/>
          </a:xfrm>
          <a:prstGeom prst="roundRect">
            <a:avLst>
              <a:gd name="adj" fmla="val 15385"/>
            </a:avLst>
          </a:prstGeom>
          <a:solidFill>
            <a:srgbClr val="F6F8FB"/>
          </a:solidFill>
          <a:ln w="9525">
            <a:solidFill>
              <a:srgbClr val="D6E1EC"/>
            </a:solidFill>
            <a:prstDash val="solid"/>
          </a:ln>
        </p:spPr>
        <p:txBody>
          <a:bodyPr lIns="95250" tIns="0" rIns="57150" bIns="0" anchor="ctr">
            <a:normAutofit/>
          </a:bodyPr>
          <a:lstStyle>
            <a:defPPr algn="l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defPPr>
            <a:lvl1pPr algn="l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05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1  Check service selection</a:t>
            </a:r>
          </a:p>
        </p:txBody>
      </p:sp>
      <p:sp>
        <p:nvSpPr>
          <p:cNvPr id="188" name="Processing step 2">
            <a:extLst>
              <a:ext uri="{FF2B5EF4-FFF2-40B4-BE49-F238E27FC236}">
                <a16:creationId xmlns:a16="http://schemas.microsoft.com/office/drawing/2014/main" id="{B681C508-EBE9-400C-ADFF-EB7E1AC9871C}"/>
              </a:ext>
            </a:extLst>
          </p:cNvPr>
          <p:cNvSpPr>
            <a:spLocks noGrp="1"/>
          </p:cNvSpPr>
          <p:nvPr/>
        </p:nvSpPr>
        <p:spPr>
          <a:xfrm>
            <a:off x="4800600" y="2895600"/>
            <a:ext cx="2609850" cy="371475"/>
          </a:xfrm>
          <a:prstGeom prst="roundRect">
            <a:avLst>
              <a:gd name="adj" fmla="val 15385"/>
            </a:avLst>
          </a:prstGeom>
          <a:solidFill>
            <a:srgbClr val="EAF1F5"/>
          </a:solidFill>
          <a:ln w="9525">
            <a:solidFill>
              <a:srgbClr val="D6E1EC"/>
            </a:solidFill>
            <a:prstDash val="solid"/>
          </a:ln>
        </p:spPr>
        <p:txBody>
          <a:bodyPr lIns="95250" tIns="0" rIns="57150" bIns="0" anchor="ctr">
            <a:normAutofit/>
          </a:bodyPr>
          <a:lstStyle>
            <a:defPPr algn="l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defPPr>
            <a:lvl1pPr algn="l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05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2  Validate required inputs</a:t>
            </a:r>
          </a:p>
        </p:txBody>
      </p:sp>
      <p:sp>
        <p:nvSpPr>
          <p:cNvPr id="189" name="Processing step 3">
            <a:extLst>
              <a:ext uri="{FF2B5EF4-FFF2-40B4-BE49-F238E27FC236}">
                <a16:creationId xmlns:a16="http://schemas.microsoft.com/office/drawing/2014/main" id="{4400385B-7796-4D24-90D6-1AA983E8560F}"/>
              </a:ext>
            </a:extLst>
          </p:cNvPr>
          <p:cNvSpPr>
            <a:spLocks noGrp="1"/>
          </p:cNvSpPr>
          <p:nvPr/>
        </p:nvSpPr>
        <p:spPr>
          <a:xfrm>
            <a:off x="4800600" y="3390900"/>
            <a:ext cx="2609850" cy="371475"/>
          </a:xfrm>
          <a:prstGeom prst="roundRect">
            <a:avLst>
              <a:gd name="adj" fmla="val 15385"/>
            </a:avLst>
          </a:prstGeom>
          <a:solidFill>
            <a:srgbClr val="F6F8FB"/>
          </a:solidFill>
          <a:ln w="9525">
            <a:solidFill>
              <a:srgbClr val="D6E1EC"/>
            </a:solidFill>
            <a:prstDash val="solid"/>
          </a:ln>
        </p:spPr>
        <p:txBody>
          <a:bodyPr lIns="95250" tIns="0" rIns="57150" bIns="0" anchor="ctr">
            <a:normAutofit/>
          </a:bodyPr>
          <a:lstStyle>
            <a:defPPr algn="l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defPPr>
            <a:lvl1pPr algn="l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05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3  Check 10-digit phone</a:t>
            </a:r>
          </a:p>
        </p:txBody>
      </p:sp>
      <p:sp>
        <p:nvSpPr>
          <p:cNvPr id="190" name="Processing step 4">
            <a:extLst>
              <a:ext uri="{FF2B5EF4-FFF2-40B4-BE49-F238E27FC236}">
                <a16:creationId xmlns:a16="http://schemas.microsoft.com/office/drawing/2014/main" id="{3A55483F-02B3-46EC-A238-99D4FE5AB91A}"/>
              </a:ext>
            </a:extLst>
          </p:cNvPr>
          <p:cNvSpPr>
            <a:spLocks noGrp="1"/>
          </p:cNvSpPr>
          <p:nvPr/>
        </p:nvSpPr>
        <p:spPr>
          <a:xfrm>
            <a:off x="4800600" y="3886200"/>
            <a:ext cx="2609850" cy="371475"/>
          </a:xfrm>
          <a:prstGeom prst="roundRect">
            <a:avLst>
              <a:gd name="adj" fmla="val 15385"/>
            </a:avLst>
          </a:prstGeom>
          <a:solidFill>
            <a:srgbClr val="EAF1F5"/>
          </a:solidFill>
          <a:ln w="9525">
            <a:solidFill>
              <a:srgbClr val="D6E1EC"/>
            </a:solidFill>
            <a:prstDash val="solid"/>
          </a:ln>
        </p:spPr>
        <p:txBody>
          <a:bodyPr lIns="95250" tIns="0" rIns="57150" bIns="0" anchor="ctr">
            <a:normAutofit/>
          </a:bodyPr>
          <a:lstStyle>
            <a:defPPr algn="l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defPPr>
            <a:lvl1pPr algn="l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05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4  Build in-memory booking</a:t>
            </a:r>
          </a:p>
        </p:txBody>
      </p:sp>
      <p:sp>
        <p:nvSpPr>
          <p:cNvPr id="191" name="Processing step 5">
            <a:extLst>
              <a:ext uri="{FF2B5EF4-FFF2-40B4-BE49-F238E27FC236}">
                <a16:creationId xmlns:a16="http://schemas.microsoft.com/office/drawing/2014/main" id="{F51C8425-0AC6-4D02-A131-E0179E5393BC}"/>
              </a:ext>
            </a:extLst>
          </p:cNvPr>
          <p:cNvSpPr>
            <a:spLocks noGrp="1"/>
          </p:cNvSpPr>
          <p:nvPr/>
        </p:nvSpPr>
        <p:spPr>
          <a:xfrm>
            <a:off x="4800600" y="4381500"/>
            <a:ext cx="2609850" cy="371475"/>
          </a:xfrm>
          <a:prstGeom prst="roundRect">
            <a:avLst>
              <a:gd name="adj" fmla="val 15385"/>
            </a:avLst>
          </a:prstGeom>
          <a:solidFill>
            <a:srgbClr val="F6F8FB"/>
          </a:solidFill>
          <a:ln w="9525">
            <a:solidFill>
              <a:srgbClr val="D6E1EC"/>
            </a:solidFill>
            <a:prstDash val="solid"/>
          </a:ln>
        </p:spPr>
        <p:txBody>
          <a:bodyPr lIns="95250" tIns="0" rIns="57150" bIns="0" anchor="ctr">
            <a:normAutofit/>
          </a:bodyPr>
          <a:lstStyle>
            <a:defPPr algn="l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defPPr>
            <a:lvl1pPr algn="l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05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5  Render escaped values</a:t>
            </a:r>
          </a:p>
        </p:txBody>
      </p:sp>
      <p:sp>
        <p:nvSpPr>
          <p:cNvPr id="192" name="Output schematic tag">
            <a:extLst>
              <a:ext uri="{FF2B5EF4-FFF2-40B4-BE49-F238E27FC236}">
                <a16:creationId xmlns:a16="http://schemas.microsoft.com/office/drawing/2014/main" id="{DC3DC6F5-79A5-448C-A2AD-CED4FB8C1189}"/>
              </a:ext>
            </a:extLst>
          </p:cNvPr>
          <p:cNvSpPr>
            <a:spLocks noGrp="1"/>
          </p:cNvSpPr>
          <p:nvPr/>
        </p:nvSpPr>
        <p:spPr>
          <a:xfrm>
            <a:off x="8096250" y="1724025"/>
            <a:ext cx="276225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lIns="0" tIns="0" rIns="0" bIns="0" anchor="ctr">
            <a:normAutofit/>
          </a:bodyPr>
          <a:lstStyle>
            <a:defPPr algn="ctr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82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SCHEMATIC — NOT A CAPTURED SCREENSHOT</a:t>
            </a:r>
          </a:p>
        </p:txBody>
      </p:sp>
      <p:sp>
        <p:nvSpPr>
          <p:cNvPr id="193" name="Output schematic title">
            <a:extLst>
              <a:ext uri="{FF2B5EF4-FFF2-40B4-BE49-F238E27FC236}">
                <a16:creationId xmlns:a16="http://schemas.microsoft.com/office/drawing/2014/main" id="{85A8F8C1-2FE2-4F63-9D38-B055F495A42A}"/>
              </a:ext>
            </a:extLst>
          </p:cNvPr>
          <p:cNvSpPr>
            <a:spLocks noGrp="1"/>
          </p:cNvSpPr>
          <p:nvPr/>
        </p:nvSpPr>
        <p:spPr>
          <a:xfrm>
            <a:off x="8134350" y="2019300"/>
            <a:ext cx="2667000" cy="2857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350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350" b="1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Demo booking created</a:t>
            </a:r>
          </a:p>
        </p:txBody>
      </p:sp>
      <p:sp>
        <p:nvSpPr>
          <p:cNvPr id="194" name="Output booking id">
            <a:extLst>
              <a:ext uri="{FF2B5EF4-FFF2-40B4-BE49-F238E27FC236}">
                <a16:creationId xmlns:a16="http://schemas.microsoft.com/office/drawing/2014/main" id="{2CFCA28B-A979-4351-A383-6595F5E7617E}"/>
              </a:ext>
            </a:extLst>
          </p:cNvPr>
          <p:cNvSpPr>
            <a:spLocks noGrp="1"/>
          </p:cNvSpPr>
          <p:nvPr/>
        </p:nvSpPr>
        <p:spPr>
          <a:xfrm>
            <a:off x="8134350" y="2409825"/>
            <a:ext cx="26670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20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20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Booking ID: ODS#####</a:t>
            </a:r>
          </a:p>
        </p:txBody>
      </p:sp>
      <p:sp>
        <p:nvSpPr>
          <p:cNvPr id="195" name="Output service line">
            <a:extLst>
              <a:ext uri="{FF2B5EF4-FFF2-40B4-BE49-F238E27FC236}">
                <a16:creationId xmlns:a16="http://schemas.microsoft.com/office/drawing/2014/main" id="{2F73C61E-C1A5-4A38-8D18-3B6FEA6A520C}"/>
              </a:ext>
            </a:extLst>
          </p:cNvPr>
          <p:cNvSpPr>
            <a:spLocks noGrp="1"/>
          </p:cNvSpPr>
          <p:nvPr/>
        </p:nvSpPr>
        <p:spPr>
          <a:xfrm>
            <a:off x="8134350" y="2724150"/>
            <a:ext cx="2667000" cy="2476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050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defPPr>
            <a:lvl1pPr algn="l">
              <a:defRPr sz="1050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050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050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050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050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050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050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050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050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050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pPr>
            <a:r>
              <a:rPr sz="1050">
                <a:solidFill>
                  <a:srgbClr val="526486"/>
                </a:solidFill>
                <a:latin typeface="Calibri"/>
                <a:ea typeface="Calibri"/>
                <a:cs typeface="Calibri"/>
              </a:rPr>
              <a:t>Service: selected category</a:t>
            </a:r>
          </a:p>
        </p:txBody>
      </p:sp>
      <p:sp>
        <p:nvSpPr>
          <p:cNvPr id="196" name="Output status schematic 1">
            <a:extLst>
              <a:ext uri="{FF2B5EF4-FFF2-40B4-BE49-F238E27FC236}">
                <a16:creationId xmlns:a16="http://schemas.microsoft.com/office/drawing/2014/main" id="{EB7F2192-D52D-45A1-AD50-F6D8B9A4840D}"/>
              </a:ext>
            </a:extLst>
          </p:cNvPr>
          <p:cNvSpPr>
            <a:spLocks noGrp="1"/>
          </p:cNvSpPr>
          <p:nvPr/>
        </p:nvSpPr>
        <p:spPr>
          <a:xfrm>
            <a:off x="8134350" y="3162300"/>
            <a:ext cx="2609850" cy="323850"/>
          </a:xfrm>
          <a:prstGeom prst="roundRect">
            <a:avLst>
              <a:gd name="adj" fmla="val 17647"/>
            </a:avLst>
          </a:prstGeom>
          <a:solidFill>
            <a:srgbClr val="F6F8FB"/>
          </a:solidFill>
          <a:ln w="9525">
            <a:solidFill>
              <a:srgbClr val="D6E1EC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>
            <a:defPPr algn="ctr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05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Requested  ›  Confirmed</a:t>
            </a:r>
          </a:p>
        </p:txBody>
      </p:sp>
      <p:sp>
        <p:nvSpPr>
          <p:cNvPr id="197" name="Output status schematic 2">
            <a:extLst>
              <a:ext uri="{FF2B5EF4-FFF2-40B4-BE49-F238E27FC236}">
                <a16:creationId xmlns:a16="http://schemas.microsoft.com/office/drawing/2014/main" id="{76EBFDFB-86F2-4D1C-8F71-509B08165060}"/>
              </a:ext>
            </a:extLst>
          </p:cNvPr>
          <p:cNvSpPr>
            <a:spLocks noGrp="1"/>
          </p:cNvSpPr>
          <p:nvPr/>
        </p:nvSpPr>
        <p:spPr>
          <a:xfrm>
            <a:off x="8134350" y="3600450"/>
            <a:ext cx="2609850" cy="323850"/>
          </a:xfrm>
          <a:prstGeom prst="roundRect">
            <a:avLst>
              <a:gd name="adj" fmla="val 17647"/>
            </a:avLst>
          </a:prstGeom>
          <a:solidFill>
            <a:srgbClr val="EAF1F5"/>
          </a:solidFill>
          <a:ln w="9525">
            <a:solidFill>
              <a:srgbClr val="D6E1EC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>
            <a:defPPr algn="ctr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05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05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In Progress  ›  Completed</a:t>
            </a:r>
          </a:p>
        </p:txBody>
      </p:sp>
      <p:sp>
        <p:nvSpPr>
          <p:cNvPr id="198" name="Output disclaimer">
            <a:extLst>
              <a:ext uri="{FF2B5EF4-FFF2-40B4-BE49-F238E27FC236}">
                <a16:creationId xmlns:a16="http://schemas.microsoft.com/office/drawing/2014/main" id="{E8118492-B417-42C5-B851-D974DF0F0831}"/>
              </a:ext>
            </a:extLst>
          </p:cNvPr>
          <p:cNvSpPr>
            <a:spLocks noGrp="1"/>
          </p:cNvSpPr>
          <p:nvPr/>
        </p:nvSpPr>
        <p:spPr>
          <a:xfrm>
            <a:off x="8134350" y="4143375"/>
            <a:ext cx="2609850" cy="4953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lIns="0" tIns="0" rIns="0" bIns="0" anchor="ctr">
            <a:normAutofit/>
          </a:bodyPr>
          <a:lstStyle>
            <a:defPPr algn="ctr">
              <a:defRPr sz="1050" i="1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050" i="1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050" i="1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050" i="1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050" i="1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050" i="1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050" i="1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050" i="1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050" i="1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050" i="1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050" i="1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pPr>
            <a:r>
              <a:rPr sz="1050" i="1">
                <a:solidFill>
                  <a:srgbClr val="526486"/>
                </a:solidFill>
                <a:latin typeface="Calibri"/>
                <a:ea typeface="Calibri"/>
                <a:cs typeface="Calibri"/>
              </a:rPr>
              <a:t>Demo only — no real provider is contacted.</a:t>
            </a:r>
          </a:p>
        </p:txBody>
      </p:sp>
    </p:spTree>
    <p:extLst>
      <p:ext uri="{BB962C8B-B14F-4D97-AF65-F5344CB8AC3E}">
        <p14:creationId xmlns:p14="http://schemas.microsoft.com/office/powerpoint/2010/main" val="451498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">
            <a:extLst>
              <a:ext uri="{FF2B5EF4-FFF2-40B4-BE49-F238E27FC236}">
                <a16:creationId xmlns:a16="http://schemas.microsoft.com/office/drawing/2014/main" id="{555A0E57-7C11-4235-BC9A-B15B4EED5D20}"/>
              </a:ext>
            </a:extLst>
          </p:cNvPr>
          <p:cNvSpPr>
            <a:spLocks noGrp="1"/>
          </p:cNvSpPr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0">
            <a:extLst>
              <a:ext uri="{FF2B5EF4-FFF2-40B4-BE49-F238E27FC236}">
                <a16:creationId xmlns:a16="http://schemas.microsoft.com/office/drawing/2014/main" id="{4EC28170-F036-4434-99CE-4810E08AA8D2}"/>
              </a:ext>
            </a:extLst>
          </p:cNvPr>
          <p:cNvSpPr>
            <a:spLocks noGrp="1"/>
          </p:cNvSpPr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0">
            <a:extLst>
              <a:ext uri="{FF2B5EF4-FFF2-40B4-BE49-F238E27FC236}">
                <a16:creationId xmlns:a16="http://schemas.microsoft.com/office/drawing/2014/main" id="{74CE7EFE-15EF-4E33-9198-52C4D3051FF4}"/>
              </a:ext>
            </a:extLst>
          </p:cNvPr>
          <p:cNvSpPr>
            <a:spLocks noGrp="1"/>
          </p:cNvSpPr>
          <p:nvPr/>
        </p:nvSpPr>
        <p:spPr>
          <a:xfrm>
            <a:off x="502920" y="457200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21295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0">
            <a:extLst>
              <a:ext uri="{FF2B5EF4-FFF2-40B4-BE49-F238E27FC236}">
                <a16:creationId xmlns:a16="http://schemas.microsoft.com/office/drawing/2014/main" id="{03132065-7B92-4202-A4C0-C0C158B01577}"/>
              </a:ext>
            </a:extLst>
          </p:cNvPr>
          <p:cNvSpPr>
            <a:spLocks noGrp="1"/>
          </p:cNvSpPr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07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2" name="Google Shape;182;p10">
            <a:extLst>
              <a:ext uri="{FF2B5EF4-FFF2-40B4-BE49-F238E27FC236}">
                <a16:creationId xmlns:a16="http://schemas.microsoft.com/office/drawing/2014/main" id="{4A7AE648-046B-4295-A32F-E53E345527A2}"/>
              </a:ext>
            </a:extLst>
          </p:cNvPr>
          <p:cNvSpPr>
            <a:spLocks noGrp="1"/>
          </p:cNvSpPr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sz="11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TECHNICAL UNDERSTANDING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3" name="Google Shape;183;p10">
            <a:extLst>
              <a:ext uri="{FF2B5EF4-FFF2-40B4-BE49-F238E27FC236}">
                <a16:creationId xmlns:a16="http://schemas.microsoft.com/office/drawing/2014/main" id="{2EBFADA4-65CB-42A1-B1E1-292520F6BFAE}"/>
              </a:ext>
            </a:extLst>
          </p:cNvPr>
          <p:cNvSpPr>
            <a:spLocks noGrp="1"/>
          </p:cNvSpPr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sz="3000" b="1" i="0" u="none" strike="noStrike" cap="none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Technology Stack &amp; Core Concepts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4" name="Google Shape;184;p10">
            <a:extLst>
              <a:ext uri="{FF2B5EF4-FFF2-40B4-BE49-F238E27FC236}">
                <a16:creationId xmlns:a16="http://schemas.microsoft.com/office/drawing/2014/main" id="{D97DCDE2-F01C-417E-8079-F8EC7E6B9358}"/>
              </a:ext>
            </a:extLst>
          </p:cNvPr>
          <p:cNvSpPr>
            <a:spLocks noGrp="1"/>
          </p:cNvSpPr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sz="900" b="0" i="0" u="none" strike="noStrike" cap="none">
                <a:solidFill>
                  <a:srgbClr val="6B7593"/>
                </a:solidFill>
                <a:latin typeface="Calibri"/>
                <a:ea typeface="Calibri"/>
                <a:cs typeface="Calibri"/>
              </a:rPr>
              <a:t>OWN DEMAND SERVICE APP  ·  MINI PROJECT FINAL EVALUATION (REVIEW-02)  ·  2026–27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5" name="Google Shape;185;p10">
            <a:extLst>
              <a:ext uri="{FF2B5EF4-FFF2-40B4-BE49-F238E27FC236}">
                <a16:creationId xmlns:a16="http://schemas.microsoft.com/office/drawing/2014/main" id="{57778AE5-DC8D-4397-B31C-9602B6FEB881}"/>
              </a:ext>
            </a:extLst>
          </p:cNvPr>
          <p:cNvSpPr>
            <a:spLocks noGrp="1"/>
          </p:cNvSpPr>
          <p:nvPr/>
        </p:nvSpPr>
        <p:spPr>
          <a:xfrm>
            <a:off x="1122883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sz="900" b="0" i="0" u="none" strike="noStrike" cap="none">
                <a:solidFill>
                  <a:srgbClr val="6B7593"/>
                </a:solidFill>
                <a:latin typeface="Calibri"/>
                <a:ea typeface="Calibri"/>
                <a:cs typeface="Calibri"/>
              </a:rPr>
              <a:t>8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6" name="Google Shape;186;p10">
            <a:extLst>
              <a:ext uri="{FF2B5EF4-FFF2-40B4-BE49-F238E27FC236}">
                <a16:creationId xmlns:a16="http://schemas.microsoft.com/office/drawing/2014/main" id="{1A54C6E5-6524-42CD-8E37-7CB8695EF073}"/>
              </a:ext>
            </a:extLst>
          </p:cNvPr>
          <p:cNvSpPr>
            <a:spLocks noGrp="1"/>
          </p:cNvSpPr>
          <p:nvPr/>
        </p:nvSpPr>
        <p:spPr>
          <a:xfrm>
            <a:off x="1234460" y="1600200"/>
            <a:ext cx="9829800" cy="25266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 cap="flat" cmpd="sng">
            <a:solidFill>
              <a:srgbClr val="DEE4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0">
            <a:extLst>
              <a:ext uri="{FF2B5EF4-FFF2-40B4-BE49-F238E27FC236}">
                <a16:creationId xmlns:a16="http://schemas.microsoft.com/office/drawing/2014/main" id="{8F81C66E-625F-4CDB-AF6F-18AFE159FB29}"/>
              </a:ext>
            </a:extLst>
          </p:cNvPr>
          <p:cNvSpPr>
            <a:spLocks noGrp="1"/>
          </p:cNvSpPr>
          <p:nvPr/>
        </p:nvSpPr>
        <p:spPr>
          <a:xfrm>
            <a:off x="1463050" y="1884376"/>
            <a:ext cx="9327000" cy="19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300"/>
              <a:buFont typeface="Calibri"/>
              <a:buNone/>
            </a:pP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8" name="Google Shape;188;p10">
            <a:extLst>
              <a:ext uri="{FF2B5EF4-FFF2-40B4-BE49-F238E27FC236}">
                <a16:creationId xmlns:a16="http://schemas.microsoft.com/office/drawing/2014/main" id="{D078A0C8-0D36-43A3-BB18-10C47D3EB629}"/>
              </a:ext>
            </a:extLst>
          </p:cNvPr>
          <p:cNvSpPr>
            <a:spLocks noGrp="1"/>
          </p:cNvSpPr>
          <p:nvPr/>
        </p:nvSpPr>
        <p:spPr>
          <a:xfrm>
            <a:off x="1234440" y="4480560"/>
            <a:ext cx="98298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 cap="flat" cmpd="sng">
            <a:solidFill>
              <a:srgbClr val="DEE4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0">
            <a:extLst>
              <a:ext uri="{FF2B5EF4-FFF2-40B4-BE49-F238E27FC236}">
                <a16:creationId xmlns:a16="http://schemas.microsoft.com/office/drawing/2014/main" id="{11948C13-91AD-4899-A3D3-0E019167BDCB}"/>
              </a:ext>
            </a:extLst>
          </p:cNvPr>
          <p:cNvSpPr>
            <a:spLocks noGrp="1"/>
          </p:cNvSpPr>
          <p:nvPr/>
        </p:nvSpPr>
        <p:spPr>
          <a:xfrm>
            <a:off x="1463040" y="46177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mbria"/>
              <a:buNone/>
            </a:pPr>
            <a:r>
              <a:rPr sz="1600" b="1" i="0" u="none" strike="noStrike" cap="none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Core Concept: Event-Driven Booking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0" name="Google Shape;190;p10">
            <a:extLst>
              <a:ext uri="{FF2B5EF4-FFF2-40B4-BE49-F238E27FC236}">
                <a16:creationId xmlns:a16="http://schemas.microsoft.com/office/drawing/2014/main" id="{1F9EFA41-BA13-4AFB-9739-D2A6BF5FFF78}"/>
              </a:ext>
            </a:extLst>
          </p:cNvPr>
          <p:cNvSpPr>
            <a:spLocks noGrp="1"/>
          </p:cNvSpPr>
          <p:nvPr/>
        </p:nvSpPr>
        <p:spPr>
          <a:xfrm>
            <a:off x="1463040" y="5029200"/>
            <a:ext cx="93268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>
            <a:defPPr algn="l">
              <a:defRPr sz="1350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  <a:defRPr sz="1350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pPr>
            <a:r>
              <a:rPr sz="1350" b="0" i="1" u="none" strike="noStrike" cap="none">
                <a:solidFill>
                  <a:srgbClr val="526486"/>
                </a:solidFill>
                <a:latin typeface="Calibri"/>
                <a:ea typeface="Calibri"/>
                <a:cs typeface="Calibri"/>
              </a:rPr>
              <a:t>On submit: prevent the default page reload → verify the selected service → validate the phone number → build currentBooking → assign an ODS + five-digit demo ID → render escaped values. Status controls update the in-memory object and re-render the confirmation. Clear Form resets the inputs, selection and displayed state. This demonstrates event handling, input validation, DOM updates and safe output encoding.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1" name="Technology card HTML">
            <a:extLst>
              <a:ext uri="{FF2B5EF4-FFF2-40B4-BE49-F238E27FC236}">
                <a16:creationId xmlns:a16="http://schemas.microsoft.com/office/drawing/2014/main" id="{92ADB199-F371-4F7E-BFD2-BF7E43A68C1B}"/>
              </a:ext>
            </a:extLst>
          </p:cNvPr>
          <p:cNvSpPr>
            <a:spLocks noGrp="1"/>
          </p:cNvSpPr>
          <p:nvPr/>
        </p:nvSpPr>
        <p:spPr>
          <a:xfrm>
            <a:off x="1438275" y="1885950"/>
            <a:ext cx="2171700" cy="1952625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383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2" name="Technology title HTML">
            <a:extLst>
              <a:ext uri="{FF2B5EF4-FFF2-40B4-BE49-F238E27FC236}">
                <a16:creationId xmlns:a16="http://schemas.microsoft.com/office/drawing/2014/main" id="{E15E4A79-D182-432C-BA2B-AF1D080DA7C4}"/>
              </a:ext>
            </a:extLst>
          </p:cNvPr>
          <p:cNvSpPr>
            <a:spLocks noGrp="1"/>
          </p:cNvSpPr>
          <p:nvPr/>
        </p:nvSpPr>
        <p:spPr>
          <a:xfrm>
            <a:off x="1571625" y="2076450"/>
            <a:ext cx="1905000" cy="3238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lIns="0" tIns="0" rIns="0" bIns="0" anchor="ctr">
            <a:normAutofit/>
          </a:bodyPr>
          <a:lstStyle>
            <a:defPPr algn="ctr">
              <a:defRPr sz="16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6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6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6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6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6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6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6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6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6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6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HTML</a:t>
            </a:r>
          </a:p>
        </p:txBody>
      </p:sp>
      <p:sp>
        <p:nvSpPr>
          <p:cNvPr id="193" name="Technology description HTML">
            <a:extLst>
              <a:ext uri="{FF2B5EF4-FFF2-40B4-BE49-F238E27FC236}">
                <a16:creationId xmlns:a16="http://schemas.microsoft.com/office/drawing/2014/main" id="{A5760135-9994-4357-A845-8B8FBDC59248}"/>
              </a:ext>
            </a:extLst>
          </p:cNvPr>
          <p:cNvSpPr>
            <a:spLocks noGrp="1"/>
          </p:cNvSpPr>
          <p:nvPr/>
        </p:nvSpPr>
        <p:spPr>
          <a:xfrm>
            <a:off x="1571625" y="2505075"/>
            <a:ext cx="1905000" cy="10668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lIns="0" tIns="0" rIns="0" bIns="0" anchor="ctr">
            <a:normAutofit/>
          </a:bodyPr>
          <a:lstStyle>
            <a:defPPr algn="ctr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Page structure, service cards and booking form.</a:t>
            </a:r>
          </a:p>
        </p:txBody>
      </p:sp>
      <p:sp>
        <p:nvSpPr>
          <p:cNvPr id="194" name="Technology card CSS">
            <a:extLst>
              <a:ext uri="{FF2B5EF4-FFF2-40B4-BE49-F238E27FC236}">
                <a16:creationId xmlns:a16="http://schemas.microsoft.com/office/drawing/2014/main" id="{6C9CABF8-BAF7-485D-9DAA-9DB9C1EB3F5C}"/>
              </a:ext>
            </a:extLst>
          </p:cNvPr>
          <p:cNvSpPr>
            <a:spLocks noGrp="1"/>
          </p:cNvSpPr>
          <p:nvPr/>
        </p:nvSpPr>
        <p:spPr>
          <a:xfrm>
            <a:off x="3771900" y="1885950"/>
            <a:ext cx="2171700" cy="1952625"/>
          </a:xfrm>
          <a:prstGeom prst="roundRect">
            <a:avLst>
              <a:gd name="adj" fmla="val 4878"/>
            </a:avLst>
          </a:prstGeom>
          <a:solidFill>
            <a:srgbClr val="F6F8FB"/>
          </a:solidFill>
          <a:ln w="12383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5" name="Technology title CSS">
            <a:extLst>
              <a:ext uri="{FF2B5EF4-FFF2-40B4-BE49-F238E27FC236}">
                <a16:creationId xmlns:a16="http://schemas.microsoft.com/office/drawing/2014/main" id="{2BA9A98A-AD58-4282-9A19-C6069C28D2C7}"/>
              </a:ext>
            </a:extLst>
          </p:cNvPr>
          <p:cNvSpPr>
            <a:spLocks noGrp="1"/>
          </p:cNvSpPr>
          <p:nvPr/>
        </p:nvSpPr>
        <p:spPr>
          <a:xfrm>
            <a:off x="3905250" y="2076450"/>
            <a:ext cx="1905000" cy="323850"/>
          </a:xfrm>
          <a:prstGeom prst="rect">
            <a:avLst/>
          </a:prstGeom>
          <a:solidFill>
            <a:srgbClr val="F6F8FB"/>
          </a:solidFill>
          <a:ln w="0">
            <a:solidFill>
              <a:srgbClr val="F6F8FB"/>
            </a:solidFill>
            <a:prstDash val="solid"/>
          </a:ln>
        </p:spPr>
        <p:txBody>
          <a:bodyPr lIns="0" tIns="0" rIns="0" bIns="0" anchor="ctr">
            <a:normAutofit/>
          </a:bodyPr>
          <a:lstStyle>
            <a:defPPr algn="ctr">
              <a:defRPr sz="16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6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6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6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6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6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6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6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6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6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6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CSS</a:t>
            </a:r>
          </a:p>
        </p:txBody>
      </p:sp>
      <p:sp>
        <p:nvSpPr>
          <p:cNvPr id="196" name="Technology description CSS">
            <a:extLst>
              <a:ext uri="{FF2B5EF4-FFF2-40B4-BE49-F238E27FC236}">
                <a16:creationId xmlns:a16="http://schemas.microsoft.com/office/drawing/2014/main" id="{3CDB1D0F-DEC8-4384-B61B-B97815683687}"/>
              </a:ext>
            </a:extLst>
          </p:cNvPr>
          <p:cNvSpPr>
            <a:spLocks noGrp="1"/>
          </p:cNvSpPr>
          <p:nvPr/>
        </p:nvSpPr>
        <p:spPr>
          <a:xfrm>
            <a:off x="3905250" y="2505075"/>
            <a:ext cx="1905000" cy="1066800"/>
          </a:xfrm>
          <a:prstGeom prst="rect">
            <a:avLst/>
          </a:prstGeom>
          <a:solidFill>
            <a:srgbClr val="F6F8FB"/>
          </a:solidFill>
          <a:ln w="0">
            <a:solidFill>
              <a:srgbClr val="F6F8FB"/>
            </a:solidFill>
            <a:prstDash val="solid"/>
          </a:ln>
        </p:spPr>
        <p:txBody>
          <a:bodyPr lIns="0" tIns="0" rIns="0" bIns="0" anchor="ctr">
            <a:normAutofit/>
          </a:bodyPr>
          <a:lstStyle>
            <a:defPPr algn="ctr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Responsive layout, colours, cards and form styling.</a:t>
            </a:r>
          </a:p>
        </p:txBody>
      </p:sp>
      <p:sp>
        <p:nvSpPr>
          <p:cNvPr id="197" name="Technology card JavaScript">
            <a:extLst>
              <a:ext uri="{FF2B5EF4-FFF2-40B4-BE49-F238E27FC236}">
                <a16:creationId xmlns:a16="http://schemas.microsoft.com/office/drawing/2014/main" id="{5A6D1CEA-3B2B-4A3B-AA05-33DF78CC1115}"/>
              </a:ext>
            </a:extLst>
          </p:cNvPr>
          <p:cNvSpPr>
            <a:spLocks noGrp="1"/>
          </p:cNvSpPr>
          <p:nvPr/>
        </p:nvSpPr>
        <p:spPr>
          <a:xfrm>
            <a:off x="6105525" y="1885950"/>
            <a:ext cx="2171700" cy="1952625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383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8" name="Technology title JavaScript">
            <a:extLst>
              <a:ext uri="{FF2B5EF4-FFF2-40B4-BE49-F238E27FC236}">
                <a16:creationId xmlns:a16="http://schemas.microsoft.com/office/drawing/2014/main" id="{8A093360-FF79-454D-9D75-8697500D9081}"/>
              </a:ext>
            </a:extLst>
          </p:cNvPr>
          <p:cNvSpPr>
            <a:spLocks noGrp="1"/>
          </p:cNvSpPr>
          <p:nvPr/>
        </p:nvSpPr>
        <p:spPr>
          <a:xfrm>
            <a:off x="6238875" y="2076450"/>
            <a:ext cx="1905000" cy="3238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lIns="0" tIns="0" rIns="0" bIns="0" anchor="ctr">
            <a:normAutofit/>
          </a:bodyPr>
          <a:lstStyle>
            <a:defPPr algn="ctr">
              <a:defRPr sz="16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6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6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6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6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6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6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6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6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6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6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JavaScript</a:t>
            </a:r>
          </a:p>
        </p:txBody>
      </p:sp>
      <p:sp>
        <p:nvSpPr>
          <p:cNvPr id="199" name="Technology description JavaScript">
            <a:extLst>
              <a:ext uri="{FF2B5EF4-FFF2-40B4-BE49-F238E27FC236}">
                <a16:creationId xmlns:a16="http://schemas.microsoft.com/office/drawing/2014/main" id="{79400935-0503-4154-B527-C6FD83290E02}"/>
              </a:ext>
            </a:extLst>
          </p:cNvPr>
          <p:cNvSpPr>
            <a:spLocks noGrp="1"/>
          </p:cNvSpPr>
          <p:nvPr/>
        </p:nvSpPr>
        <p:spPr>
          <a:xfrm>
            <a:off x="6238875" y="2505075"/>
            <a:ext cx="1905000" cy="10668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lIns="0" tIns="0" rIns="0" bIns="0" anchor="ctr">
            <a:normAutofit/>
          </a:bodyPr>
          <a:lstStyle>
            <a:defPPr algn="ctr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Selection, validation, booking state and status events.</a:t>
            </a:r>
          </a:p>
        </p:txBody>
      </p:sp>
      <p:sp>
        <p:nvSpPr>
          <p:cNvPr id="200" name="Technology card Browser APIs">
            <a:extLst>
              <a:ext uri="{FF2B5EF4-FFF2-40B4-BE49-F238E27FC236}">
                <a16:creationId xmlns:a16="http://schemas.microsoft.com/office/drawing/2014/main" id="{CE7A7456-8D3E-42B2-BD51-8A48D424C8C0}"/>
              </a:ext>
            </a:extLst>
          </p:cNvPr>
          <p:cNvSpPr>
            <a:spLocks noGrp="1"/>
          </p:cNvSpPr>
          <p:nvPr/>
        </p:nvSpPr>
        <p:spPr>
          <a:xfrm>
            <a:off x="8439150" y="1885950"/>
            <a:ext cx="2171700" cy="1952625"/>
          </a:xfrm>
          <a:prstGeom prst="roundRect">
            <a:avLst>
              <a:gd name="adj" fmla="val 4878"/>
            </a:avLst>
          </a:prstGeom>
          <a:solidFill>
            <a:srgbClr val="F6F8FB"/>
          </a:solidFill>
          <a:ln w="12383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1" name="Technology title Browser APIs">
            <a:extLst>
              <a:ext uri="{FF2B5EF4-FFF2-40B4-BE49-F238E27FC236}">
                <a16:creationId xmlns:a16="http://schemas.microsoft.com/office/drawing/2014/main" id="{587F7399-E0C3-420B-8BB3-C70A4CE1BDF5}"/>
              </a:ext>
            </a:extLst>
          </p:cNvPr>
          <p:cNvSpPr>
            <a:spLocks noGrp="1"/>
          </p:cNvSpPr>
          <p:nvPr/>
        </p:nvSpPr>
        <p:spPr>
          <a:xfrm>
            <a:off x="8572500" y="2076450"/>
            <a:ext cx="1905000" cy="323850"/>
          </a:xfrm>
          <a:prstGeom prst="rect">
            <a:avLst/>
          </a:prstGeom>
          <a:solidFill>
            <a:srgbClr val="F6F8FB"/>
          </a:solidFill>
          <a:ln w="0">
            <a:solidFill>
              <a:srgbClr val="F6F8FB"/>
            </a:solidFill>
            <a:prstDash val="solid"/>
          </a:ln>
        </p:spPr>
        <p:txBody>
          <a:bodyPr lIns="0" tIns="0" rIns="0" bIns="0" anchor="ctr">
            <a:normAutofit/>
          </a:bodyPr>
          <a:lstStyle>
            <a:defPPr algn="ctr">
              <a:defRPr sz="16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6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6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6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6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6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6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6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6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6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650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Browser APIs</a:t>
            </a:r>
          </a:p>
        </p:txBody>
      </p:sp>
      <p:sp>
        <p:nvSpPr>
          <p:cNvPr id="202" name="Technology description Browser APIs">
            <a:extLst>
              <a:ext uri="{FF2B5EF4-FFF2-40B4-BE49-F238E27FC236}">
                <a16:creationId xmlns:a16="http://schemas.microsoft.com/office/drawing/2014/main" id="{1760F44D-9C0B-4FE6-9F39-6ACA9270041F}"/>
              </a:ext>
            </a:extLst>
          </p:cNvPr>
          <p:cNvSpPr>
            <a:spLocks noGrp="1"/>
          </p:cNvSpPr>
          <p:nvPr/>
        </p:nvSpPr>
        <p:spPr>
          <a:xfrm>
            <a:off x="8572500" y="2505075"/>
            <a:ext cx="1905000" cy="1066800"/>
          </a:xfrm>
          <a:prstGeom prst="rect">
            <a:avLst/>
          </a:prstGeom>
          <a:solidFill>
            <a:srgbClr val="F6F8FB"/>
          </a:solidFill>
          <a:ln w="0">
            <a:solidFill>
              <a:srgbClr val="F6F8FB"/>
            </a:solidFill>
            <a:prstDash val="solid"/>
          </a:ln>
        </p:spPr>
        <p:txBody>
          <a:bodyPr lIns="0" tIns="0" rIns="0" bIns="0" anchor="ctr">
            <a:normAutofit/>
          </a:bodyPr>
          <a:lstStyle>
            <a:defPPr algn="ctr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Native form checks, date input and DOM updates.</a:t>
            </a:r>
          </a:p>
        </p:txBody>
      </p:sp>
    </p:spTree>
    <p:extLst>
      <p:ext uri="{BB962C8B-B14F-4D97-AF65-F5344CB8AC3E}">
        <p14:creationId xmlns:p14="http://schemas.microsoft.com/office/powerpoint/2010/main" val="1288473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">
            <a:extLst>
              <a:ext uri="{FF2B5EF4-FFF2-40B4-BE49-F238E27FC236}">
                <a16:creationId xmlns:a16="http://schemas.microsoft.com/office/drawing/2014/main" id="{874CC3FF-0EBD-4F15-8552-7B1872FF36EF}"/>
              </a:ext>
            </a:extLst>
          </p:cNvPr>
          <p:cNvSpPr>
            <a:spLocks noGrp="1"/>
          </p:cNvSpPr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1">
            <a:extLst>
              <a:ext uri="{FF2B5EF4-FFF2-40B4-BE49-F238E27FC236}">
                <a16:creationId xmlns:a16="http://schemas.microsoft.com/office/drawing/2014/main" id="{067062EF-F8FA-4C3A-8E61-BDB178F272C8}"/>
              </a:ext>
            </a:extLst>
          </p:cNvPr>
          <p:cNvSpPr>
            <a:spLocks noGrp="1"/>
          </p:cNvSpPr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1">
            <a:extLst>
              <a:ext uri="{FF2B5EF4-FFF2-40B4-BE49-F238E27FC236}">
                <a16:creationId xmlns:a16="http://schemas.microsoft.com/office/drawing/2014/main" id="{E3A38E31-93B1-4F33-A777-5286785FB16C}"/>
              </a:ext>
            </a:extLst>
          </p:cNvPr>
          <p:cNvSpPr>
            <a:spLocks noGrp="1"/>
          </p:cNvSpPr>
          <p:nvPr/>
        </p:nvSpPr>
        <p:spPr>
          <a:xfrm>
            <a:off x="502920" y="457200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21295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1">
            <a:extLst>
              <a:ext uri="{FF2B5EF4-FFF2-40B4-BE49-F238E27FC236}">
                <a16:creationId xmlns:a16="http://schemas.microsoft.com/office/drawing/2014/main" id="{34206B2C-B93B-45F7-9AF4-DB5F9662D457}"/>
              </a:ext>
            </a:extLst>
          </p:cNvPr>
          <p:cNvSpPr>
            <a:spLocks noGrp="1"/>
          </p:cNvSpPr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08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0" name="Google Shape;200;p11">
            <a:extLst>
              <a:ext uri="{FF2B5EF4-FFF2-40B4-BE49-F238E27FC236}">
                <a16:creationId xmlns:a16="http://schemas.microsoft.com/office/drawing/2014/main" id="{2E6316C0-0D0A-4768-9B04-B5E7E98C7D09}"/>
              </a:ext>
            </a:extLst>
          </p:cNvPr>
          <p:cNvSpPr>
            <a:spLocks noGrp="1"/>
          </p:cNvSpPr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sz="11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RESULTS &amp; TESTING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1" name="Google Shape;201;p11">
            <a:extLst>
              <a:ext uri="{FF2B5EF4-FFF2-40B4-BE49-F238E27FC236}">
                <a16:creationId xmlns:a16="http://schemas.microsoft.com/office/drawing/2014/main" id="{D26A1ED7-2A52-4162-B5D8-D011633C7618}"/>
              </a:ext>
            </a:extLst>
          </p:cNvPr>
          <p:cNvSpPr>
            <a:spLocks noGrp="1"/>
          </p:cNvSpPr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sz="3000" b="1" i="0" u="none" strike="noStrike" cap="none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Test Plan &amp; Demonstration Results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2" name="Google Shape;202;p11">
            <a:extLst>
              <a:ext uri="{FF2B5EF4-FFF2-40B4-BE49-F238E27FC236}">
                <a16:creationId xmlns:a16="http://schemas.microsoft.com/office/drawing/2014/main" id="{6E8A4EEA-5600-433C-9AA3-7A9EB7674D70}"/>
              </a:ext>
            </a:extLst>
          </p:cNvPr>
          <p:cNvSpPr>
            <a:spLocks noGrp="1"/>
          </p:cNvSpPr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sz="900" b="0" i="0" u="none" strike="noStrike" cap="none">
                <a:solidFill>
                  <a:srgbClr val="6B7593"/>
                </a:solidFill>
                <a:latin typeface="Calibri"/>
                <a:ea typeface="Calibri"/>
                <a:cs typeface="Calibri"/>
              </a:rPr>
              <a:t>OWN DEMAND SERVICE APP  ·  MINI PROJECT FINAL EVALUATION (REVIEW-02)  ·  2026–27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3" name="Google Shape;203;p11">
            <a:extLst>
              <a:ext uri="{FF2B5EF4-FFF2-40B4-BE49-F238E27FC236}">
                <a16:creationId xmlns:a16="http://schemas.microsoft.com/office/drawing/2014/main" id="{BC895190-38B9-47AC-96C5-6395C1F82127}"/>
              </a:ext>
            </a:extLst>
          </p:cNvPr>
          <p:cNvSpPr>
            <a:spLocks noGrp="1"/>
          </p:cNvSpPr>
          <p:nvPr/>
        </p:nvSpPr>
        <p:spPr>
          <a:xfrm>
            <a:off x="1122883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sz="900" b="0" i="0" u="none" strike="noStrike" cap="none">
                <a:solidFill>
                  <a:srgbClr val="6B7593"/>
                </a:solidFill>
                <a:latin typeface="Calibri"/>
                <a:ea typeface="Calibri"/>
                <a:cs typeface="Calibri"/>
              </a:rPr>
              <a:t>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204" name="Google Shape;204;p11">
            <a:extLst>
              <a:ext uri="{FF2B5EF4-FFF2-40B4-BE49-F238E27FC236}">
                <a16:creationId xmlns:a16="http://schemas.microsoft.com/office/drawing/2014/main" id="{D3083E8D-AC7B-4B66-B7DD-3E01659C1C30}"/>
              </a:ext>
            </a:extLst>
          </p:cNvPr>
          <p:cNvGraphicFramePr/>
          <p:nvPr/>
        </p:nvGraphicFramePr>
        <p:xfrm>
          <a:off x="1234440" y="1600200"/>
          <a:ext cx="9609000" cy="3291900"/>
        </p:xfrm>
        <a:graphic>
          <a:graphicData uri="http://schemas.openxmlformats.org/drawingml/2006/table">
            <a:tbl>
              <a:tblPr>
                <a:tableStyleId>{1AB96F70-AEE2-41DE-B56D-7921EAF9746E}</a:tableStyleId>
              </a:tblPr>
              <a:tblGrid>
                <a:gridCol w="109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2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06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50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Test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Input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Expected Behavior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Source Evidence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5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593"/>
                        </a:buClr>
                        <a:buSzPts val="1200"/>
                        <a:buFont typeface="Calibri"/>
                        <a:buNone/>
                      </a:pPr>
                      <a:r>
                        <a:rPr sz="1200" i="1" u="none" strike="noStrike" cap="none">
                          <a:solidFill>
                            <a:srgbClr val="6B7593"/>
                          </a:solidFill>
                          <a:latin typeface="Calibri"/>
                          <a:ea typeface="Calibri"/>
                          <a:cs typeface="Calibri"/>
                        </a:rPr>
                        <a:t>T1 Service gate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No category selected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Block submit; show prompt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Selection guard present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5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593"/>
                        </a:buClr>
                        <a:buSzPts val="1200"/>
                        <a:buFont typeface="Calibri"/>
                        <a:buNone/>
                      </a:pPr>
                      <a:r>
                        <a:rPr sz="1200" i="1" u="none" strike="noStrike" cap="none">
                          <a:solidFill>
                            <a:srgbClr val="6B7593"/>
                          </a:solidFill>
                          <a:latin typeface="Calibri"/>
                          <a:ea typeface="Calibri"/>
                          <a:cs typeface="Calibri"/>
                        </a:rPr>
                        <a:t>T2 Phone format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9 or 11 digits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Require exactly 10 digits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Regex check present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5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593"/>
                        </a:buClr>
                        <a:buSzPts val="1200"/>
                        <a:buFont typeface="Calibri"/>
                        <a:buNone/>
                      </a:pPr>
                      <a:r>
                        <a:rPr sz="1200" i="1" u="none" strike="noStrike" cap="none">
                          <a:solidFill>
                            <a:srgbClr val="6B7593"/>
                          </a:solidFill>
                          <a:latin typeface="Calibri"/>
                          <a:ea typeface="Calibri"/>
                          <a:cs typeface="Calibri"/>
                        </a:rPr>
                        <a:t>T3 Date rule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Past date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Date input minimum is today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Minimum-date rule present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5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593"/>
                        </a:buClr>
                        <a:buSzPts val="1200"/>
                        <a:buFont typeface="Calibri"/>
                        <a:buNone/>
                      </a:pPr>
                      <a:r>
                        <a:rPr sz="1200" i="1" u="none" strike="noStrike" cap="none">
                          <a:solidFill>
                            <a:srgbClr val="6B7593"/>
                          </a:solidFill>
                          <a:latin typeface="Calibri"/>
                          <a:ea typeface="Calibri"/>
                          <a:cs typeface="Calibri"/>
                        </a:rPr>
                        <a:t>T4 Valid request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Service + required fields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Show demo ID and summary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Submit flow implemented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5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593"/>
                        </a:buClr>
                        <a:buSzPts val="1200"/>
                        <a:buFont typeface="Calibri"/>
                        <a:buNone/>
                      </a:pPr>
                      <a:r>
                        <a:rPr sz="1200" i="1" u="none" strike="noStrike" cap="none">
                          <a:solidFill>
                            <a:srgbClr val="6B7593"/>
                          </a:solidFill>
                          <a:latin typeface="Calibri"/>
                          <a:ea typeface="Calibri"/>
                          <a:cs typeface="Calibri"/>
                        </a:rPr>
                        <a:t>T5 Status / reset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Status button, then Clear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Update status; clear demo state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Handlers present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5" name="Google Shape;205;p11">
            <a:extLst>
              <a:ext uri="{FF2B5EF4-FFF2-40B4-BE49-F238E27FC236}">
                <a16:creationId xmlns:a16="http://schemas.microsoft.com/office/drawing/2014/main" id="{4B56D36C-C1C9-412F-B282-6962BCF496B8}"/>
              </a:ext>
            </a:extLst>
          </p:cNvPr>
          <p:cNvSpPr>
            <a:spLocks noGrp="1"/>
          </p:cNvSpPr>
          <p:nvPr/>
        </p:nvSpPr>
        <p:spPr>
          <a:xfrm>
            <a:off x="1234440" y="5349240"/>
            <a:ext cx="9829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>
            <a:defPPr algn="l">
              <a:defRPr sz="127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500"/>
              <a:buFont typeface="Calibri"/>
              <a:buNone/>
              <a:defRPr sz="1275" b="1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1275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The supplied source implements the listed behaviors. No formal runtime test log or measured performance results were included in the project files.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08798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2">
            <a:extLst>
              <a:ext uri="{FF2B5EF4-FFF2-40B4-BE49-F238E27FC236}">
                <a16:creationId xmlns:a16="http://schemas.microsoft.com/office/drawing/2014/main" id="{14719372-4DF1-45A9-A657-68F72B016012}"/>
              </a:ext>
            </a:extLst>
          </p:cNvPr>
          <p:cNvSpPr>
            <a:spLocks noGrp="1"/>
          </p:cNvSpPr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2">
            <a:extLst>
              <a:ext uri="{FF2B5EF4-FFF2-40B4-BE49-F238E27FC236}">
                <a16:creationId xmlns:a16="http://schemas.microsoft.com/office/drawing/2014/main" id="{A5B5E2CD-C689-4E79-A14C-2C0F2EF5BC98}"/>
              </a:ext>
            </a:extLst>
          </p:cNvPr>
          <p:cNvSpPr>
            <a:spLocks noGrp="1"/>
          </p:cNvSpPr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2">
            <a:extLst>
              <a:ext uri="{FF2B5EF4-FFF2-40B4-BE49-F238E27FC236}">
                <a16:creationId xmlns:a16="http://schemas.microsoft.com/office/drawing/2014/main" id="{8E83B8CE-455D-4890-9A8A-C6A3F45C1A97}"/>
              </a:ext>
            </a:extLst>
          </p:cNvPr>
          <p:cNvSpPr>
            <a:spLocks noGrp="1"/>
          </p:cNvSpPr>
          <p:nvPr/>
        </p:nvSpPr>
        <p:spPr>
          <a:xfrm>
            <a:off x="502920" y="457200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21295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2">
            <a:extLst>
              <a:ext uri="{FF2B5EF4-FFF2-40B4-BE49-F238E27FC236}">
                <a16:creationId xmlns:a16="http://schemas.microsoft.com/office/drawing/2014/main" id="{704C7D29-7298-4A7B-9757-2D3E2C98A648}"/>
              </a:ext>
            </a:extLst>
          </p:cNvPr>
          <p:cNvSpPr>
            <a:spLocks noGrp="1"/>
          </p:cNvSpPr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09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5" name="Google Shape;215;p12">
            <a:extLst>
              <a:ext uri="{FF2B5EF4-FFF2-40B4-BE49-F238E27FC236}">
                <a16:creationId xmlns:a16="http://schemas.microsoft.com/office/drawing/2014/main" id="{A291ED31-D733-4088-878E-77800C4EECA5}"/>
              </a:ext>
            </a:extLst>
          </p:cNvPr>
          <p:cNvSpPr>
            <a:spLocks noGrp="1"/>
          </p:cNvSpPr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sz="11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CONCLUSION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6" name="Google Shape;216;p12">
            <a:extLst>
              <a:ext uri="{FF2B5EF4-FFF2-40B4-BE49-F238E27FC236}">
                <a16:creationId xmlns:a16="http://schemas.microsoft.com/office/drawing/2014/main" id="{B8C47C18-A4C8-484D-A0DC-257CEDCCCE00}"/>
              </a:ext>
            </a:extLst>
          </p:cNvPr>
          <p:cNvSpPr>
            <a:spLocks noGrp="1"/>
          </p:cNvSpPr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sz="3000" b="1" i="0" u="none" strike="noStrike" cap="none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Conclusion, Challenges &amp; Future Scope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7" name="Google Shape;217;p12">
            <a:extLst>
              <a:ext uri="{FF2B5EF4-FFF2-40B4-BE49-F238E27FC236}">
                <a16:creationId xmlns:a16="http://schemas.microsoft.com/office/drawing/2014/main" id="{1675B798-9619-41BC-B069-1D57DCFC4F92}"/>
              </a:ext>
            </a:extLst>
          </p:cNvPr>
          <p:cNvSpPr>
            <a:spLocks noGrp="1"/>
          </p:cNvSpPr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sz="900" b="0" i="0" u="none" strike="noStrike" cap="none">
                <a:solidFill>
                  <a:srgbClr val="6B7593"/>
                </a:solidFill>
                <a:latin typeface="Calibri"/>
                <a:ea typeface="Calibri"/>
                <a:cs typeface="Calibri"/>
              </a:rPr>
              <a:t>OWN DEMAND SERVICE APP  ·  MINI PROJECT FINAL EVALUATION (REVIEW-02)  ·  2026–27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8" name="Google Shape;218;p12">
            <a:extLst>
              <a:ext uri="{FF2B5EF4-FFF2-40B4-BE49-F238E27FC236}">
                <a16:creationId xmlns:a16="http://schemas.microsoft.com/office/drawing/2014/main" id="{53B5F135-8B6C-4E7B-B0EA-61354C74623F}"/>
              </a:ext>
            </a:extLst>
          </p:cNvPr>
          <p:cNvSpPr>
            <a:spLocks noGrp="1"/>
          </p:cNvSpPr>
          <p:nvPr/>
        </p:nvSpPr>
        <p:spPr>
          <a:xfrm>
            <a:off x="1122883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sz="900" b="0" i="0" u="none" strike="noStrike" cap="none">
                <a:solidFill>
                  <a:srgbClr val="6B7593"/>
                </a:solidFill>
                <a:latin typeface="Calibri"/>
                <a:ea typeface="Calibri"/>
                <a:cs typeface="Calibri"/>
              </a:rPr>
              <a:t>10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9" name="Google Shape;219;p12">
            <a:extLst>
              <a:ext uri="{FF2B5EF4-FFF2-40B4-BE49-F238E27FC236}">
                <a16:creationId xmlns:a16="http://schemas.microsoft.com/office/drawing/2014/main" id="{861DEFB3-2B66-48A1-9C16-6F7552545B42}"/>
              </a:ext>
            </a:extLst>
          </p:cNvPr>
          <p:cNvSpPr>
            <a:spLocks noGrp="1"/>
          </p:cNvSpPr>
          <p:nvPr/>
        </p:nvSpPr>
        <p:spPr>
          <a:xfrm>
            <a:off x="1234440" y="1600200"/>
            <a:ext cx="3154680" cy="448056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9525" cap="flat" cmpd="sng">
            <a:solidFill>
              <a:srgbClr val="DEE4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2">
            <a:extLst>
              <a:ext uri="{FF2B5EF4-FFF2-40B4-BE49-F238E27FC236}">
                <a16:creationId xmlns:a16="http://schemas.microsoft.com/office/drawing/2014/main" id="{CD3AAE4C-B113-43C5-99CF-91570D79F92D}"/>
              </a:ext>
            </a:extLst>
          </p:cNvPr>
          <p:cNvSpPr>
            <a:spLocks noGrp="1"/>
          </p:cNvSpPr>
          <p:nvPr/>
        </p:nvSpPr>
        <p:spPr>
          <a:xfrm>
            <a:off x="1463040" y="1828800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2">
            <a:extLst>
              <a:ext uri="{FF2B5EF4-FFF2-40B4-BE49-F238E27FC236}">
                <a16:creationId xmlns:a16="http://schemas.microsoft.com/office/drawing/2014/main" id="{88A67B5A-52BC-4631-BBFC-48CC8ACA0CA1}"/>
              </a:ext>
            </a:extLst>
          </p:cNvPr>
          <p:cNvSpPr>
            <a:spLocks noGrp="1"/>
          </p:cNvSpPr>
          <p:nvPr/>
        </p:nvSpPr>
        <p:spPr>
          <a:xfrm>
            <a:off x="1463040" y="1828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2" name="Google Shape;222;p12">
            <a:extLst>
              <a:ext uri="{FF2B5EF4-FFF2-40B4-BE49-F238E27FC236}">
                <a16:creationId xmlns:a16="http://schemas.microsoft.com/office/drawing/2014/main" id="{27C18DA1-45A0-4327-8D77-BA89F3ADFDAE}"/>
              </a:ext>
            </a:extLst>
          </p:cNvPr>
          <p:cNvSpPr>
            <a:spLocks noGrp="1"/>
          </p:cNvSpPr>
          <p:nvPr/>
        </p:nvSpPr>
        <p:spPr>
          <a:xfrm>
            <a:off x="2057400" y="1892808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mbria"/>
              <a:buNone/>
            </a:pPr>
            <a:r>
              <a:rPr sz="1600" b="1" i="0" u="none" strike="noStrike" cap="none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Conclusion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3" name="Google Shape;223;p12">
            <a:extLst>
              <a:ext uri="{FF2B5EF4-FFF2-40B4-BE49-F238E27FC236}">
                <a16:creationId xmlns:a16="http://schemas.microsoft.com/office/drawing/2014/main" id="{F5B37B73-DD19-47DE-B392-8EF4DFCF0132}"/>
              </a:ext>
            </a:extLst>
          </p:cNvPr>
          <p:cNvSpPr>
            <a:spLocks noGrp="1"/>
          </p:cNvSpPr>
          <p:nvPr/>
        </p:nvSpPr>
        <p:spPr>
          <a:xfrm>
            <a:off x="1463040" y="2560320"/>
            <a:ext cx="269748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>
            <a:normAutofit/>
          </a:bodyPr>
          <a:lstStyle>
            <a:def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• One interface covers six common household-service categories.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• The form collects service, contact, address and schedule details.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• A demo ID and sample status flow make the request visible.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• The deliverable demonstrates a front-end concept, not a live marketplace.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4" name="Google Shape;224;p12">
            <a:extLst>
              <a:ext uri="{FF2B5EF4-FFF2-40B4-BE49-F238E27FC236}">
                <a16:creationId xmlns:a16="http://schemas.microsoft.com/office/drawing/2014/main" id="{38F2A1F5-D913-4B6B-8B96-B722A6AA72E3}"/>
              </a:ext>
            </a:extLst>
          </p:cNvPr>
          <p:cNvSpPr>
            <a:spLocks noGrp="1"/>
          </p:cNvSpPr>
          <p:nvPr/>
        </p:nvSpPr>
        <p:spPr>
          <a:xfrm>
            <a:off x="4572000" y="1600200"/>
            <a:ext cx="3154680" cy="448056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9525" cap="flat" cmpd="sng">
            <a:solidFill>
              <a:srgbClr val="DEE4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2">
            <a:extLst>
              <a:ext uri="{FF2B5EF4-FFF2-40B4-BE49-F238E27FC236}">
                <a16:creationId xmlns:a16="http://schemas.microsoft.com/office/drawing/2014/main" id="{91AD7BB4-21D0-4588-A422-AEF57018EB8B}"/>
              </a:ext>
            </a:extLst>
          </p:cNvPr>
          <p:cNvSpPr>
            <a:spLocks noGrp="1"/>
          </p:cNvSpPr>
          <p:nvPr/>
        </p:nvSpPr>
        <p:spPr>
          <a:xfrm>
            <a:off x="4800600" y="1828800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2">
            <a:extLst>
              <a:ext uri="{FF2B5EF4-FFF2-40B4-BE49-F238E27FC236}">
                <a16:creationId xmlns:a16="http://schemas.microsoft.com/office/drawing/2014/main" id="{AA4AD770-1EB9-428B-9EEB-96FA0A2311E5}"/>
              </a:ext>
            </a:extLst>
          </p:cNvPr>
          <p:cNvSpPr>
            <a:spLocks noGrp="1"/>
          </p:cNvSpPr>
          <p:nvPr/>
        </p:nvSpPr>
        <p:spPr>
          <a:xfrm>
            <a:off x="4800600" y="1828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7" name="Google Shape;227;p12">
            <a:extLst>
              <a:ext uri="{FF2B5EF4-FFF2-40B4-BE49-F238E27FC236}">
                <a16:creationId xmlns:a16="http://schemas.microsoft.com/office/drawing/2014/main" id="{82D4DDE3-A395-430E-8914-36E3F1C19032}"/>
              </a:ext>
            </a:extLst>
          </p:cNvPr>
          <p:cNvSpPr>
            <a:spLocks noGrp="1"/>
          </p:cNvSpPr>
          <p:nvPr/>
        </p:nvSpPr>
        <p:spPr>
          <a:xfrm>
            <a:off x="5394960" y="1892808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mbria"/>
              <a:buNone/>
            </a:pPr>
            <a:r>
              <a:rPr sz="1600" b="1" i="0" u="none" strike="noStrike" cap="none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Challenges &amp; Solutions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8" name="Google Shape;228;p12">
            <a:extLst>
              <a:ext uri="{FF2B5EF4-FFF2-40B4-BE49-F238E27FC236}">
                <a16:creationId xmlns:a16="http://schemas.microsoft.com/office/drawing/2014/main" id="{03983B3E-3EB7-42F0-A543-096DB351AC67}"/>
              </a:ext>
            </a:extLst>
          </p:cNvPr>
          <p:cNvSpPr>
            <a:spLocks noGrp="1"/>
          </p:cNvSpPr>
          <p:nvPr/>
        </p:nvSpPr>
        <p:spPr>
          <a:xfrm>
            <a:off x="4800600" y="2560320"/>
            <a:ext cx="269748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>
            <a:normAutofit/>
          </a:bodyPr>
          <a:lstStyle>
            <a:def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• Unfamiliar locality → category-based service selection.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• Missing booking details → required fields and phone checks.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• Unsafe user text → escape values before rendering.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• No persistence → state the demo boundary and avoid real booking claims.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9" name="Google Shape;229;p12">
            <a:extLst>
              <a:ext uri="{FF2B5EF4-FFF2-40B4-BE49-F238E27FC236}">
                <a16:creationId xmlns:a16="http://schemas.microsoft.com/office/drawing/2014/main" id="{869EE3E5-8FCF-4C03-9917-8E763F08D74F}"/>
              </a:ext>
            </a:extLst>
          </p:cNvPr>
          <p:cNvSpPr>
            <a:spLocks noGrp="1"/>
          </p:cNvSpPr>
          <p:nvPr/>
        </p:nvSpPr>
        <p:spPr>
          <a:xfrm>
            <a:off x="7909560" y="1600200"/>
            <a:ext cx="3154680" cy="448056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9525" cap="flat" cmpd="sng">
            <a:solidFill>
              <a:srgbClr val="DEE4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2">
            <a:extLst>
              <a:ext uri="{FF2B5EF4-FFF2-40B4-BE49-F238E27FC236}">
                <a16:creationId xmlns:a16="http://schemas.microsoft.com/office/drawing/2014/main" id="{8895E31A-7B4B-4108-B5F2-B2F47EFB30DE}"/>
              </a:ext>
            </a:extLst>
          </p:cNvPr>
          <p:cNvSpPr>
            <a:spLocks noGrp="1"/>
          </p:cNvSpPr>
          <p:nvPr/>
        </p:nvSpPr>
        <p:spPr>
          <a:xfrm>
            <a:off x="8138160" y="1828800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2">
            <a:extLst>
              <a:ext uri="{FF2B5EF4-FFF2-40B4-BE49-F238E27FC236}">
                <a16:creationId xmlns:a16="http://schemas.microsoft.com/office/drawing/2014/main" id="{93B8E91C-D35F-41EA-8574-6F322B1DCD2D}"/>
              </a:ext>
            </a:extLst>
          </p:cNvPr>
          <p:cNvSpPr>
            <a:spLocks noGrp="1"/>
          </p:cNvSpPr>
          <p:nvPr/>
        </p:nvSpPr>
        <p:spPr>
          <a:xfrm>
            <a:off x="8138160" y="1828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2" name="Google Shape;232;p12">
            <a:extLst>
              <a:ext uri="{FF2B5EF4-FFF2-40B4-BE49-F238E27FC236}">
                <a16:creationId xmlns:a16="http://schemas.microsoft.com/office/drawing/2014/main" id="{7772DBBF-EE93-4501-972B-A703C630B887}"/>
              </a:ext>
            </a:extLst>
          </p:cNvPr>
          <p:cNvSpPr>
            <a:spLocks noGrp="1"/>
          </p:cNvSpPr>
          <p:nvPr/>
        </p:nvSpPr>
        <p:spPr>
          <a:xfrm>
            <a:off x="8732520" y="1892808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mbria"/>
              <a:buNone/>
            </a:pPr>
            <a:r>
              <a:rPr sz="1600" b="1" i="0" u="none" strike="noStrike" cap="none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Future Scope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3" name="Google Shape;233;p12">
            <a:extLst>
              <a:ext uri="{FF2B5EF4-FFF2-40B4-BE49-F238E27FC236}">
                <a16:creationId xmlns:a16="http://schemas.microsoft.com/office/drawing/2014/main" id="{828B45BF-A775-4CD4-8797-4C31D14873F6}"/>
              </a:ext>
            </a:extLst>
          </p:cNvPr>
          <p:cNvSpPr>
            <a:spLocks noGrp="1"/>
          </p:cNvSpPr>
          <p:nvPr/>
        </p:nvSpPr>
        <p:spPr>
          <a:xfrm>
            <a:off x="8138160" y="2560320"/>
            <a:ext cx="269748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>
            <a:normAutofit/>
          </a:bodyPr>
          <a:lstStyle>
            <a:def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• Add a secure backend and persistent database.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• Add accounts, roles and verified provider profiles.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• Add locality search, provider availability and booking persistence.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• Add payment, notifications, reviews and admin tools.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  <a:defRPr sz="1200">
                <a:solidFill>
                  <a:srgbClr val="21295C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• Complete privacy, security and end-to-end testing before deployment.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82666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3">
            <a:extLst>
              <a:ext uri="{FF2B5EF4-FFF2-40B4-BE49-F238E27FC236}">
                <a16:creationId xmlns:a16="http://schemas.microsoft.com/office/drawing/2014/main" id="{4038A7D4-CAFD-4F55-919C-DBAABB98B77F}"/>
              </a:ext>
            </a:extLst>
          </p:cNvPr>
          <p:cNvSpPr>
            <a:spLocks noGrp="1"/>
          </p:cNvSpPr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3">
            <a:extLst>
              <a:ext uri="{FF2B5EF4-FFF2-40B4-BE49-F238E27FC236}">
                <a16:creationId xmlns:a16="http://schemas.microsoft.com/office/drawing/2014/main" id="{815A1615-C4DA-4A45-A68B-A7408A816090}"/>
              </a:ext>
            </a:extLst>
          </p:cNvPr>
          <p:cNvSpPr>
            <a:spLocks noGrp="1"/>
          </p:cNvSpPr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3">
            <a:extLst>
              <a:ext uri="{FF2B5EF4-FFF2-40B4-BE49-F238E27FC236}">
                <a16:creationId xmlns:a16="http://schemas.microsoft.com/office/drawing/2014/main" id="{B720D1AE-B083-4A9A-9961-8A817BBB962B}"/>
              </a:ext>
            </a:extLst>
          </p:cNvPr>
          <p:cNvSpPr>
            <a:spLocks noGrp="1"/>
          </p:cNvSpPr>
          <p:nvPr/>
        </p:nvSpPr>
        <p:spPr>
          <a:xfrm>
            <a:off x="502920" y="457200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21295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3">
            <a:extLst>
              <a:ext uri="{FF2B5EF4-FFF2-40B4-BE49-F238E27FC236}">
                <a16:creationId xmlns:a16="http://schemas.microsoft.com/office/drawing/2014/main" id="{B9DD2641-A92B-4738-BB2F-B86ACF5FA84E}"/>
              </a:ext>
            </a:extLst>
          </p:cNvPr>
          <p:cNvSpPr>
            <a:spLocks noGrp="1"/>
          </p:cNvSpPr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3" name="Google Shape;243;p13">
            <a:extLst>
              <a:ext uri="{FF2B5EF4-FFF2-40B4-BE49-F238E27FC236}">
                <a16:creationId xmlns:a16="http://schemas.microsoft.com/office/drawing/2014/main" id="{E6D64B43-8FB4-4258-AD8D-99566E0938D4}"/>
              </a:ext>
            </a:extLst>
          </p:cNvPr>
          <p:cNvSpPr>
            <a:spLocks noGrp="1"/>
          </p:cNvSpPr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sz="11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REFERENCES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4" name="Google Shape;244;p13">
            <a:extLst>
              <a:ext uri="{FF2B5EF4-FFF2-40B4-BE49-F238E27FC236}">
                <a16:creationId xmlns:a16="http://schemas.microsoft.com/office/drawing/2014/main" id="{29A0FF72-0C70-4EF1-8DB8-901A4A35B71A}"/>
              </a:ext>
            </a:extLst>
          </p:cNvPr>
          <p:cNvSpPr>
            <a:spLocks noGrp="1"/>
          </p:cNvSpPr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sz="3000" b="1" i="0" u="none" strike="noStrike" cap="none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References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5" name="Google Shape;245;p13">
            <a:extLst>
              <a:ext uri="{FF2B5EF4-FFF2-40B4-BE49-F238E27FC236}">
                <a16:creationId xmlns:a16="http://schemas.microsoft.com/office/drawing/2014/main" id="{926F2DEA-0FBD-41DF-92EB-C189C1FAEB8D}"/>
              </a:ext>
            </a:extLst>
          </p:cNvPr>
          <p:cNvSpPr>
            <a:spLocks noGrp="1"/>
          </p:cNvSpPr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sz="900" b="0" i="0" u="none" strike="noStrike" cap="none">
                <a:solidFill>
                  <a:srgbClr val="6B7593"/>
                </a:solidFill>
                <a:latin typeface="Calibri"/>
                <a:ea typeface="Calibri"/>
                <a:cs typeface="Calibri"/>
              </a:rPr>
              <a:t>OWN DEMAND SERVICE APP  ·  MINI PROJECT FINAL EVALUATION (REVIEW-02)  ·  2026–27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6" name="Google Shape;246;p13">
            <a:extLst>
              <a:ext uri="{FF2B5EF4-FFF2-40B4-BE49-F238E27FC236}">
                <a16:creationId xmlns:a16="http://schemas.microsoft.com/office/drawing/2014/main" id="{D9F928DB-5F0C-4331-A42C-AF5FFB534561}"/>
              </a:ext>
            </a:extLst>
          </p:cNvPr>
          <p:cNvSpPr>
            <a:spLocks noGrp="1"/>
          </p:cNvSpPr>
          <p:nvPr/>
        </p:nvSpPr>
        <p:spPr>
          <a:xfrm>
            <a:off x="1122883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sz="900" b="0" i="0" u="none" strike="noStrike" cap="none">
                <a:solidFill>
                  <a:srgbClr val="6B7593"/>
                </a:solidFill>
                <a:latin typeface="Calibri"/>
                <a:ea typeface="Calibri"/>
                <a:cs typeface="Calibri"/>
              </a:rPr>
              <a:t>11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7" name="Google Shape;247;p13">
            <a:extLst>
              <a:ext uri="{FF2B5EF4-FFF2-40B4-BE49-F238E27FC236}">
                <a16:creationId xmlns:a16="http://schemas.microsoft.com/office/drawing/2014/main" id="{523336AC-4858-4116-ACDC-B1DD3A2CAC9C}"/>
              </a:ext>
            </a:extLst>
          </p:cNvPr>
          <p:cNvSpPr>
            <a:spLocks noGrp="1"/>
          </p:cNvSpPr>
          <p:nvPr/>
        </p:nvSpPr>
        <p:spPr>
          <a:xfrm>
            <a:off x="1234440" y="1600200"/>
            <a:ext cx="9848088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9525" cap="flat" cmpd="sng">
            <a:solidFill>
              <a:srgbClr val="DEE4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3">
            <a:extLst>
              <a:ext uri="{FF2B5EF4-FFF2-40B4-BE49-F238E27FC236}">
                <a16:creationId xmlns:a16="http://schemas.microsoft.com/office/drawing/2014/main" id="{8BB7DCD4-CF9A-45EC-8FA8-63A21260DBA0}"/>
              </a:ext>
            </a:extLst>
          </p:cNvPr>
          <p:cNvSpPr>
            <a:spLocks noGrp="1"/>
          </p:cNvSpPr>
          <p:nvPr/>
        </p:nvSpPr>
        <p:spPr>
          <a:xfrm>
            <a:off x="1554480" y="1809750"/>
            <a:ext cx="9144000" cy="333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>
            <a:defPPr algn="l">
              <a:defRPr sz="112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  <a:defRPr sz="112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pPr>
            <a:r>
              <a:rPr sz="1125" b="0" i="1" u="none" strike="noStrike" cap="none">
                <a:solidFill>
                  <a:srgbClr val="526486"/>
                </a:solidFill>
                <a:latin typeface="Calibri"/>
                <a:ea typeface="Calibri"/>
                <a:cs typeface="Calibri"/>
              </a:rPr>
              <a:t>[1] WHATWG, “HTML Living Standard.” [Online]. Available: https://html.spec.whatwg.org/. Accessed: Oct. 23, 2026.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  <a:defRPr sz="112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pPr>
            <a:r>
              <a:rPr sz="1125" b="0" i="1" u="none" strike="noStrike" cap="none">
                <a:solidFill>
                  <a:srgbClr val="526486"/>
                </a:solidFill>
                <a:latin typeface="Calibri"/>
                <a:ea typeface="Calibri"/>
                <a:cs typeface="Calibri"/>
              </a:rPr>
              <a:t>[2] Mozilla Developer Network, “HTML Forms.” [Online]. Available: https://developer.mozilla.org/en-US/docs/Learn_web_development/Extensions/Forms. Accessed: Oct. 23, 2026.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  <a:defRPr sz="112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pPr>
            <a:r>
              <a:rPr sz="1125" b="0" i="1" u="none" strike="noStrike" cap="none">
                <a:solidFill>
                  <a:srgbClr val="526486"/>
                </a:solidFill>
                <a:latin typeface="Calibri"/>
                <a:ea typeface="Calibri"/>
                <a:cs typeface="Calibri"/>
              </a:rPr>
              <a:t>[3] Mozilla Developer Network, “CSS: Cascading Style Sheets.” [Online]. Available: https://developer.mozilla.org/en-US/docs/Web/CSS. Accessed: Oct. 23, 2026.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  <a:defRPr sz="112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pPr>
            <a:r>
              <a:rPr sz="1125" b="0" i="1" u="none" strike="noStrike" cap="none">
                <a:solidFill>
                  <a:srgbClr val="526486"/>
                </a:solidFill>
                <a:latin typeface="Calibri"/>
                <a:ea typeface="Calibri"/>
                <a:cs typeface="Calibri"/>
              </a:rPr>
              <a:t>[4] Mozilla Developer Network, “JavaScript Guide.” [Online]. Available: https://developer.mozilla.org/en-US/docs/Web/JavaScript/Guide. Accessed: Oct. 23, 2026.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  <a:defRPr sz="112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pPr>
            <a:r>
              <a:rPr sz="1125" b="0" i="1" u="none" strike="noStrike" cap="none">
                <a:solidFill>
                  <a:srgbClr val="526486"/>
                </a:solidFill>
                <a:latin typeface="Calibri"/>
                <a:ea typeface="Calibri"/>
                <a:cs typeface="Calibri"/>
              </a:rPr>
              <a:t>[5] OWASP Foundation, “Cross-Site Scripting Prevention Cheat Sheet.” [Online]. Available: https://cheatsheetseries.owasp.org/cheatsheets/Cross_Site_Scripting_Prevention_Cheat_Sheet.html. Accessed: Oct. 23, 2026.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  <a:defRPr sz="112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pPr>
            <a:r>
              <a:rPr sz="1125" b="0" i="1" u="none" strike="noStrike" cap="none">
                <a:solidFill>
                  <a:srgbClr val="526486"/>
                </a:solidFill>
                <a:latin typeface="Calibri"/>
                <a:ea typeface="Calibri"/>
                <a:cs typeface="Calibri"/>
              </a:rPr>
              <a:t>[6] W3C, “Web Content Accessibility Guidelines (WCAG) 2.2.” [Online]. Available: https://www.w3.org/TR/WCAG22/. Accessed: Oct. 23, 2026.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  <a:defRPr sz="1125">
                <a:solidFill>
                  <a:srgbClr val="526486"/>
                </a:solidFill>
                <a:latin typeface="Calibri"/>
                <a:ea typeface="Calibri"/>
                <a:cs typeface="Calibri"/>
              </a:defRPr>
            </a:pPr>
            <a:r>
              <a:rPr sz="1125" b="0" i="1" u="none" strike="noStrike" cap="none">
                <a:solidFill>
                  <a:srgbClr val="526486"/>
                </a:solidFill>
                <a:latin typeface="Calibri"/>
                <a:ea typeface="Calibri"/>
                <a:cs typeface="Calibri"/>
              </a:rPr>
              <a:t>[7] Own Demand Service App, “index.html and README.txt,” student project source code, 2026.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9" name="Google Shape;249;p13">
            <a:extLst>
              <a:ext uri="{FF2B5EF4-FFF2-40B4-BE49-F238E27FC236}">
                <a16:creationId xmlns:a16="http://schemas.microsoft.com/office/drawing/2014/main" id="{1BC00FD1-73B0-4B5E-9D28-A059AE314152}"/>
              </a:ext>
            </a:extLst>
          </p:cNvPr>
          <p:cNvSpPr>
            <a:spLocks noGrp="1"/>
          </p:cNvSpPr>
          <p:nvPr/>
        </p:nvSpPr>
        <p:spPr>
          <a:xfrm>
            <a:off x="1554480" y="53949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200"/>
              <a:buFont typeface="Calibri"/>
              <a:buNone/>
            </a:pPr>
            <a:r>
              <a:rPr sz="1200" b="0" i="1" u="none" strike="noStrike" cap="none">
                <a:solidFill>
                  <a:srgbClr val="6B7593"/>
                </a:solidFill>
                <a:latin typeface="Calibri"/>
                <a:ea typeface="Calibri"/>
                <a:cs typeface="Calibri"/>
              </a:rPr>
              <a:t>Technical references were carried over from the supplied project report.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988889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4">
            <a:extLst>
              <a:ext uri="{FF2B5EF4-FFF2-40B4-BE49-F238E27FC236}">
                <a16:creationId xmlns:a16="http://schemas.microsoft.com/office/drawing/2014/main" id="{DE948378-09C6-4DB3-B0B5-9224EDB10B39}"/>
              </a:ext>
            </a:extLst>
          </p:cNvPr>
          <p:cNvSpPr>
            <a:spLocks noGrp="1"/>
          </p:cNvSpPr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4">
            <a:extLst>
              <a:ext uri="{FF2B5EF4-FFF2-40B4-BE49-F238E27FC236}">
                <a16:creationId xmlns:a16="http://schemas.microsoft.com/office/drawing/2014/main" id="{602D8D07-076B-45F8-A02B-A5334D16F0C0}"/>
              </a:ext>
            </a:extLst>
          </p:cNvPr>
          <p:cNvSpPr>
            <a:spLocks noGrp="1"/>
          </p:cNvSpPr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4">
            <a:extLst>
              <a:ext uri="{FF2B5EF4-FFF2-40B4-BE49-F238E27FC236}">
                <a16:creationId xmlns:a16="http://schemas.microsoft.com/office/drawing/2014/main" id="{BC454EB3-B635-4D01-920F-31073CE8C381}"/>
              </a:ext>
            </a:extLst>
          </p:cNvPr>
          <p:cNvSpPr>
            <a:spLocks noGrp="1"/>
          </p:cNvSpPr>
          <p:nvPr/>
        </p:nvSpPr>
        <p:spPr>
          <a:xfrm>
            <a:off x="914400" y="2468880"/>
            <a:ext cx="1036015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sz="4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THANK YOU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8" name="Google Shape;258;p14">
            <a:extLst>
              <a:ext uri="{FF2B5EF4-FFF2-40B4-BE49-F238E27FC236}">
                <a16:creationId xmlns:a16="http://schemas.microsoft.com/office/drawing/2014/main" id="{382B10B2-C019-45CB-B29D-C2A030F0A208}"/>
              </a:ext>
            </a:extLst>
          </p:cNvPr>
          <p:cNvSpPr>
            <a:spLocks noGrp="1"/>
          </p:cNvSpPr>
          <p:nvPr/>
        </p:nvSpPr>
        <p:spPr>
          <a:xfrm>
            <a:off x="914400" y="3383280"/>
            <a:ext cx="103601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CFE3EE"/>
              </a:buClr>
              <a:buSzPts val="1800"/>
              <a:buFont typeface="Calibri"/>
              <a:buNone/>
            </a:pPr>
            <a:r>
              <a:rPr sz="1800" b="0" i="0" u="none" strike="noStrike" cap="none">
                <a:solidFill>
                  <a:srgbClr val="CFE3EE"/>
                </a:solidFill>
                <a:latin typeface="Calibri"/>
                <a:ea typeface="Calibri"/>
                <a:cs typeface="Calibri"/>
              </a:rPr>
              <a:t>Questions &amp; suggestions are welcome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9" name="Google Shape;259;p14">
            <a:extLst>
              <a:ext uri="{FF2B5EF4-FFF2-40B4-BE49-F238E27FC236}">
                <a16:creationId xmlns:a16="http://schemas.microsoft.com/office/drawing/2014/main" id="{EBD573E5-91A5-4EBE-B186-4371E5D0A146}"/>
              </a:ext>
            </a:extLst>
          </p:cNvPr>
          <p:cNvSpPr>
            <a:spLocks noGrp="1"/>
          </p:cNvSpPr>
          <p:nvPr/>
        </p:nvSpPr>
        <p:spPr>
          <a:xfrm>
            <a:off x="914400" y="4754880"/>
            <a:ext cx="1036015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1300"/>
              <a:buFont typeface="Calibri"/>
              <a:buNone/>
            </a:pPr>
            <a:r>
              <a:rPr sz="1300" b="0" i="0" u="none" strike="noStrike" cap="none">
                <a:solidFill>
                  <a:srgbClr val="9FB3C8"/>
                </a:solidFill>
                <a:latin typeface="Calibri"/>
                <a:ea typeface="Calibri"/>
                <a:cs typeface="Calibri"/>
              </a:rPr>
              <a:t>Lloyd Institute of Engineering &amp; Technology, Greater Noida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5809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1492</Words>
  <Application>Microsoft Office PowerPoint</Application>
  <DocSecurity>0</DocSecurity>
  <PresentationFormat>Widescreen</PresentationFormat>
  <Paragraphs>238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sushant kumar</cp:lastModifiedBy>
  <cp:revision>1</cp:revision>
  <dcterms:created xsi:type="dcterms:W3CDTF">2026-10-23T19:31:31Z</dcterms:created>
  <dcterms:modified xsi:type="dcterms:W3CDTF">2026-10-23T19:35:04Z</dcterms:modified>
</cp:coreProperties>
</file>