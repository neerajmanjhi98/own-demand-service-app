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 marR="0" algn="l">
      <a:lnSpc>
        <a:spcPct val="100000"/>
      </a:lnSpc>
      <a:spcBef>
        <a:spcPts val="0"/>
      </a:spcBef>
      <a:spcAft>
        <a:spcPts val="0"/>
      </a:spcAft>
      <a:buNone/>
    </a:defPPr>
    <a:lvl1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1pPr>
    <a:lvl2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2pPr>
    <a:lvl3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3pPr>
    <a:lvl4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4pPr>
    <a:lvl5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5pPr>
    <a:lvl6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6pPr>
    <a:lvl7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7pPr>
    <a:lvl8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8pPr>
    <a:lvl9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B91DE8E-7D31-4855-8ECD-A43F555BC76C}">
  <a:tblStyle styleId="{0B91DE8E-7D31-4855-8ECD-A43F555BC76C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7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>
            <a:extLst>
              <a:ext uri="{FF2B5EF4-FFF2-40B4-BE49-F238E27FC236}">
                <a16:creationId xmlns:a16="http://schemas.microsoft.com/office/drawing/2014/main" id="{BA8F80F9-60EB-4711-AE88-3AAD9CE58BD3}"/>
              </a:ext>
            </a:extLst>
          </p:cNvPr>
          <p:cNvSpPr>
            <a:spLocks noGrp="1"/>
          </p:cNvSpPr>
          <p:nvPr/>
        </p:nvSpPr>
        <p:spPr>
          <a:xfrm>
            <a:off x="10424160" y="-1463040"/>
            <a:ext cx="3108960" cy="3108960"/>
          </a:xfrm>
          <a:prstGeom prst="ellipse">
            <a:avLst/>
          </a:prstGeom>
          <a:solidFill>
            <a:srgbClr val="1C7293">
              <a:alpha val="18039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Google Shape;17;p3">
            <a:extLst>
              <a:ext uri="{FF2B5EF4-FFF2-40B4-BE49-F238E27FC236}">
                <a16:creationId xmlns:a16="http://schemas.microsoft.com/office/drawing/2014/main" id="{904B995C-A975-4748-951B-777D807EED56}"/>
              </a:ext>
            </a:extLst>
          </p:cNvPr>
          <p:cNvSpPr>
            <a:spLocks noGrp="1"/>
          </p:cNvSpPr>
          <p:nvPr/>
        </p:nvSpPr>
        <p:spPr>
          <a:xfrm>
            <a:off x="-1097280" y="5669280"/>
            <a:ext cx="2194560" cy="2194560"/>
          </a:xfrm>
          <a:prstGeom prst="ellipse">
            <a:avLst/>
          </a:prstGeom>
          <a:solidFill>
            <a:srgbClr val="CFE3EE">
              <a:alpha val="10196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Google Shape;18;p3">
            <a:extLst>
              <a:ext uri="{FF2B5EF4-FFF2-40B4-BE49-F238E27FC236}">
                <a16:creationId xmlns:a16="http://schemas.microsoft.com/office/drawing/2014/main" id="{BD25D54C-4E39-468C-BC37-521CE3AC2B88}"/>
              </a:ext>
            </a:extLst>
          </p:cNvPr>
          <p:cNvSpPr>
            <a:spLocks noGrp="1"/>
          </p:cNvSpPr>
          <p:nvPr/>
        </p:nvSpPr>
        <p:spPr>
          <a:xfrm>
            <a:off x="914400" y="1691640"/>
            <a:ext cx="103601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sz="27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LLOYD INSTITUTE OF ENGINEERING &amp; TECHNOLOGY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" name="Google Shape;19;p3">
            <a:extLst>
              <a:ext uri="{FF2B5EF4-FFF2-40B4-BE49-F238E27FC236}">
                <a16:creationId xmlns:a16="http://schemas.microsoft.com/office/drawing/2014/main" id="{ADB99ADC-F3B6-47E0-8420-137812B99C82}"/>
              </a:ext>
            </a:extLst>
          </p:cNvPr>
          <p:cNvSpPr>
            <a:spLocks noGrp="1"/>
          </p:cNvSpPr>
          <p:nvPr/>
        </p:nvSpPr>
        <p:spPr>
          <a:xfrm>
            <a:off x="914400" y="2114821"/>
            <a:ext cx="10360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E3EE"/>
              </a:buClr>
              <a:buSzPts val="1250"/>
              <a:buFont typeface="Calibri"/>
              <a:buNone/>
            </a:pPr>
            <a:r>
              <a:rPr sz="1750" b="0" i="0" u="none" strike="noStrike" cap="none">
                <a:solidFill>
                  <a:srgbClr val="CFE3EE"/>
                </a:solidFill>
                <a:latin typeface="Calibri"/>
                <a:ea typeface="Calibri"/>
                <a:cs typeface="Calibri"/>
              </a:rPr>
              <a:t>Department of Computer Science &amp; Engineering (Data Science)</a:t>
            </a:r>
            <a:endParaRPr sz="1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" name="Google Shape;20;p3">
            <a:extLst>
              <a:ext uri="{FF2B5EF4-FFF2-40B4-BE49-F238E27FC236}">
                <a16:creationId xmlns:a16="http://schemas.microsoft.com/office/drawing/2014/main" id="{3C381EC4-9E3C-421E-956F-A206DEFDE403}"/>
              </a:ext>
            </a:extLst>
          </p:cNvPr>
          <p:cNvSpPr>
            <a:spLocks noGrp="1"/>
          </p:cNvSpPr>
          <p:nvPr/>
        </p:nvSpPr>
        <p:spPr>
          <a:xfrm>
            <a:off x="914400" y="2715775"/>
            <a:ext cx="103602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B6CE"/>
              </a:buClr>
              <a:buSzPts val="1200"/>
              <a:buFont typeface="Calibri"/>
              <a:buNone/>
            </a:pPr>
            <a:r>
              <a:rPr sz="2000" b="1" i="0" u="none" strike="noStrike" cap="none">
                <a:solidFill>
                  <a:srgbClr val="6FB6CE"/>
                </a:solidFill>
                <a:latin typeface="Calibri"/>
                <a:ea typeface="Calibri"/>
                <a:cs typeface="Calibri"/>
              </a:rPr>
              <a:t>B.TECH IV YEAR MINI PROJECT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" name="Google Shape;21;p3">
            <a:extLst>
              <a:ext uri="{FF2B5EF4-FFF2-40B4-BE49-F238E27FC236}">
                <a16:creationId xmlns:a16="http://schemas.microsoft.com/office/drawing/2014/main" id="{8431744F-4CD1-495C-9476-C4626A945EAE}"/>
              </a:ext>
            </a:extLst>
          </p:cNvPr>
          <p:cNvSpPr>
            <a:spLocks noGrp="1"/>
          </p:cNvSpPr>
          <p:nvPr/>
        </p:nvSpPr>
        <p:spPr>
          <a:xfrm>
            <a:off x="1280160" y="3200400"/>
            <a:ext cx="9628632" cy="1371600"/>
          </a:xfrm>
          <a:prstGeom prst="roundRect">
            <a:avLst>
              <a:gd name="adj" fmla="val 8000"/>
            </a:avLst>
          </a:prstGeom>
          <a:solidFill>
            <a:srgbClr val="FFFFFF">
              <a:alpha val="5882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Google Shape;22;p3">
            <a:extLst>
              <a:ext uri="{FF2B5EF4-FFF2-40B4-BE49-F238E27FC236}">
                <a16:creationId xmlns:a16="http://schemas.microsoft.com/office/drawing/2014/main" id="{BCD4BC97-D3CF-4920-B683-FEAACBF45BE2}"/>
              </a:ext>
            </a:extLst>
          </p:cNvPr>
          <p:cNvSpPr>
            <a:spLocks noGrp="1"/>
          </p:cNvSpPr>
          <p:nvPr/>
        </p:nvSpPr>
        <p:spPr>
          <a:xfrm>
            <a:off x="1463040" y="3200400"/>
            <a:ext cx="9262872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sz="26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OWN DEMAND SERVICE APP</a:t>
            </a:r>
            <a:endParaRPr/>
          </a:p>
          <a:p>
            <a:pPr marL="0" marR="0" lvl="0" indent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sz="1600" b="0" i="0" u="none" strike="noStrike" cap="none">
                <a:solidFill>
                  <a:srgbClr val="DCE6F2"/>
                </a:solidFill>
                <a:latin typeface="Calibri"/>
                <a:ea typeface="Calibri"/>
                <a:cs typeface="Calibri"/>
              </a:rPr>
              <a:t>A Web-Based Platform for Household Services</a:t>
            </a:r>
            <a:endParaRPr/>
          </a:p>
        </p:txBody>
      </p:sp>
      <p:sp>
        <p:nvSpPr>
          <p:cNvPr id="23" name="Google Shape;23;p3">
            <a:extLst>
              <a:ext uri="{FF2B5EF4-FFF2-40B4-BE49-F238E27FC236}">
                <a16:creationId xmlns:a16="http://schemas.microsoft.com/office/drawing/2014/main" id="{BDD8299E-0552-48B8-80CD-D3AD26365C2A}"/>
              </a:ext>
            </a:extLst>
          </p:cNvPr>
          <p:cNvSpPr>
            <a:spLocks noGrp="1"/>
          </p:cNvSpPr>
          <p:nvPr/>
        </p:nvSpPr>
        <p:spPr>
          <a:xfrm>
            <a:off x="914400" y="4709160"/>
            <a:ext cx="10360152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E3EE"/>
              </a:buClr>
              <a:buSzPts val="1300"/>
              <a:buFont typeface="Calibri"/>
              <a:buNone/>
            </a:pPr>
            <a:r>
              <a:rPr sz="1500" i="1">
                <a:solidFill>
                  <a:srgbClr val="CFE3EE"/>
                </a:solidFill>
                <a:latin typeface="Calibri"/>
                <a:ea typeface="Calibri"/>
                <a:cs typeface="Calibri"/>
              </a:rPr>
              <a:t>Mini Project Presentation  |  Academic Session 2026–27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24" name="Google Shape;24;p3">
            <a:extLst>
              <a:ext uri="{FF2B5EF4-FFF2-40B4-BE49-F238E27FC236}">
                <a16:creationId xmlns:a16="http://schemas.microsoft.com/office/drawing/2014/main" id="{088F7390-62BA-4B3D-A6C5-2ED47B253C6B}"/>
              </a:ext>
            </a:extLst>
          </p:cNvPr>
          <p:cNvCxnSpPr/>
          <p:nvPr/>
        </p:nvCxnSpPr>
        <p:spPr>
          <a:xfrm>
            <a:off x="6094476" y="5257800"/>
            <a:ext cx="0" cy="1188720"/>
          </a:xfrm>
          <a:prstGeom prst="straightConnector1">
            <a:avLst/>
          </a:prstGeom>
          <a:ln w="9525" cap="flat">
            <a:solidFill>
              <a:srgbClr val="FFFFFF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" name="Google Shape;25;p3">
            <a:extLst>
              <a:ext uri="{FF2B5EF4-FFF2-40B4-BE49-F238E27FC236}">
                <a16:creationId xmlns:a16="http://schemas.microsoft.com/office/drawing/2014/main" id="{2E0BD057-D397-49C1-AABC-58CF568F2058}"/>
              </a:ext>
            </a:extLst>
          </p:cNvPr>
          <p:cNvSpPr>
            <a:spLocks noGrp="1"/>
          </p:cNvSpPr>
          <p:nvPr/>
        </p:nvSpPr>
        <p:spPr>
          <a:xfrm>
            <a:off x="914400" y="530352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B6CE"/>
              </a:buClr>
              <a:buSzPts val="1050"/>
              <a:buFont typeface="Calibri"/>
              <a:buNone/>
            </a:pPr>
            <a:r>
              <a:rPr sz="1150" b="1" i="0" u="none" strike="noStrike" cap="none">
                <a:solidFill>
                  <a:srgbClr val="6FB6CE"/>
                </a:solidFill>
                <a:latin typeface="Calibri"/>
                <a:ea typeface="Calibri"/>
                <a:cs typeface="Calibri"/>
              </a:rPr>
              <a:t>PROJECT GUIDE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" name="Google Shape;26;p3">
            <a:extLst>
              <a:ext uri="{FF2B5EF4-FFF2-40B4-BE49-F238E27FC236}">
                <a16:creationId xmlns:a16="http://schemas.microsoft.com/office/drawing/2014/main" id="{C6B63FAE-6D8D-4717-B10D-39B218FBD8FB}"/>
              </a:ext>
            </a:extLst>
          </p:cNvPr>
          <p:cNvSpPr>
            <a:spLocks noGrp="1"/>
          </p:cNvSpPr>
          <p:nvPr/>
        </p:nvSpPr>
        <p:spPr>
          <a:xfrm>
            <a:off x="914400" y="5577840"/>
            <a:ext cx="44805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40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Dr. Alankrita Agarwal</a:t>
            </a:r>
            <a:endParaRPr sz="140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" name="Google Shape;27;p3">
            <a:extLst>
              <a:ext uri="{FF2B5EF4-FFF2-40B4-BE49-F238E27FC236}">
                <a16:creationId xmlns:a16="http://schemas.microsoft.com/office/drawing/2014/main" id="{A98DB095-6BCF-4E6D-BBB1-B6E5A95CDC41}"/>
              </a:ext>
            </a:extLst>
          </p:cNvPr>
          <p:cNvSpPr>
            <a:spLocks noGrp="1"/>
          </p:cNvSpPr>
          <p:nvPr/>
        </p:nvSpPr>
        <p:spPr>
          <a:xfrm>
            <a:off x="914400" y="5989320"/>
            <a:ext cx="44805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E3EE"/>
              </a:buClr>
              <a:buSzPts val="1100"/>
              <a:buFont typeface="Calibri"/>
              <a:buNone/>
            </a:pPr>
            <a:r>
              <a:rPr sz="1200" b="0" i="0" u="none" strike="noStrike" cap="none">
                <a:solidFill>
                  <a:srgbClr val="CFE3EE"/>
                </a:solidFill>
                <a:latin typeface="Calibri"/>
                <a:ea typeface="Calibri"/>
                <a:cs typeface="Calibri"/>
              </a:rPr>
              <a:t>Department of Computer Science &amp; Engineering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" name="Google Shape;28;p3">
            <a:extLst>
              <a:ext uri="{FF2B5EF4-FFF2-40B4-BE49-F238E27FC236}">
                <a16:creationId xmlns:a16="http://schemas.microsoft.com/office/drawing/2014/main" id="{7C559CE5-CA26-4884-9F79-37C290F11727}"/>
              </a:ext>
            </a:extLst>
          </p:cNvPr>
          <p:cNvSpPr>
            <a:spLocks noGrp="1"/>
          </p:cNvSpPr>
          <p:nvPr/>
        </p:nvSpPr>
        <p:spPr>
          <a:xfrm>
            <a:off x="8229725" y="5303525"/>
            <a:ext cx="31089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B6CE"/>
              </a:buClr>
              <a:buSzPts val="1050"/>
              <a:buFont typeface="Calibri"/>
              <a:buNone/>
            </a:pPr>
            <a:r>
              <a:rPr sz="1250" b="1" i="0" u="none" strike="noStrike" cap="none">
                <a:solidFill>
                  <a:srgbClr val="6FB6CE"/>
                </a:solidFill>
                <a:latin typeface="Calibri"/>
                <a:ea typeface="Calibri"/>
                <a:cs typeface="Calibri"/>
              </a:rPr>
              <a:t>SUBMITTED BY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" name="Google Shape;29;p3">
            <a:extLst>
              <a:ext uri="{FF2B5EF4-FFF2-40B4-BE49-F238E27FC236}">
                <a16:creationId xmlns:a16="http://schemas.microsoft.com/office/drawing/2014/main" id="{3AE98691-B751-4B3F-9DF2-1A5331389B79}"/>
              </a:ext>
            </a:extLst>
          </p:cNvPr>
          <p:cNvSpPr>
            <a:spLocks noGrp="1"/>
          </p:cNvSpPr>
          <p:nvPr/>
        </p:nvSpPr>
        <p:spPr>
          <a:xfrm>
            <a:off x="8229500" y="5577850"/>
            <a:ext cx="3108900" cy="100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rmAutofit/>
          </a:bodyPr>
          <a:lstStyle>
            <a:defPPr algn="l"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marR="0" lvl="0" indent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lang="en-US" dirty="0"/>
              <a:t>Neeraj Manjhi</a:t>
            </a:r>
            <a:endParaRPr sz="12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Roll No.: 23015315400</a:t>
            </a:r>
            <a:r>
              <a:rPr lang="en-US" sz="12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26</a:t>
            </a:r>
            <a:endParaRPr sz="12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Year IV  |  Section E</a:t>
            </a:r>
            <a:endParaRPr sz="12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30" name="Google Shape;30;p3">
            <a:extLst>
              <a:ext uri="{FF2B5EF4-FFF2-40B4-BE49-F238E27FC236}">
                <a16:creationId xmlns:a16="http://schemas.microsoft.com/office/drawing/2014/main" id="{9426E366-4077-4EFA-84F3-624814E00BE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91563" y="424800"/>
            <a:ext cx="1005835" cy="99862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71526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">
            <a:extLst>
              <a:ext uri="{FF2B5EF4-FFF2-40B4-BE49-F238E27FC236}">
                <a16:creationId xmlns:a16="http://schemas.microsoft.com/office/drawing/2014/main" id="{D0F65CE4-645E-4BFD-9DB2-79A4EA7720C4}"/>
              </a:ext>
            </a:extLst>
          </p:cNvPr>
          <p:cNvSpPr>
            <a:spLocks noGrp="1"/>
          </p:cNvSpPr>
          <p:nvPr/>
        </p:nvSpPr>
        <p:spPr>
          <a:xfrm>
            <a:off x="10424160" y="-1463040"/>
            <a:ext cx="3108960" cy="3108960"/>
          </a:xfrm>
          <a:prstGeom prst="ellipse">
            <a:avLst/>
          </a:prstGeom>
          <a:solidFill>
            <a:srgbClr val="1C7293">
              <a:alpha val="7843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" name="Google Shape;37;p4">
            <a:extLst>
              <a:ext uri="{FF2B5EF4-FFF2-40B4-BE49-F238E27FC236}">
                <a16:creationId xmlns:a16="http://schemas.microsoft.com/office/drawing/2014/main" id="{6D531FFD-3F3E-484C-AEEA-58A8225FDD90}"/>
              </a:ext>
            </a:extLst>
          </p:cNvPr>
          <p:cNvSpPr>
            <a:spLocks noGrp="1"/>
          </p:cNvSpPr>
          <p:nvPr/>
        </p:nvSpPr>
        <p:spPr>
          <a:xfrm>
            <a:off x="-1097280" y="5669280"/>
            <a:ext cx="2194560" cy="2194560"/>
          </a:xfrm>
          <a:prstGeom prst="ellipse">
            <a:avLst/>
          </a:prstGeom>
          <a:solidFill>
            <a:srgbClr val="21295C">
              <a:alpha val="5098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" name="Google Shape;38;p4">
            <a:extLst>
              <a:ext uri="{FF2B5EF4-FFF2-40B4-BE49-F238E27FC236}">
                <a16:creationId xmlns:a16="http://schemas.microsoft.com/office/drawing/2014/main" id="{A412933D-B1F7-4FBB-BFE5-18D4CD6DA7AB}"/>
              </a:ext>
            </a:extLst>
          </p:cNvPr>
          <p:cNvSpPr>
            <a:spLocks noGrp="1"/>
          </p:cNvSpPr>
          <p:nvPr/>
        </p:nvSpPr>
        <p:spPr>
          <a:xfrm>
            <a:off x="502920" y="457200"/>
            <a:ext cx="530352" cy="530352"/>
          </a:xfrm>
          <a:prstGeom prst="roundRect">
            <a:avLst>
              <a:gd name="adj" fmla="val 20690"/>
            </a:avLst>
          </a:prstGeom>
          <a:solidFill>
            <a:srgbClr val="21295C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" name="Google Shape;39;p4">
            <a:extLst>
              <a:ext uri="{FF2B5EF4-FFF2-40B4-BE49-F238E27FC236}">
                <a16:creationId xmlns:a16="http://schemas.microsoft.com/office/drawing/2014/main" id="{6E20C02C-4B01-4987-B70C-EAFBF8A3331B}"/>
              </a:ext>
            </a:extLst>
          </p:cNvPr>
          <p:cNvSpPr>
            <a:spLocks noGrp="1"/>
          </p:cNvSpPr>
          <p:nvPr/>
        </p:nvSpPr>
        <p:spPr>
          <a:xfrm>
            <a:off x="502920" y="45720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01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0" name="Google Shape;40;p4">
            <a:extLst>
              <a:ext uri="{FF2B5EF4-FFF2-40B4-BE49-F238E27FC236}">
                <a16:creationId xmlns:a16="http://schemas.microsoft.com/office/drawing/2014/main" id="{4D147895-B992-4794-B238-33CA6086A331}"/>
              </a:ext>
            </a:extLst>
          </p:cNvPr>
          <p:cNvSpPr>
            <a:spLocks noGrp="1"/>
          </p:cNvSpPr>
          <p:nvPr/>
        </p:nvSpPr>
        <p:spPr>
          <a:xfrm>
            <a:off x="1234440" y="4297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sz="1100" b="1" i="0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PROJECT FLOW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1" name="Google Shape;41;p4">
            <a:extLst>
              <a:ext uri="{FF2B5EF4-FFF2-40B4-BE49-F238E27FC236}">
                <a16:creationId xmlns:a16="http://schemas.microsoft.com/office/drawing/2014/main" id="{4898F65C-5353-4924-929B-0BAE35494C68}"/>
              </a:ext>
            </a:extLst>
          </p:cNvPr>
          <p:cNvSpPr>
            <a:spLocks noGrp="1"/>
          </p:cNvSpPr>
          <p:nvPr/>
        </p:nvSpPr>
        <p:spPr>
          <a:xfrm>
            <a:off x="1234440" y="676656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sz="3000" b="1" i="0" u="none" strike="noStrike" cap="none">
                <a:solidFill>
                  <a:srgbClr val="21295C"/>
                </a:solidFill>
                <a:latin typeface="Cambria"/>
                <a:ea typeface="Cambria"/>
                <a:cs typeface="Cambria"/>
              </a:rPr>
              <a:t>Project Presentation Agenda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2" name="Google Shape;42;p4">
            <a:extLst>
              <a:ext uri="{FF2B5EF4-FFF2-40B4-BE49-F238E27FC236}">
                <a16:creationId xmlns:a16="http://schemas.microsoft.com/office/drawing/2014/main" id="{31420A9D-14D1-4BCD-94C4-19E5367C8D1C}"/>
              </a:ext>
            </a:extLst>
          </p:cNvPr>
          <p:cNvSpPr>
            <a:spLocks noGrp="1"/>
          </p:cNvSpPr>
          <p:nvPr/>
        </p:nvSpPr>
        <p:spPr>
          <a:xfrm>
            <a:off x="914400" y="1600200"/>
            <a:ext cx="420624" cy="420624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" name="Google Shape;43;p4">
            <a:extLst>
              <a:ext uri="{FF2B5EF4-FFF2-40B4-BE49-F238E27FC236}">
                <a16:creationId xmlns:a16="http://schemas.microsoft.com/office/drawing/2014/main" id="{19E616C6-D314-46E7-B7A8-F5F3142E8F79}"/>
              </a:ext>
            </a:extLst>
          </p:cNvPr>
          <p:cNvSpPr>
            <a:spLocks noGrp="1"/>
          </p:cNvSpPr>
          <p:nvPr/>
        </p:nvSpPr>
        <p:spPr>
          <a:xfrm>
            <a:off x="914400" y="160020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4" name="Google Shape;44;p4">
            <a:extLst>
              <a:ext uri="{FF2B5EF4-FFF2-40B4-BE49-F238E27FC236}">
                <a16:creationId xmlns:a16="http://schemas.microsoft.com/office/drawing/2014/main" id="{437B9CA1-42DD-41B0-AA8E-6D66D598A64C}"/>
              </a:ext>
            </a:extLst>
          </p:cNvPr>
          <p:cNvSpPr>
            <a:spLocks noGrp="1"/>
          </p:cNvSpPr>
          <p:nvPr/>
        </p:nvSpPr>
        <p:spPr>
          <a:xfrm>
            <a:off x="1536192" y="1581912"/>
            <a:ext cx="4297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600"/>
              <a:buFont typeface="Calibri"/>
              <a:buNone/>
            </a:pPr>
            <a:r>
              <a:rPr sz="1600" b="1" i="0" u="none" strike="noStrike" cap="none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Project Overview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5" name="Google Shape;45;p4">
            <a:extLst>
              <a:ext uri="{FF2B5EF4-FFF2-40B4-BE49-F238E27FC236}">
                <a16:creationId xmlns:a16="http://schemas.microsoft.com/office/drawing/2014/main" id="{910E1260-3490-4912-81CC-27640990899C}"/>
              </a:ext>
            </a:extLst>
          </p:cNvPr>
          <p:cNvSpPr>
            <a:spLocks noGrp="1"/>
          </p:cNvSpPr>
          <p:nvPr/>
        </p:nvSpPr>
        <p:spPr>
          <a:xfrm>
            <a:off x="914400" y="2258568"/>
            <a:ext cx="420624" cy="420624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" name="Google Shape;46;p4">
            <a:extLst>
              <a:ext uri="{FF2B5EF4-FFF2-40B4-BE49-F238E27FC236}">
                <a16:creationId xmlns:a16="http://schemas.microsoft.com/office/drawing/2014/main" id="{260C5985-8C1F-4695-AA46-2C8DBA9A7A00}"/>
              </a:ext>
            </a:extLst>
          </p:cNvPr>
          <p:cNvSpPr>
            <a:spLocks noGrp="1"/>
          </p:cNvSpPr>
          <p:nvPr/>
        </p:nvSpPr>
        <p:spPr>
          <a:xfrm>
            <a:off x="914400" y="2258568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7" name="Google Shape;47;p4">
            <a:extLst>
              <a:ext uri="{FF2B5EF4-FFF2-40B4-BE49-F238E27FC236}">
                <a16:creationId xmlns:a16="http://schemas.microsoft.com/office/drawing/2014/main" id="{9983B8AD-D9F8-44E7-B581-1AB3DA6A8F55}"/>
              </a:ext>
            </a:extLst>
          </p:cNvPr>
          <p:cNvSpPr>
            <a:spLocks noGrp="1"/>
          </p:cNvSpPr>
          <p:nvPr/>
        </p:nvSpPr>
        <p:spPr>
          <a:xfrm>
            <a:off x="1536192" y="2240280"/>
            <a:ext cx="4297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600"/>
              <a:buFont typeface="Calibri"/>
              <a:buNone/>
            </a:pPr>
            <a:r>
              <a:rPr sz="1600" b="1" i="0" u="none" strike="noStrike" cap="none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Objectives &amp; Scope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8" name="Google Shape;48;p4">
            <a:extLst>
              <a:ext uri="{FF2B5EF4-FFF2-40B4-BE49-F238E27FC236}">
                <a16:creationId xmlns:a16="http://schemas.microsoft.com/office/drawing/2014/main" id="{F59D946D-334C-4C87-84A2-1B68FF7E9BC7}"/>
              </a:ext>
            </a:extLst>
          </p:cNvPr>
          <p:cNvSpPr>
            <a:spLocks noGrp="1"/>
          </p:cNvSpPr>
          <p:nvPr/>
        </p:nvSpPr>
        <p:spPr>
          <a:xfrm>
            <a:off x="914400" y="2916936"/>
            <a:ext cx="420624" cy="420624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" name="Google Shape;49;p4">
            <a:extLst>
              <a:ext uri="{FF2B5EF4-FFF2-40B4-BE49-F238E27FC236}">
                <a16:creationId xmlns:a16="http://schemas.microsoft.com/office/drawing/2014/main" id="{8A3E8E58-9D35-49E9-8A5C-835D9F24AD73}"/>
              </a:ext>
            </a:extLst>
          </p:cNvPr>
          <p:cNvSpPr>
            <a:spLocks noGrp="1"/>
          </p:cNvSpPr>
          <p:nvPr/>
        </p:nvSpPr>
        <p:spPr>
          <a:xfrm>
            <a:off x="914400" y="2916936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0" name="Google Shape;50;p4">
            <a:extLst>
              <a:ext uri="{FF2B5EF4-FFF2-40B4-BE49-F238E27FC236}">
                <a16:creationId xmlns:a16="http://schemas.microsoft.com/office/drawing/2014/main" id="{DAF481E8-00B0-4E54-ABA6-EA7C9CC761E5}"/>
              </a:ext>
            </a:extLst>
          </p:cNvPr>
          <p:cNvSpPr>
            <a:spLocks noGrp="1"/>
          </p:cNvSpPr>
          <p:nvPr/>
        </p:nvSpPr>
        <p:spPr>
          <a:xfrm>
            <a:off x="1536192" y="2898648"/>
            <a:ext cx="4297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600"/>
              <a:buFont typeface="Calibri"/>
              <a:buNone/>
            </a:pPr>
            <a:r>
              <a:rPr sz="1600" b="1" i="0" u="none" strike="noStrike" cap="none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Technology Stack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1" name="Google Shape;51;p4">
            <a:extLst>
              <a:ext uri="{FF2B5EF4-FFF2-40B4-BE49-F238E27FC236}">
                <a16:creationId xmlns:a16="http://schemas.microsoft.com/office/drawing/2014/main" id="{3D2EABBD-BE7D-4672-8E77-F9458A0C7068}"/>
              </a:ext>
            </a:extLst>
          </p:cNvPr>
          <p:cNvSpPr>
            <a:spLocks noGrp="1"/>
          </p:cNvSpPr>
          <p:nvPr/>
        </p:nvSpPr>
        <p:spPr>
          <a:xfrm>
            <a:off x="914400" y="3575304"/>
            <a:ext cx="420624" cy="420624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" name="Google Shape;52;p4">
            <a:extLst>
              <a:ext uri="{FF2B5EF4-FFF2-40B4-BE49-F238E27FC236}">
                <a16:creationId xmlns:a16="http://schemas.microsoft.com/office/drawing/2014/main" id="{EE4DFDF3-B0F9-443E-A969-CC7031E22568}"/>
              </a:ext>
            </a:extLst>
          </p:cNvPr>
          <p:cNvSpPr>
            <a:spLocks noGrp="1"/>
          </p:cNvSpPr>
          <p:nvPr/>
        </p:nvSpPr>
        <p:spPr>
          <a:xfrm>
            <a:off x="914400" y="3575304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3" name="Google Shape;53;p4">
            <a:extLst>
              <a:ext uri="{FF2B5EF4-FFF2-40B4-BE49-F238E27FC236}">
                <a16:creationId xmlns:a16="http://schemas.microsoft.com/office/drawing/2014/main" id="{E3C6681D-40D5-4249-AACC-F2BC2CB7E3E6}"/>
              </a:ext>
            </a:extLst>
          </p:cNvPr>
          <p:cNvSpPr>
            <a:spLocks noGrp="1"/>
          </p:cNvSpPr>
          <p:nvPr/>
        </p:nvSpPr>
        <p:spPr>
          <a:xfrm>
            <a:off x="1536192" y="3557016"/>
            <a:ext cx="4297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600"/>
              <a:buFont typeface="Calibri"/>
              <a:buNone/>
            </a:pPr>
            <a:r>
              <a:rPr sz="1600" b="1" i="0" u="none" strike="noStrike" cap="none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Design &amp; Development Stages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4" name="Google Shape;54;p4">
            <a:extLst>
              <a:ext uri="{FF2B5EF4-FFF2-40B4-BE49-F238E27FC236}">
                <a16:creationId xmlns:a16="http://schemas.microsoft.com/office/drawing/2014/main" id="{EE5C97CD-2B3C-42D4-BD02-5794EEB2FF4B}"/>
              </a:ext>
            </a:extLst>
          </p:cNvPr>
          <p:cNvSpPr>
            <a:spLocks noGrp="1"/>
          </p:cNvSpPr>
          <p:nvPr/>
        </p:nvSpPr>
        <p:spPr>
          <a:xfrm>
            <a:off x="6309360" y="1600200"/>
            <a:ext cx="420624" cy="420624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" name="Google Shape;55;p4">
            <a:extLst>
              <a:ext uri="{FF2B5EF4-FFF2-40B4-BE49-F238E27FC236}">
                <a16:creationId xmlns:a16="http://schemas.microsoft.com/office/drawing/2014/main" id="{E9BFB68C-F042-4377-B0F3-70E46585789C}"/>
              </a:ext>
            </a:extLst>
          </p:cNvPr>
          <p:cNvSpPr>
            <a:spLocks noGrp="1"/>
          </p:cNvSpPr>
          <p:nvPr/>
        </p:nvSpPr>
        <p:spPr>
          <a:xfrm>
            <a:off x="6309360" y="160020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6" name="Google Shape;56;p4">
            <a:extLst>
              <a:ext uri="{FF2B5EF4-FFF2-40B4-BE49-F238E27FC236}">
                <a16:creationId xmlns:a16="http://schemas.microsoft.com/office/drawing/2014/main" id="{F9E8DA87-5D35-405A-95B2-A578FE9F727F}"/>
              </a:ext>
            </a:extLst>
          </p:cNvPr>
          <p:cNvSpPr>
            <a:spLocks noGrp="1"/>
          </p:cNvSpPr>
          <p:nvPr/>
        </p:nvSpPr>
        <p:spPr>
          <a:xfrm>
            <a:off x="6931152" y="1581912"/>
            <a:ext cx="4297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600"/>
              <a:buFont typeface="Calibri"/>
              <a:buNone/>
            </a:pPr>
            <a:r>
              <a:rPr sz="1600" b="1" i="0" u="none" strike="noStrike" cap="none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Booking Workflow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7" name="Google Shape;57;p4">
            <a:extLst>
              <a:ext uri="{FF2B5EF4-FFF2-40B4-BE49-F238E27FC236}">
                <a16:creationId xmlns:a16="http://schemas.microsoft.com/office/drawing/2014/main" id="{AF3B5F88-4F57-4995-BD04-351334741ECD}"/>
              </a:ext>
            </a:extLst>
          </p:cNvPr>
          <p:cNvSpPr>
            <a:spLocks noGrp="1"/>
          </p:cNvSpPr>
          <p:nvPr/>
        </p:nvSpPr>
        <p:spPr>
          <a:xfrm>
            <a:off x="6309360" y="2258568"/>
            <a:ext cx="420624" cy="420624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" name="Google Shape;58;p4">
            <a:extLst>
              <a:ext uri="{FF2B5EF4-FFF2-40B4-BE49-F238E27FC236}">
                <a16:creationId xmlns:a16="http://schemas.microsoft.com/office/drawing/2014/main" id="{6F853792-30FA-4784-9243-24D66A2A11D4}"/>
              </a:ext>
            </a:extLst>
          </p:cNvPr>
          <p:cNvSpPr>
            <a:spLocks noGrp="1"/>
          </p:cNvSpPr>
          <p:nvPr/>
        </p:nvSpPr>
        <p:spPr>
          <a:xfrm>
            <a:off x="6309360" y="2258568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9" name="Google Shape;59;p4">
            <a:extLst>
              <a:ext uri="{FF2B5EF4-FFF2-40B4-BE49-F238E27FC236}">
                <a16:creationId xmlns:a16="http://schemas.microsoft.com/office/drawing/2014/main" id="{F083EEF2-25B9-4E41-ABFB-3C9FD20D0C0E}"/>
              </a:ext>
            </a:extLst>
          </p:cNvPr>
          <p:cNvSpPr>
            <a:spLocks noGrp="1"/>
          </p:cNvSpPr>
          <p:nvPr/>
        </p:nvSpPr>
        <p:spPr>
          <a:xfrm>
            <a:off x="6931152" y="2240280"/>
            <a:ext cx="4297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600"/>
              <a:buFont typeface="Calibri"/>
              <a:buNone/>
            </a:pPr>
            <a:r>
              <a:rPr sz="1600" b="1" i="0" u="none" strike="noStrike" cap="none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Testing Logic &amp; Demo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0" name="Google Shape;60;p4">
            <a:extLst>
              <a:ext uri="{FF2B5EF4-FFF2-40B4-BE49-F238E27FC236}">
                <a16:creationId xmlns:a16="http://schemas.microsoft.com/office/drawing/2014/main" id="{82E35DC9-01C1-4880-BA97-60A93E60064B}"/>
              </a:ext>
            </a:extLst>
          </p:cNvPr>
          <p:cNvSpPr>
            <a:spLocks noGrp="1"/>
          </p:cNvSpPr>
          <p:nvPr/>
        </p:nvSpPr>
        <p:spPr>
          <a:xfrm>
            <a:off x="6309360" y="2916936"/>
            <a:ext cx="420624" cy="420624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B19DE601-1BA8-49F9-BE31-B26AC1F4B2CE}"/>
              </a:ext>
            </a:extLst>
          </p:cNvPr>
          <p:cNvSpPr>
            <a:spLocks noGrp="1"/>
          </p:cNvSpPr>
          <p:nvPr/>
        </p:nvSpPr>
        <p:spPr>
          <a:xfrm>
            <a:off x="6309360" y="2916936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2" name="Google Shape;62;p4">
            <a:extLst>
              <a:ext uri="{FF2B5EF4-FFF2-40B4-BE49-F238E27FC236}">
                <a16:creationId xmlns:a16="http://schemas.microsoft.com/office/drawing/2014/main" id="{CF448A87-5815-408B-9DD8-2214EE01BC99}"/>
              </a:ext>
            </a:extLst>
          </p:cNvPr>
          <p:cNvSpPr>
            <a:spLocks noGrp="1"/>
          </p:cNvSpPr>
          <p:nvPr/>
        </p:nvSpPr>
        <p:spPr>
          <a:xfrm>
            <a:off x="6931152" y="2898648"/>
            <a:ext cx="4297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600"/>
              <a:buFont typeface="Calibri"/>
              <a:buNone/>
            </a:pPr>
            <a:r>
              <a:rPr sz="1600" b="1" i="0" u="none" strike="noStrike" cap="none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Results &amp; Future Scope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3" name="Google Shape;63;p4">
            <a:extLst>
              <a:ext uri="{FF2B5EF4-FFF2-40B4-BE49-F238E27FC236}">
                <a16:creationId xmlns:a16="http://schemas.microsoft.com/office/drawing/2014/main" id="{D236EBFE-8A48-4151-99DA-8955E36BBA60}"/>
              </a:ext>
            </a:extLst>
          </p:cNvPr>
          <p:cNvSpPr>
            <a:spLocks noGrp="1"/>
          </p:cNvSpPr>
          <p:nvPr/>
        </p:nvSpPr>
        <p:spPr>
          <a:xfrm>
            <a:off x="502920" y="651967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sz="900" b="0" i="0" u="none" strike="noStrike" cap="none">
                <a:solidFill>
                  <a:srgbClr val="6B7593"/>
                </a:solidFill>
                <a:latin typeface="Calibri"/>
                <a:ea typeface="Calibri"/>
                <a:cs typeface="Calibri"/>
              </a:rPr>
              <a:t>MINI PROJECT PRESENTATION  ·  OWN DEMAND SERVICE APP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4" name="Google Shape;64;p4">
            <a:extLst>
              <a:ext uri="{FF2B5EF4-FFF2-40B4-BE49-F238E27FC236}">
                <a16:creationId xmlns:a16="http://schemas.microsoft.com/office/drawing/2014/main" id="{5BC3CCB2-4A67-4709-BB76-9FB53B1659DE}"/>
              </a:ext>
            </a:extLst>
          </p:cNvPr>
          <p:cNvSpPr>
            <a:spLocks noGrp="1"/>
          </p:cNvSpPr>
          <p:nvPr/>
        </p:nvSpPr>
        <p:spPr>
          <a:xfrm>
            <a:off x="11228832" y="651967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sz="900" b="0" i="0" u="none" strike="noStrike" cap="none">
                <a:solidFill>
                  <a:srgbClr val="6B7593"/>
                </a:solidFill>
                <a:latin typeface="Calibri"/>
                <a:ea typeface="Calibri"/>
                <a:cs typeface="Calibri"/>
              </a:rPr>
              <a:t>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22361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">
            <a:extLst>
              <a:ext uri="{FF2B5EF4-FFF2-40B4-BE49-F238E27FC236}">
                <a16:creationId xmlns:a16="http://schemas.microsoft.com/office/drawing/2014/main" id="{2CC92CC5-57F2-468A-8650-6387F8D24A9B}"/>
              </a:ext>
            </a:extLst>
          </p:cNvPr>
          <p:cNvSpPr>
            <a:spLocks noGrp="1"/>
          </p:cNvSpPr>
          <p:nvPr/>
        </p:nvSpPr>
        <p:spPr>
          <a:xfrm>
            <a:off x="10424160" y="-1463040"/>
            <a:ext cx="3108960" cy="3108960"/>
          </a:xfrm>
          <a:prstGeom prst="ellipse">
            <a:avLst/>
          </a:prstGeom>
          <a:solidFill>
            <a:srgbClr val="1C7293">
              <a:alpha val="7843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" name="Google Shape;71;p5">
            <a:extLst>
              <a:ext uri="{FF2B5EF4-FFF2-40B4-BE49-F238E27FC236}">
                <a16:creationId xmlns:a16="http://schemas.microsoft.com/office/drawing/2014/main" id="{38B5E32F-2C20-4D18-BB3E-CE57AC720735}"/>
              </a:ext>
            </a:extLst>
          </p:cNvPr>
          <p:cNvSpPr>
            <a:spLocks noGrp="1"/>
          </p:cNvSpPr>
          <p:nvPr/>
        </p:nvSpPr>
        <p:spPr>
          <a:xfrm>
            <a:off x="-1097280" y="5669280"/>
            <a:ext cx="2194560" cy="2194560"/>
          </a:xfrm>
          <a:prstGeom prst="ellipse">
            <a:avLst/>
          </a:prstGeom>
          <a:solidFill>
            <a:srgbClr val="21295C">
              <a:alpha val="5098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2" name="Google Shape;72;p5">
            <a:extLst>
              <a:ext uri="{FF2B5EF4-FFF2-40B4-BE49-F238E27FC236}">
                <a16:creationId xmlns:a16="http://schemas.microsoft.com/office/drawing/2014/main" id="{9EC611A0-45C3-4D1F-B619-6A0A4051076A}"/>
              </a:ext>
            </a:extLst>
          </p:cNvPr>
          <p:cNvSpPr>
            <a:spLocks noGrp="1"/>
          </p:cNvSpPr>
          <p:nvPr/>
        </p:nvSpPr>
        <p:spPr>
          <a:xfrm>
            <a:off x="502920" y="457200"/>
            <a:ext cx="530352" cy="530352"/>
          </a:xfrm>
          <a:prstGeom prst="roundRect">
            <a:avLst>
              <a:gd name="adj" fmla="val 20690"/>
            </a:avLst>
          </a:prstGeom>
          <a:solidFill>
            <a:srgbClr val="21295C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3" name="Google Shape;73;p5">
            <a:extLst>
              <a:ext uri="{FF2B5EF4-FFF2-40B4-BE49-F238E27FC236}">
                <a16:creationId xmlns:a16="http://schemas.microsoft.com/office/drawing/2014/main" id="{B55CA290-ECD0-494C-8B76-8B983CA01290}"/>
              </a:ext>
            </a:extLst>
          </p:cNvPr>
          <p:cNvSpPr>
            <a:spLocks noGrp="1"/>
          </p:cNvSpPr>
          <p:nvPr/>
        </p:nvSpPr>
        <p:spPr>
          <a:xfrm>
            <a:off x="502920" y="45720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02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4" name="Google Shape;74;p5">
            <a:extLst>
              <a:ext uri="{FF2B5EF4-FFF2-40B4-BE49-F238E27FC236}">
                <a16:creationId xmlns:a16="http://schemas.microsoft.com/office/drawing/2014/main" id="{5522FF25-48E0-4995-BC78-A014A6AEF167}"/>
              </a:ext>
            </a:extLst>
          </p:cNvPr>
          <p:cNvSpPr>
            <a:spLocks noGrp="1"/>
          </p:cNvSpPr>
          <p:nvPr/>
        </p:nvSpPr>
        <p:spPr>
          <a:xfrm>
            <a:off x="1234440" y="4297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sz="1100" b="1" i="0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SECTION 02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5" name="Google Shape;75;p5">
            <a:extLst>
              <a:ext uri="{FF2B5EF4-FFF2-40B4-BE49-F238E27FC236}">
                <a16:creationId xmlns:a16="http://schemas.microsoft.com/office/drawing/2014/main" id="{38BE3E41-FCFA-4EFC-B149-C7ADC3DD171E}"/>
              </a:ext>
            </a:extLst>
          </p:cNvPr>
          <p:cNvSpPr>
            <a:spLocks noGrp="1"/>
          </p:cNvSpPr>
          <p:nvPr/>
        </p:nvSpPr>
        <p:spPr>
          <a:xfrm>
            <a:off x="1234440" y="676656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sz="3000" b="1" i="0" u="none" strike="noStrike" cap="none">
                <a:solidFill>
                  <a:srgbClr val="21295C"/>
                </a:solidFill>
                <a:latin typeface="Cambria"/>
                <a:ea typeface="Cambria"/>
                <a:cs typeface="Cambria"/>
              </a:rPr>
              <a:t>Project Overview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6" name="Google Shape;76;p5">
            <a:extLst>
              <a:ext uri="{FF2B5EF4-FFF2-40B4-BE49-F238E27FC236}">
                <a16:creationId xmlns:a16="http://schemas.microsoft.com/office/drawing/2014/main" id="{9C430DA9-A2EB-491E-9615-156846854BF6}"/>
              </a:ext>
            </a:extLst>
          </p:cNvPr>
          <p:cNvSpPr>
            <a:spLocks noGrp="1"/>
          </p:cNvSpPr>
          <p:nvPr/>
        </p:nvSpPr>
        <p:spPr>
          <a:xfrm>
            <a:off x="1234450" y="1393775"/>
            <a:ext cx="9852300" cy="478860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 cap="flat" cmpd="sng">
            <a:solidFill>
              <a:srgbClr val="DEE4EF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7" name="Google Shape;77;p5">
            <a:extLst>
              <a:ext uri="{FF2B5EF4-FFF2-40B4-BE49-F238E27FC236}">
                <a16:creationId xmlns:a16="http://schemas.microsoft.com/office/drawing/2014/main" id="{F54A64DD-BB84-4C8D-B9E6-E619E7BBD0CE}"/>
              </a:ext>
            </a:extLst>
          </p:cNvPr>
          <p:cNvSpPr>
            <a:spLocks noGrp="1"/>
          </p:cNvSpPr>
          <p:nvPr/>
        </p:nvSpPr>
        <p:spPr>
          <a:xfrm>
            <a:off x="1520475" y="1393775"/>
            <a:ext cx="9140100" cy="47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rmAutofit/>
          </a:bodyPr>
          <a:lstStyle>
            <a:defPPr algn="l">
              <a:defRPr sz="1275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275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75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75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75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75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75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75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75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75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275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PROJECT TYPE: </a:t>
            </a:r>
            <a:r>
              <a:rPr sz="1275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Browser-based front-end academic prototype</a:t>
            </a:r>
          </a:p>
          <a:p>
            <a:pPr algn="l">
              <a:buNone/>
              <a:defRPr sz="1275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PURPOSE: </a:t>
            </a:r>
            <a:r>
              <a:rPr sz="1275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Organise everyday household-service requests through a single web interface.</a:t>
            </a:r>
          </a:p>
          <a:p>
            <a:pPr algn="l">
              <a:buNone/>
              <a:defRPr sz="1275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SERVICE CATEGORIES: </a:t>
            </a:r>
            <a:r>
              <a:rPr sz="1275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Home cleaning, plumbing, electrician, appliance repair, salon / personal care, and other service.</a:t>
            </a:r>
          </a:p>
          <a:p>
            <a:pPr algn="l">
              <a:buNone/>
              <a:defRPr sz="1275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USER FLOW: </a:t>
            </a:r>
            <a:r>
              <a:rPr sz="1275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Select a category, enter contact and job details, choose a preferred date and time, then submit a demo request.</a:t>
            </a:r>
          </a:p>
          <a:p>
            <a:pPr algn="l">
              <a:buNone/>
              <a:defRPr sz="1275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DEMO RESPONSE: </a:t>
            </a:r>
            <a:r>
              <a:rPr sz="1275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The interface creates a temporary ODS booking ID and displays a sample status progression.</a:t>
            </a:r>
          </a:p>
          <a:p>
            <a:pPr algn="l">
              <a:buNone/>
              <a:defRPr sz="1275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BOUNDARY: </a:t>
            </a:r>
            <a:r>
              <a:rPr sz="1275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The prototype does not contact real providers; the current booking is held only in page memory.</a:t>
            </a:r>
          </a:p>
        </p:txBody>
      </p:sp>
      <p:sp>
        <p:nvSpPr>
          <p:cNvPr id="78" name="Google Shape;78;p5">
            <a:extLst>
              <a:ext uri="{FF2B5EF4-FFF2-40B4-BE49-F238E27FC236}">
                <a16:creationId xmlns:a16="http://schemas.microsoft.com/office/drawing/2014/main" id="{0646E614-F447-4D4F-AF58-7D87E64E9D12}"/>
              </a:ext>
            </a:extLst>
          </p:cNvPr>
          <p:cNvSpPr>
            <a:spLocks noGrp="1"/>
          </p:cNvSpPr>
          <p:nvPr/>
        </p:nvSpPr>
        <p:spPr>
          <a:xfrm>
            <a:off x="502920" y="651967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sz="900" b="0" i="0" u="none" strike="noStrike" cap="none">
                <a:solidFill>
                  <a:srgbClr val="6B7593"/>
                </a:solidFill>
                <a:latin typeface="Calibri"/>
                <a:ea typeface="Calibri"/>
                <a:cs typeface="Calibri"/>
              </a:rPr>
              <a:t>MINI PROJECT PRESENTATION  ·  OWN DEMAND SERVICE APP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9" name="Google Shape;79;p5">
            <a:extLst>
              <a:ext uri="{FF2B5EF4-FFF2-40B4-BE49-F238E27FC236}">
                <a16:creationId xmlns:a16="http://schemas.microsoft.com/office/drawing/2014/main" id="{9D35E63D-FFB9-41E2-A160-F2BCA456DB59}"/>
              </a:ext>
            </a:extLst>
          </p:cNvPr>
          <p:cNvSpPr>
            <a:spLocks noGrp="1"/>
          </p:cNvSpPr>
          <p:nvPr/>
        </p:nvSpPr>
        <p:spPr>
          <a:xfrm>
            <a:off x="11228832" y="651967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sz="900" b="0" i="0" u="none" strike="noStrike" cap="none">
                <a:solidFill>
                  <a:srgbClr val="6B7593"/>
                </a:solidFill>
                <a:latin typeface="Calibri"/>
                <a:ea typeface="Calibri"/>
                <a:cs typeface="Calibri"/>
              </a:rPr>
              <a:t>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852812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">
            <a:extLst>
              <a:ext uri="{FF2B5EF4-FFF2-40B4-BE49-F238E27FC236}">
                <a16:creationId xmlns:a16="http://schemas.microsoft.com/office/drawing/2014/main" id="{9066DB2B-EFAC-477D-9633-E4E2F86C1C06}"/>
              </a:ext>
            </a:extLst>
          </p:cNvPr>
          <p:cNvSpPr>
            <a:spLocks noGrp="1"/>
          </p:cNvSpPr>
          <p:nvPr/>
        </p:nvSpPr>
        <p:spPr>
          <a:xfrm>
            <a:off x="10424160" y="-1463040"/>
            <a:ext cx="3108960" cy="3108960"/>
          </a:xfrm>
          <a:prstGeom prst="ellipse">
            <a:avLst/>
          </a:prstGeom>
          <a:solidFill>
            <a:srgbClr val="1C7293">
              <a:alpha val="7843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6" name="Google Shape;86;p6">
            <a:extLst>
              <a:ext uri="{FF2B5EF4-FFF2-40B4-BE49-F238E27FC236}">
                <a16:creationId xmlns:a16="http://schemas.microsoft.com/office/drawing/2014/main" id="{AB9C1AAF-3F4F-4466-936B-BCC186EB0A9F}"/>
              </a:ext>
            </a:extLst>
          </p:cNvPr>
          <p:cNvSpPr>
            <a:spLocks noGrp="1"/>
          </p:cNvSpPr>
          <p:nvPr/>
        </p:nvSpPr>
        <p:spPr>
          <a:xfrm>
            <a:off x="-1097280" y="5669280"/>
            <a:ext cx="2194560" cy="2194560"/>
          </a:xfrm>
          <a:prstGeom prst="ellipse">
            <a:avLst/>
          </a:prstGeom>
          <a:solidFill>
            <a:srgbClr val="21295C">
              <a:alpha val="5098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7" name="Google Shape;87;p6">
            <a:extLst>
              <a:ext uri="{FF2B5EF4-FFF2-40B4-BE49-F238E27FC236}">
                <a16:creationId xmlns:a16="http://schemas.microsoft.com/office/drawing/2014/main" id="{D1E001DD-B344-4AD5-A00A-25F7EA483B41}"/>
              </a:ext>
            </a:extLst>
          </p:cNvPr>
          <p:cNvSpPr>
            <a:spLocks noGrp="1"/>
          </p:cNvSpPr>
          <p:nvPr/>
        </p:nvSpPr>
        <p:spPr>
          <a:xfrm>
            <a:off x="502920" y="457200"/>
            <a:ext cx="530352" cy="530352"/>
          </a:xfrm>
          <a:prstGeom prst="roundRect">
            <a:avLst>
              <a:gd name="adj" fmla="val 20690"/>
            </a:avLst>
          </a:prstGeom>
          <a:solidFill>
            <a:srgbClr val="21295C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8" name="Google Shape;88;p6">
            <a:extLst>
              <a:ext uri="{FF2B5EF4-FFF2-40B4-BE49-F238E27FC236}">
                <a16:creationId xmlns:a16="http://schemas.microsoft.com/office/drawing/2014/main" id="{DF95C439-F785-4A94-9E05-97E083411C05}"/>
              </a:ext>
            </a:extLst>
          </p:cNvPr>
          <p:cNvSpPr>
            <a:spLocks noGrp="1"/>
          </p:cNvSpPr>
          <p:nvPr/>
        </p:nvSpPr>
        <p:spPr>
          <a:xfrm>
            <a:off x="502920" y="45720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03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9" name="Google Shape;89;p6">
            <a:extLst>
              <a:ext uri="{FF2B5EF4-FFF2-40B4-BE49-F238E27FC236}">
                <a16:creationId xmlns:a16="http://schemas.microsoft.com/office/drawing/2014/main" id="{5B848610-4043-4B9E-B2C9-F5AD0AF46071}"/>
              </a:ext>
            </a:extLst>
          </p:cNvPr>
          <p:cNvSpPr>
            <a:spLocks noGrp="1"/>
          </p:cNvSpPr>
          <p:nvPr/>
        </p:nvSpPr>
        <p:spPr>
          <a:xfrm>
            <a:off x="1234440" y="4297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sz="1100" b="1" i="0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SECTION 03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0" name="Google Shape;90;p6">
            <a:extLst>
              <a:ext uri="{FF2B5EF4-FFF2-40B4-BE49-F238E27FC236}">
                <a16:creationId xmlns:a16="http://schemas.microsoft.com/office/drawing/2014/main" id="{1EB4BCFB-CCF0-4D05-9CEB-BE47D8A3E274}"/>
              </a:ext>
            </a:extLst>
          </p:cNvPr>
          <p:cNvSpPr>
            <a:spLocks noGrp="1"/>
          </p:cNvSpPr>
          <p:nvPr/>
        </p:nvSpPr>
        <p:spPr>
          <a:xfrm>
            <a:off x="1234440" y="676656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sz="3000" b="1" i="0" u="none" strike="noStrike" cap="none">
                <a:solidFill>
                  <a:srgbClr val="21295C"/>
                </a:solidFill>
                <a:latin typeface="Cambria"/>
                <a:ea typeface="Cambria"/>
                <a:cs typeface="Cambria"/>
              </a:rPr>
              <a:t>Objectives &amp; Scope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1" name="Google Shape;91;p6">
            <a:extLst>
              <a:ext uri="{FF2B5EF4-FFF2-40B4-BE49-F238E27FC236}">
                <a16:creationId xmlns:a16="http://schemas.microsoft.com/office/drawing/2014/main" id="{537AE14E-D378-4C92-BD33-71577178324A}"/>
              </a:ext>
            </a:extLst>
          </p:cNvPr>
          <p:cNvSpPr>
            <a:spLocks noGrp="1"/>
          </p:cNvSpPr>
          <p:nvPr/>
        </p:nvSpPr>
        <p:spPr>
          <a:xfrm>
            <a:off x="1234436" y="1632232"/>
            <a:ext cx="9915900" cy="4450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 cap="flat" cmpd="sng">
            <a:solidFill>
              <a:srgbClr val="DEE4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2" name="Google Shape;92;p6">
            <a:extLst>
              <a:ext uri="{FF2B5EF4-FFF2-40B4-BE49-F238E27FC236}">
                <a16:creationId xmlns:a16="http://schemas.microsoft.com/office/drawing/2014/main" id="{DF91ADA2-3D50-47C4-9D5C-BB1D3C5FC3AD}"/>
              </a:ext>
            </a:extLst>
          </p:cNvPr>
          <p:cNvSpPr>
            <a:spLocks noGrp="1"/>
          </p:cNvSpPr>
          <p:nvPr/>
        </p:nvSpPr>
        <p:spPr>
          <a:xfrm>
            <a:off x="1615500" y="1865375"/>
            <a:ext cx="9170400" cy="397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300"/>
              <a:buFont typeface="Calibri"/>
              <a:buNone/>
            </a:pPr>
            <a:endParaRPr/>
          </a:p>
        </p:txBody>
      </p:sp>
      <p:sp>
        <p:nvSpPr>
          <p:cNvPr id="93" name="Google Shape;93;p6">
            <a:extLst>
              <a:ext uri="{FF2B5EF4-FFF2-40B4-BE49-F238E27FC236}">
                <a16:creationId xmlns:a16="http://schemas.microsoft.com/office/drawing/2014/main" id="{0A2F80C3-BF61-4AC1-B1E7-45566B7388CA}"/>
              </a:ext>
            </a:extLst>
          </p:cNvPr>
          <p:cNvSpPr>
            <a:spLocks noGrp="1"/>
          </p:cNvSpPr>
          <p:nvPr/>
        </p:nvSpPr>
        <p:spPr>
          <a:xfrm>
            <a:off x="1463040" y="4343400"/>
            <a:ext cx="10059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D8E8"/>
              </a:buClr>
              <a:buSzPts val="4000"/>
              <a:buFont typeface="Cambria"/>
              <a:buNone/>
            </a:pP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4" name="Google Shape;94;p6">
            <a:extLst>
              <a:ext uri="{FF2B5EF4-FFF2-40B4-BE49-F238E27FC236}">
                <a16:creationId xmlns:a16="http://schemas.microsoft.com/office/drawing/2014/main" id="{0A718AF1-5239-4BCB-8F43-E2330BB7614A}"/>
              </a:ext>
            </a:extLst>
          </p:cNvPr>
          <p:cNvSpPr>
            <a:spLocks noGrp="1"/>
          </p:cNvSpPr>
          <p:nvPr/>
        </p:nvSpPr>
        <p:spPr>
          <a:xfrm>
            <a:off x="502920" y="651967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sz="900" b="0" i="0" u="none" strike="noStrike" cap="none">
                <a:solidFill>
                  <a:srgbClr val="6B7593"/>
                </a:solidFill>
                <a:latin typeface="Calibri"/>
                <a:ea typeface="Calibri"/>
                <a:cs typeface="Calibri"/>
              </a:rPr>
              <a:t>MINI PROJECT PRESENTATION  ·  OWN DEMAND SERVICE APP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5" name="Google Shape;95;p6">
            <a:extLst>
              <a:ext uri="{FF2B5EF4-FFF2-40B4-BE49-F238E27FC236}">
                <a16:creationId xmlns:a16="http://schemas.microsoft.com/office/drawing/2014/main" id="{49862BC4-1F9F-4BD5-B32D-224E0ED3DF2A}"/>
              </a:ext>
            </a:extLst>
          </p:cNvPr>
          <p:cNvSpPr>
            <a:spLocks noGrp="1"/>
          </p:cNvSpPr>
          <p:nvPr/>
        </p:nvSpPr>
        <p:spPr>
          <a:xfrm>
            <a:off x="11228832" y="651967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sz="900" b="0" i="0" u="none" strike="noStrike" cap="none">
                <a:solidFill>
                  <a:srgbClr val="6B7593"/>
                </a:solidFill>
                <a:latin typeface="Calibri"/>
                <a:ea typeface="Calibri"/>
                <a:cs typeface="Calibri"/>
              </a:rPr>
              <a:t>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6" name="Objective card 1">
            <a:extLst>
              <a:ext uri="{FF2B5EF4-FFF2-40B4-BE49-F238E27FC236}">
                <a16:creationId xmlns:a16="http://schemas.microsoft.com/office/drawing/2014/main" id="{074FB683-4AF6-4B18-8FEA-A228D0850A2C}"/>
              </a:ext>
            </a:extLst>
          </p:cNvPr>
          <p:cNvSpPr>
            <a:spLocks noGrp="1"/>
          </p:cNvSpPr>
          <p:nvPr/>
        </p:nvSpPr>
        <p:spPr>
          <a:xfrm>
            <a:off x="1800000" y="1950000"/>
            <a:ext cx="8800000" cy="8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7" name="Objective num 1">
            <a:extLst>
              <a:ext uri="{FF2B5EF4-FFF2-40B4-BE49-F238E27FC236}">
                <a16:creationId xmlns:a16="http://schemas.microsoft.com/office/drawing/2014/main" id="{E6788AD1-ACD2-47D7-9664-8188D8A6A8DE}"/>
              </a:ext>
            </a:extLst>
          </p:cNvPr>
          <p:cNvSpPr>
            <a:spLocks noGrp="1"/>
          </p:cNvSpPr>
          <p:nvPr/>
        </p:nvSpPr>
        <p:spPr>
          <a:xfrm>
            <a:off x="2000000" y="2100000"/>
            <a:ext cx="500000" cy="5000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98" name="Objective text 1">
            <a:extLst>
              <a:ext uri="{FF2B5EF4-FFF2-40B4-BE49-F238E27FC236}">
                <a16:creationId xmlns:a16="http://schemas.microsoft.com/office/drawing/2014/main" id="{463665D4-2E0D-4290-BF59-BD38D6AADCD2}"/>
              </a:ext>
            </a:extLst>
          </p:cNvPr>
          <p:cNvSpPr>
            <a:spLocks noGrp="1"/>
          </p:cNvSpPr>
          <p:nvPr/>
        </p:nvSpPr>
        <p:spPr>
          <a:xfrm>
            <a:off x="2700000" y="1950000"/>
            <a:ext cx="7800000" cy="2971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350" b="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350" b="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350" b="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350" b="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350" b="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350" b="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350" b="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350" b="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350" b="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350" b="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Bring common household-service categories together in one simple booking interface.</a:t>
            </a:r>
          </a:p>
        </p:txBody>
      </p:sp>
      <p:sp>
        <p:nvSpPr>
          <p:cNvPr id="99" name="Objective card 2">
            <a:extLst>
              <a:ext uri="{FF2B5EF4-FFF2-40B4-BE49-F238E27FC236}">
                <a16:creationId xmlns:a16="http://schemas.microsoft.com/office/drawing/2014/main" id="{2515F8F9-369C-4B03-8BD6-3530032AB3F1}"/>
              </a:ext>
            </a:extLst>
          </p:cNvPr>
          <p:cNvSpPr>
            <a:spLocks noGrp="1"/>
          </p:cNvSpPr>
          <p:nvPr/>
        </p:nvSpPr>
        <p:spPr>
          <a:xfrm>
            <a:off x="1800000" y="2940000"/>
            <a:ext cx="8800000" cy="8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0" name="Objective num 2">
            <a:extLst>
              <a:ext uri="{FF2B5EF4-FFF2-40B4-BE49-F238E27FC236}">
                <a16:creationId xmlns:a16="http://schemas.microsoft.com/office/drawing/2014/main" id="{DD739BA5-E4DC-4C72-AE83-BE9B325EC3AD}"/>
              </a:ext>
            </a:extLst>
          </p:cNvPr>
          <p:cNvSpPr>
            <a:spLocks noGrp="1"/>
          </p:cNvSpPr>
          <p:nvPr/>
        </p:nvSpPr>
        <p:spPr>
          <a:xfrm>
            <a:off x="2000000" y="3090000"/>
            <a:ext cx="500000" cy="5000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01" name="Objective text 2">
            <a:extLst>
              <a:ext uri="{FF2B5EF4-FFF2-40B4-BE49-F238E27FC236}">
                <a16:creationId xmlns:a16="http://schemas.microsoft.com/office/drawing/2014/main" id="{45ED0624-CF01-410F-B6DD-52A423D1B9FF}"/>
              </a:ext>
            </a:extLst>
          </p:cNvPr>
          <p:cNvSpPr>
            <a:spLocks noGrp="1"/>
          </p:cNvSpPr>
          <p:nvPr/>
        </p:nvSpPr>
        <p:spPr>
          <a:xfrm>
            <a:off x="2700000" y="2940000"/>
            <a:ext cx="7800000" cy="2971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350" b="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350" b="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350" b="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350" b="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350" b="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350" b="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350" b="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350" b="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350" b="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350" b="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Collect the customer, phone, address, preferred slot and service requirements in a structured form.</a:t>
            </a:r>
          </a:p>
        </p:txBody>
      </p:sp>
      <p:sp>
        <p:nvSpPr>
          <p:cNvPr id="102" name="Objective card 3">
            <a:extLst>
              <a:ext uri="{FF2B5EF4-FFF2-40B4-BE49-F238E27FC236}">
                <a16:creationId xmlns:a16="http://schemas.microsoft.com/office/drawing/2014/main" id="{0EDBFDB2-C391-48CF-B692-DE7056749D3E}"/>
              </a:ext>
            </a:extLst>
          </p:cNvPr>
          <p:cNvSpPr>
            <a:spLocks noGrp="1"/>
          </p:cNvSpPr>
          <p:nvPr/>
        </p:nvSpPr>
        <p:spPr>
          <a:xfrm>
            <a:off x="1800000" y="3930000"/>
            <a:ext cx="8800000" cy="8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3" name="Objective num 3">
            <a:extLst>
              <a:ext uri="{FF2B5EF4-FFF2-40B4-BE49-F238E27FC236}">
                <a16:creationId xmlns:a16="http://schemas.microsoft.com/office/drawing/2014/main" id="{6E4562DB-EEC0-49EB-A012-CCBFB7DDD5CF}"/>
              </a:ext>
            </a:extLst>
          </p:cNvPr>
          <p:cNvSpPr>
            <a:spLocks noGrp="1"/>
          </p:cNvSpPr>
          <p:nvPr/>
        </p:nvSpPr>
        <p:spPr>
          <a:xfrm>
            <a:off x="2000000" y="4080000"/>
            <a:ext cx="500000" cy="5000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04" name="Objective text 3">
            <a:extLst>
              <a:ext uri="{FF2B5EF4-FFF2-40B4-BE49-F238E27FC236}">
                <a16:creationId xmlns:a16="http://schemas.microsoft.com/office/drawing/2014/main" id="{66F66FA0-3A74-4CFD-9484-F2A1B5F95368}"/>
              </a:ext>
            </a:extLst>
          </p:cNvPr>
          <p:cNvSpPr>
            <a:spLocks noGrp="1"/>
          </p:cNvSpPr>
          <p:nvPr/>
        </p:nvSpPr>
        <p:spPr>
          <a:xfrm>
            <a:off x="2700000" y="3930000"/>
            <a:ext cx="7800000" cy="2971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350" b="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350" b="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350" b="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350" b="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350" b="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350" b="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350" b="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350" b="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350" b="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350" b="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Validate key inputs, create a demo booking identifier and show a sample status flow.</a:t>
            </a:r>
          </a:p>
        </p:txBody>
      </p:sp>
      <p:sp>
        <p:nvSpPr>
          <p:cNvPr id="105" name="Objective card 4">
            <a:extLst>
              <a:ext uri="{FF2B5EF4-FFF2-40B4-BE49-F238E27FC236}">
                <a16:creationId xmlns:a16="http://schemas.microsoft.com/office/drawing/2014/main" id="{9B4F3B98-8158-4114-8C13-D1B18487645C}"/>
              </a:ext>
            </a:extLst>
          </p:cNvPr>
          <p:cNvSpPr>
            <a:spLocks noGrp="1"/>
          </p:cNvSpPr>
          <p:nvPr/>
        </p:nvSpPr>
        <p:spPr>
          <a:xfrm>
            <a:off x="1800000" y="4920000"/>
            <a:ext cx="8800000" cy="8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6" name="Objective num 4">
            <a:extLst>
              <a:ext uri="{FF2B5EF4-FFF2-40B4-BE49-F238E27FC236}">
                <a16:creationId xmlns:a16="http://schemas.microsoft.com/office/drawing/2014/main" id="{7894C4BE-8482-441E-8C27-9C58537F3AFE}"/>
              </a:ext>
            </a:extLst>
          </p:cNvPr>
          <p:cNvSpPr>
            <a:spLocks noGrp="1"/>
          </p:cNvSpPr>
          <p:nvPr/>
        </p:nvSpPr>
        <p:spPr>
          <a:xfrm>
            <a:off x="2000000" y="5070000"/>
            <a:ext cx="500000" cy="5000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107" name="Objective text 4">
            <a:extLst>
              <a:ext uri="{FF2B5EF4-FFF2-40B4-BE49-F238E27FC236}">
                <a16:creationId xmlns:a16="http://schemas.microsoft.com/office/drawing/2014/main" id="{D9B79A66-66AB-413A-8E5F-E3D8108A7C3C}"/>
              </a:ext>
            </a:extLst>
          </p:cNvPr>
          <p:cNvSpPr>
            <a:spLocks noGrp="1"/>
          </p:cNvSpPr>
          <p:nvPr/>
        </p:nvSpPr>
        <p:spPr>
          <a:xfrm>
            <a:off x="2700000" y="4920000"/>
            <a:ext cx="7800000" cy="2971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350" b="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350" b="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350" b="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350" b="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350" b="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350" b="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350" b="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350" b="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350" b="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350" b="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Demonstrate a front-end workflow while clearly separating demo behavior from real service delivery.</a:t>
            </a:r>
          </a:p>
        </p:txBody>
      </p:sp>
    </p:spTree>
    <p:extLst>
      <p:ext uri="{BB962C8B-B14F-4D97-AF65-F5344CB8AC3E}">
        <p14:creationId xmlns:p14="http://schemas.microsoft.com/office/powerpoint/2010/main" val="6691906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7">
            <a:extLst>
              <a:ext uri="{FF2B5EF4-FFF2-40B4-BE49-F238E27FC236}">
                <a16:creationId xmlns:a16="http://schemas.microsoft.com/office/drawing/2014/main" id="{FD8390E4-4248-4B42-8AB3-4A19265313B7}"/>
              </a:ext>
            </a:extLst>
          </p:cNvPr>
          <p:cNvSpPr>
            <a:spLocks noGrp="1"/>
          </p:cNvSpPr>
          <p:nvPr/>
        </p:nvSpPr>
        <p:spPr>
          <a:xfrm>
            <a:off x="-1097280" y="5669280"/>
            <a:ext cx="2194560" cy="2194560"/>
          </a:xfrm>
          <a:prstGeom prst="ellipse">
            <a:avLst/>
          </a:prstGeom>
          <a:solidFill>
            <a:srgbClr val="21295C">
              <a:alpha val="5098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2" name="Google Shape;102;p7">
            <a:extLst>
              <a:ext uri="{FF2B5EF4-FFF2-40B4-BE49-F238E27FC236}">
                <a16:creationId xmlns:a16="http://schemas.microsoft.com/office/drawing/2014/main" id="{C9D99976-5D14-4DAA-AA21-138EAB87C398}"/>
              </a:ext>
            </a:extLst>
          </p:cNvPr>
          <p:cNvSpPr>
            <a:spLocks noGrp="1"/>
          </p:cNvSpPr>
          <p:nvPr/>
        </p:nvSpPr>
        <p:spPr>
          <a:xfrm>
            <a:off x="502920" y="457200"/>
            <a:ext cx="530352" cy="530352"/>
          </a:xfrm>
          <a:prstGeom prst="roundRect">
            <a:avLst>
              <a:gd name="adj" fmla="val 20690"/>
            </a:avLst>
          </a:prstGeom>
          <a:solidFill>
            <a:srgbClr val="21295C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3" name="Google Shape;103;p7">
            <a:extLst>
              <a:ext uri="{FF2B5EF4-FFF2-40B4-BE49-F238E27FC236}">
                <a16:creationId xmlns:a16="http://schemas.microsoft.com/office/drawing/2014/main" id="{C41E90F4-2C64-404E-8188-E8878201E0DB}"/>
              </a:ext>
            </a:extLst>
          </p:cNvPr>
          <p:cNvSpPr>
            <a:spLocks noGrp="1"/>
          </p:cNvSpPr>
          <p:nvPr/>
        </p:nvSpPr>
        <p:spPr>
          <a:xfrm>
            <a:off x="502920" y="45720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04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4" name="Google Shape;104;p7">
            <a:extLst>
              <a:ext uri="{FF2B5EF4-FFF2-40B4-BE49-F238E27FC236}">
                <a16:creationId xmlns:a16="http://schemas.microsoft.com/office/drawing/2014/main" id="{25CA3B4A-F601-47C6-93F9-2A6DDC8D017E}"/>
              </a:ext>
            </a:extLst>
          </p:cNvPr>
          <p:cNvSpPr>
            <a:spLocks noGrp="1"/>
          </p:cNvSpPr>
          <p:nvPr/>
        </p:nvSpPr>
        <p:spPr>
          <a:xfrm>
            <a:off x="1234440" y="4297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sz="1100" b="1" i="0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SECTION 04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5" name="Google Shape;105;p7">
            <a:extLst>
              <a:ext uri="{FF2B5EF4-FFF2-40B4-BE49-F238E27FC236}">
                <a16:creationId xmlns:a16="http://schemas.microsoft.com/office/drawing/2014/main" id="{A6AA1F59-90AC-408C-91EB-F00B071D5AA7}"/>
              </a:ext>
            </a:extLst>
          </p:cNvPr>
          <p:cNvSpPr>
            <a:spLocks noGrp="1"/>
          </p:cNvSpPr>
          <p:nvPr/>
        </p:nvSpPr>
        <p:spPr>
          <a:xfrm>
            <a:off x="1234440" y="676656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sz="3000" b="1" i="0" u="none" strike="noStrike" cap="none">
                <a:solidFill>
                  <a:srgbClr val="21295C"/>
                </a:solidFill>
                <a:latin typeface="Cambria"/>
                <a:ea typeface="Cambria"/>
                <a:cs typeface="Cambria"/>
              </a:rPr>
              <a:t>Tools &amp; Technologies Used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6" name="Google Shape;106;p7">
            <a:extLst>
              <a:ext uri="{FF2B5EF4-FFF2-40B4-BE49-F238E27FC236}">
                <a16:creationId xmlns:a16="http://schemas.microsoft.com/office/drawing/2014/main" id="{660289AE-EC5F-4687-91B5-180A39EC5092}"/>
              </a:ext>
            </a:extLst>
          </p:cNvPr>
          <p:cNvSpPr>
            <a:spLocks noGrp="1"/>
          </p:cNvSpPr>
          <p:nvPr/>
        </p:nvSpPr>
        <p:spPr>
          <a:xfrm>
            <a:off x="1234475" y="1543875"/>
            <a:ext cx="9849000" cy="444540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 cap="flat" cmpd="sng">
            <a:solidFill>
              <a:srgbClr val="DEE4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7" name="Google Shape;107;p7">
            <a:extLst>
              <a:ext uri="{FF2B5EF4-FFF2-40B4-BE49-F238E27FC236}">
                <a16:creationId xmlns:a16="http://schemas.microsoft.com/office/drawing/2014/main" id="{A2A5C640-64AF-4B89-8719-26904C1ED11B}"/>
              </a:ext>
            </a:extLst>
          </p:cNvPr>
          <p:cNvSpPr>
            <a:spLocks noGrp="1"/>
          </p:cNvSpPr>
          <p:nvPr/>
        </p:nvSpPr>
        <p:spPr>
          <a:xfrm>
            <a:off x="502920" y="651967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sz="900" b="0" i="0" u="none" strike="noStrike" cap="none">
                <a:solidFill>
                  <a:srgbClr val="6B7593"/>
                </a:solidFill>
                <a:latin typeface="Calibri"/>
                <a:ea typeface="Calibri"/>
                <a:cs typeface="Calibri"/>
              </a:rPr>
              <a:t>MINI PROJECT PRESENTATION  ·  OWN DEMAND SERVICE APP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8" name="Google Shape;108;p7">
            <a:extLst>
              <a:ext uri="{FF2B5EF4-FFF2-40B4-BE49-F238E27FC236}">
                <a16:creationId xmlns:a16="http://schemas.microsoft.com/office/drawing/2014/main" id="{9B4F3802-1687-4208-91BA-C87551880ECD}"/>
              </a:ext>
            </a:extLst>
          </p:cNvPr>
          <p:cNvSpPr>
            <a:spLocks noGrp="1"/>
          </p:cNvSpPr>
          <p:nvPr/>
        </p:nvSpPr>
        <p:spPr>
          <a:xfrm>
            <a:off x="11228832" y="651967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sz="900" b="0" i="0" u="none" strike="noStrike" cap="none">
                <a:solidFill>
                  <a:srgbClr val="6B7593"/>
                </a:solidFill>
                <a:latin typeface="Calibri"/>
                <a:ea typeface="Calibri"/>
                <a:cs typeface="Calibri"/>
              </a:rPr>
              <a:t>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9" name="Google Shape;109;p7">
            <a:extLst>
              <a:ext uri="{FF2B5EF4-FFF2-40B4-BE49-F238E27FC236}">
                <a16:creationId xmlns:a16="http://schemas.microsoft.com/office/drawing/2014/main" id="{B99630B7-65C6-4B02-AED6-92704716DD36}"/>
              </a:ext>
            </a:extLst>
          </p:cNvPr>
          <p:cNvSpPr>
            <a:spLocks noGrp="1"/>
          </p:cNvSpPr>
          <p:nvPr/>
        </p:nvSpPr>
        <p:spPr>
          <a:xfrm>
            <a:off x="1508728" y="1819643"/>
            <a:ext cx="9261300" cy="3913800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9525" cap="flat" cmpd="sng">
            <a:solidFill>
              <a:srgbClr val="DEE4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45700" rIns="18287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Tool card 1">
            <a:extLst>
              <a:ext uri="{FF2B5EF4-FFF2-40B4-BE49-F238E27FC236}">
                <a16:creationId xmlns:a16="http://schemas.microsoft.com/office/drawing/2014/main" id="{B02876DE-876A-4316-AF93-D9A261ED574A}"/>
              </a:ext>
            </a:extLst>
          </p:cNvPr>
          <p:cNvSpPr>
            <a:spLocks noGrp="1"/>
          </p:cNvSpPr>
          <p:nvPr/>
        </p:nvSpPr>
        <p:spPr>
          <a:xfrm>
            <a:off x="1720000" y="2010000"/>
            <a:ext cx="2800000" cy="16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0000" tIns="100000" rIns="150000" bIns="100000" anchor="ctr"/>
          <a:lstStyle/>
          <a:p>
            <a:pPr algn="l">
              <a:buNone/>
            </a:pPr>
            <a:r>
              <a:rPr sz="1100" b="1" i="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MARKUP</a:t>
            </a:r>
          </a:p>
          <a:p>
            <a:pPr algn="l">
              <a:spcBef>
                <a:spcPts val="500"/>
              </a:spcBef>
              <a:buNone/>
            </a:pPr>
            <a:r>
              <a:rPr sz="1900" b="1" i="0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HTML</a:t>
            </a:r>
          </a:p>
          <a:p>
            <a:pPr algn="l">
              <a:spcBef>
                <a:spcPts val="500"/>
              </a:spcBef>
              <a:buNone/>
            </a:pPr>
            <a:r>
              <a:rPr sz="1300" b="0" i="0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Page structure, service cards and form fields</a:t>
            </a:r>
          </a:p>
        </p:txBody>
      </p:sp>
      <p:sp>
        <p:nvSpPr>
          <p:cNvPr id="111" name="Tool card 2">
            <a:extLst>
              <a:ext uri="{FF2B5EF4-FFF2-40B4-BE49-F238E27FC236}">
                <a16:creationId xmlns:a16="http://schemas.microsoft.com/office/drawing/2014/main" id="{8511D9CF-D924-45BD-9175-CE0E31FAB167}"/>
              </a:ext>
            </a:extLst>
          </p:cNvPr>
          <p:cNvSpPr>
            <a:spLocks noGrp="1"/>
          </p:cNvSpPr>
          <p:nvPr/>
        </p:nvSpPr>
        <p:spPr>
          <a:xfrm>
            <a:off x="4750000" y="2010000"/>
            <a:ext cx="2800000" cy="16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0000" tIns="100000" rIns="150000" bIns="100000" anchor="ctr"/>
          <a:lstStyle/>
          <a:p>
            <a:pPr algn="l">
              <a:buNone/>
            </a:pPr>
            <a:r>
              <a:rPr sz="1100" b="1" i="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STYLING</a:t>
            </a:r>
          </a:p>
          <a:p>
            <a:pPr algn="l">
              <a:spcBef>
                <a:spcPts val="500"/>
              </a:spcBef>
              <a:buNone/>
            </a:pPr>
            <a:r>
              <a:rPr sz="1900" b="1" i="0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CSS</a:t>
            </a:r>
          </a:p>
          <a:p>
            <a:pPr algn="l">
              <a:spcBef>
                <a:spcPts val="500"/>
              </a:spcBef>
              <a:buNone/>
            </a:pPr>
            <a:r>
              <a:rPr sz="1300" b="0" i="0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Layout, colours, cards and responsive presentation</a:t>
            </a:r>
          </a:p>
        </p:txBody>
      </p:sp>
      <p:sp>
        <p:nvSpPr>
          <p:cNvPr id="112" name="Tool card 3">
            <a:extLst>
              <a:ext uri="{FF2B5EF4-FFF2-40B4-BE49-F238E27FC236}">
                <a16:creationId xmlns:a16="http://schemas.microsoft.com/office/drawing/2014/main" id="{0E0167A2-8A64-48D2-9E3E-7A7159CED684}"/>
              </a:ext>
            </a:extLst>
          </p:cNvPr>
          <p:cNvSpPr>
            <a:spLocks noGrp="1"/>
          </p:cNvSpPr>
          <p:nvPr/>
        </p:nvSpPr>
        <p:spPr>
          <a:xfrm>
            <a:off x="7780000" y="2010000"/>
            <a:ext cx="2800000" cy="16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0000" tIns="100000" rIns="150000" bIns="100000" anchor="ctr"/>
          <a:lstStyle/>
          <a:p>
            <a:pPr algn="l">
              <a:buNone/>
            </a:pPr>
            <a:r>
              <a:rPr sz="1100" b="1" i="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PROGRAMMING</a:t>
            </a:r>
          </a:p>
          <a:p>
            <a:pPr algn="l">
              <a:spcBef>
                <a:spcPts val="500"/>
              </a:spcBef>
              <a:buNone/>
            </a:pPr>
            <a:r>
              <a:rPr sz="1900" b="1" i="0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JavaScript</a:t>
            </a:r>
          </a:p>
          <a:p>
            <a:pPr algn="l">
              <a:spcBef>
                <a:spcPts val="500"/>
              </a:spcBef>
              <a:buNone/>
            </a:pPr>
            <a:r>
              <a:rPr sz="1300" b="0" i="0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Service selection, validation and booking interactions</a:t>
            </a:r>
          </a:p>
        </p:txBody>
      </p:sp>
      <p:sp>
        <p:nvSpPr>
          <p:cNvPr id="113" name="Tool card 4">
            <a:extLst>
              <a:ext uri="{FF2B5EF4-FFF2-40B4-BE49-F238E27FC236}">
                <a16:creationId xmlns:a16="http://schemas.microsoft.com/office/drawing/2014/main" id="{13D012D5-D5A8-49FC-B764-B0E3B08D14F8}"/>
              </a:ext>
            </a:extLst>
          </p:cNvPr>
          <p:cNvSpPr>
            <a:spLocks noGrp="1"/>
          </p:cNvSpPr>
          <p:nvPr/>
        </p:nvSpPr>
        <p:spPr>
          <a:xfrm>
            <a:off x="1720000" y="3890000"/>
            <a:ext cx="2800000" cy="16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0000" tIns="100000" rIns="150000" bIns="100000" anchor="ctr"/>
          <a:lstStyle/>
          <a:p>
            <a:pPr algn="l">
              <a:buNone/>
            </a:pPr>
            <a:r>
              <a:rPr sz="1100" b="1" i="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FORM VALIDATION</a:t>
            </a:r>
          </a:p>
          <a:p>
            <a:pPr algn="l">
              <a:spcBef>
                <a:spcPts val="500"/>
              </a:spcBef>
              <a:buNone/>
            </a:pPr>
            <a:r>
              <a:rPr sz="1900" b="1" i="0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HTML Constraints + JavaScript</a:t>
            </a:r>
          </a:p>
          <a:p>
            <a:pPr algn="l">
              <a:spcBef>
                <a:spcPts val="500"/>
              </a:spcBef>
              <a:buNone/>
            </a:pPr>
            <a:r>
              <a:rPr sz="1300" b="0" i="0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Required inputs, 10-digit phone check and date minimum</a:t>
            </a:r>
          </a:p>
        </p:txBody>
      </p:sp>
      <p:sp>
        <p:nvSpPr>
          <p:cNvPr id="114" name="Tool card 5">
            <a:extLst>
              <a:ext uri="{FF2B5EF4-FFF2-40B4-BE49-F238E27FC236}">
                <a16:creationId xmlns:a16="http://schemas.microsoft.com/office/drawing/2014/main" id="{B0E8E337-5D65-426A-A686-9EA413824470}"/>
              </a:ext>
            </a:extLst>
          </p:cNvPr>
          <p:cNvSpPr>
            <a:spLocks noGrp="1"/>
          </p:cNvSpPr>
          <p:nvPr/>
        </p:nvSpPr>
        <p:spPr>
          <a:xfrm>
            <a:off x="4750000" y="3890000"/>
            <a:ext cx="2800000" cy="16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0000" tIns="100000" rIns="150000" bIns="100000" anchor="ctr"/>
          <a:lstStyle/>
          <a:p>
            <a:pPr algn="l">
              <a:buNone/>
            </a:pPr>
            <a:r>
              <a:rPr sz="1100" b="1" i="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USER INTERFACE</a:t>
            </a:r>
          </a:p>
          <a:p>
            <a:pPr algn="l">
              <a:spcBef>
                <a:spcPts val="500"/>
              </a:spcBef>
              <a:buNone/>
            </a:pPr>
            <a:r>
              <a:rPr sz="1900" b="1" i="0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DOM Events</a:t>
            </a:r>
          </a:p>
          <a:p>
            <a:pPr algn="l">
              <a:spcBef>
                <a:spcPts val="500"/>
              </a:spcBef>
              <a:buNone/>
            </a:pPr>
            <a:r>
              <a:rPr sz="1300" b="0" i="0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Category selection, confirmation and status updates</a:t>
            </a:r>
          </a:p>
        </p:txBody>
      </p:sp>
      <p:sp>
        <p:nvSpPr>
          <p:cNvPr id="115" name="Tool card 6">
            <a:extLst>
              <a:ext uri="{FF2B5EF4-FFF2-40B4-BE49-F238E27FC236}">
                <a16:creationId xmlns:a16="http://schemas.microsoft.com/office/drawing/2014/main" id="{3BDCE0F2-4626-4DBF-9120-1400AAD18D00}"/>
              </a:ext>
            </a:extLst>
          </p:cNvPr>
          <p:cNvSpPr>
            <a:spLocks noGrp="1"/>
          </p:cNvSpPr>
          <p:nvPr/>
        </p:nvSpPr>
        <p:spPr>
          <a:xfrm>
            <a:off x="7780000" y="3890000"/>
            <a:ext cx="2800000" cy="16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0000" tIns="100000" rIns="150000" bIns="100000" anchor="ctr"/>
          <a:lstStyle/>
          <a:p>
            <a:pPr algn="l">
              <a:buNone/>
            </a:pPr>
            <a:r>
              <a:rPr sz="1100" b="1" i="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RUNTIME</a:t>
            </a:r>
          </a:p>
          <a:p>
            <a:pPr algn="l">
              <a:spcBef>
                <a:spcPts val="500"/>
              </a:spcBef>
              <a:buNone/>
            </a:pPr>
            <a:r>
              <a:rPr sz="1900" b="1" i="0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Web Browser</a:t>
            </a:r>
          </a:p>
          <a:p>
            <a:pPr algn="l">
              <a:spcBef>
                <a:spcPts val="500"/>
              </a:spcBef>
              <a:buNone/>
            </a:pPr>
            <a:r>
              <a:rPr sz="1300" b="0" i="0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Client-side demo; no server or database</a:t>
            </a:r>
          </a:p>
        </p:txBody>
      </p:sp>
    </p:spTree>
    <p:extLst>
      <p:ext uri="{BB962C8B-B14F-4D97-AF65-F5344CB8AC3E}">
        <p14:creationId xmlns:p14="http://schemas.microsoft.com/office/powerpoint/2010/main" val="9619098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8">
            <a:extLst>
              <a:ext uri="{FF2B5EF4-FFF2-40B4-BE49-F238E27FC236}">
                <a16:creationId xmlns:a16="http://schemas.microsoft.com/office/drawing/2014/main" id="{239D5901-E4CF-49EF-B541-DEBDE63A3BFF}"/>
              </a:ext>
            </a:extLst>
          </p:cNvPr>
          <p:cNvSpPr>
            <a:spLocks noGrp="1"/>
          </p:cNvSpPr>
          <p:nvPr/>
        </p:nvSpPr>
        <p:spPr>
          <a:xfrm>
            <a:off x="10424160" y="-1463040"/>
            <a:ext cx="3108960" cy="3108960"/>
          </a:xfrm>
          <a:prstGeom prst="ellipse">
            <a:avLst/>
          </a:prstGeom>
          <a:solidFill>
            <a:srgbClr val="1C7293">
              <a:alpha val="7843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6" name="Google Shape;116;p8">
            <a:extLst>
              <a:ext uri="{FF2B5EF4-FFF2-40B4-BE49-F238E27FC236}">
                <a16:creationId xmlns:a16="http://schemas.microsoft.com/office/drawing/2014/main" id="{D17EA3ED-5874-43FD-B72A-05B78CC94B96}"/>
              </a:ext>
            </a:extLst>
          </p:cNvPr>
          <p:cNvSpPr>
            <a:spLocks noGrp="1"/>
          </p:cNvSpPr>
          <p:nvPr/>
        </p:nvSpPr>
        <p:spPr>
          <a:xfrm>
            <a:off x="-1097280" y="5669280"/>
            <a:ext cx="2194560" cy="2194560"/>
          </a:xfrm>
          <a:prstGeom prst="ellipse">
            <a:avLst/>
          </a:prstGeom>
          <a:solidFill>
            <a:srgbClr val="21295C">
              <a:alpha val="5098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7" name="Google Shape;117;p8">
            <a:extLst>
              <a:ext uri="{FF2B5EF4-FFF2-40B4-BE49-F238E27FC236}">
                <a16:creationId xmlns:a16="http://schemas.microsoft.com/office/drawing/2014/main" id="{869CEEE3-36F7-46FD-9E58-B7C0D56D83DE}"/>
              </a:ext>
            </a:extLst>
          </p:cNvPr>
          <p:cNvSpPr>
            <a:spLocks noGrp="1"/>
          </p:cNvSpPr>
          <p:nvPr/>
        </p:nvSpPr>
        <p:spPr>
          <a:xfrm>
            <a:off x="502920" y="457200"/>
            <a:ext cx="530352" cy="530352"/>
          </a:xfrm>
          <a:prstGeom prst="roundRect">
            <a:avLst>
              <a:gd name="adj" fmla="val 20690"/>
            </a:avLst>
          </a:prstGeom>
          <a:solidFill>
            <a:srgbClr val="21295C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8" name="Google Shape;118;p8">
            <a:extLst>
              <a:ext uri="{FF2B5EF4-FFF2-40B4-BE49-F238E27FC236}">
                <a16:creationId xmlns:a16="http://schemas.microsoft.com/office/drawing/2014/main" id="{DA15237E-2EA5-4F38-8F61-9C106995D2F6}"/>
              </a:ext>
            </a:extLst>
          </p:cNvPr>
          <p:cNvSpPr>
            <a:spLocks noGrp="1"/>
          </p:cNvSpPr>
          <p:nvPr/>
        </p:nvSpPr>
        <p:spPr>
          <a:xfrm>
            <a:off x="502920" y="45720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05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9" name="Google Shape;119;p8">
            <a:extLst>
              <a:ext uri="{FF2B5EF4-FFF2-40B4-BE49-F238E27FC236}">
                <a16:creationId xmlns:a16="http://schemas.microsoft.com/office/drawing/2014/main" id="{599C4A5C-F576-41D7-AFF5-D6B86B1742D3}"/>
              </a:ext>
            </a:extLst>
          </p:cNvPr>
          <p:cNvSpPr>
            <a:spLocks noGrp="1"/>
          </p:cNvSpPr>
          <p:nvPr/>
        </p:nvSpPr>
        <p:spPr>
          <a:xfrm>
            <a:off x="1234440" y="4297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sz="1100" b="1" i="0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SECTION 05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0" name="Google Shape;120;p8">
            <a:extLst>
              <a:ext uri="{FF2B5EF4-FFF2-40B4-BE49-F238E27FC236}">
                <a16:creationId xmlns:a16="http://schemas.microsoft.com/office/drawing/2014/main" id="{AE03ECF8-C57C-4CE7-AFB4-250D01E8B706}"/>
              </a:ext>
            </a:extLst>
          </p:cNvPr>
          <p:cNvSpPr>
            <a:spLocks noGrp="1"/>
          </p:cNvSpPr>
          <p:nvPr/>
        </p:nvSpPr>
        <p:spPr>
          <a:xfrm>
            <a:off x="1234440" y="676656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sz="3000" b="1" i="0" u="none" strike="noStrike" cap="none">
                <a:solidFill>
                  <a:srgbClr val="21295C"/>
                </a:solidFill>
                <a:latin typeface="Cambria"/>
                <a:ea typeface="Cambria"/>
                <a:cs typeface="Cambria"/>
              </a:rPr>
              <a:t>Design &amp; Development Stages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121" name="Google Shape;121;p8">
            <a:extLst>
              <a:ext uri="{FF2B5EF4-FFF2-40B4-BE49-F238E27FC236}">
                <a16:creationId xmlns:a16="http://schemas.microsoft.com/office/drawing/2014/main" id="{349EBF0C-AFE5-41B8-B0BB-A990BC23099B}"/>
              </a:ext>
            </a:extLst>
          </p:cNvPr>
          <p:cNvGraphicFramePr/>
          <p:nvPr/>
        </p:nvGraphicFramePr>
        <p:xfrm>
          <a:off x="1234440" y="1600210"/>
          <a:ext cx="9765925" cy="4526275"/>
        </p:xfrm>
        <a:graphic>
          <a:graphicData uri="http://schemas.openxmlformats.org/drawingml/2006/table">
            <a:tbl>
              <a:tblPr>
                <a:tableStyleId>{0B91DE8E-7D31-4855-8ECD-A43F555BC76C}</a:tableStyleId>
              </a:tblPr>
              <a:tblGrid>
                <a:gridCol w="731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72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9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82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75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sz="11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Stage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lnL w="9525" cmpd="sng">
                      <a:solidFill>
                        <a:srgbClr val="DEE4EF"/>
                      </a:solidFill>
                      <a:prstDash val="solid"/>
                    </a:lnL>
                    <a:lnR w="9525" cmpd="sng">
                      <a:solidFill>
                        <a:srgbClr val="DEE4EF"/>
                      </a:solidFill>
                      <a:prstDash val="solid"/>
                    </a:lnR>
                    <a:lnT w="9525" cmpd="sng">
                      <a:solidFill>
                        <a:srgbClr val="DEE4EF"/>
                      </a:solidFill>
                      <a:prstDash val="solid"/>
                    </a:lnT>
                    <a:lnB w="9525" cmpd="sng">
                      <a:solidFill>
                        <a:srgbClr val="DEE4EF"/>
                      </a:solidFill>
                      <a:prstDash val="soli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sz="11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Tasks / Activities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lnL w="9525" cmpd="sng">
                      <a:solidFill>
                        <a:srgbClr val="DEE4EF"/>
                      </a:solidFill>
                      <a:prstDash val="solid"/>
                    </a:lnL>
                    <a:lnR w="9525" cmpd="sng">
                      <a:solidFill>
                        <a:srgbClr val="DEE4EF"/>
                      </a:solidFill>
                      <a:prstDash val="solid"/>
                    </a:lnR>
                    <a:lnT w="9525" cmpd="sng">
                      <a:solidFill>
                        <a:srgbClr val="DEE4EF"/>
                      </a:solidFill>
                      <a:prstDash val="solid"/>
                    </a:lnT>
                    <a:lnB w="9525" cmpd="sng">
                      <a:solidFill>
                        <a:srgbClr val="DEE4EF"/>
                      </a:solidFill>
                      <a:prstDash val="soli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sz="11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Project Elements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lnL w="9525" cmpd="sng">
                      <a:solidFill>
                        <a:srgbClr val="DEE4EF"/>
                      </a:solidFill>
                      <a:prstDash val="solid"/>
                    </a:lnL>
                    <a:lnR w="9525" cmpd="sng">
                      <a:solidFill>
                        <a:srgbClr val="DEE4EF"/>
                      </a:solidFill>
                      <a:prstDash val="solid"/>
                    </a:lnR>
                    <a:lnT w="9525" cmpd="sng">
                      <a:solidFill>
                        <a:srgbClr val="DEE4EF"/>
                      </a:solidFill>
                      <a:prstDash val="solid"/>
                    </a:lnT>
                    <a:lnB w="9525" cmpd="sng">
                      <a:solidFill>
                        <a:srgbClr val="DEE4EF"/>
                      </a:solidFill>
                      <a:prstDash val="soli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sz="11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Output / Learning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lnL w="9525" cmpd="sng">
                      <a:solidFill>
                        <a:srgbClr val="DEE4EF"/>
                      </a:solidFill>
                      <a:prstDash val="solid"/>
                    </a:lnL>
                    <a:lnR w="9525" cmpd="sng">
                      <a:solidFill>
                        <a:srgbClr val="DEE4EF"/>
                      </a:solidFill>
                      <a:prstDash val="solid"/>
                    </a:lnR>
                    <a:lnT w="9525" cmpd="sng">
                      <a:solidFill>
                        <a:srgbClr val="DEE4EF"/>
                      </a:solidFill>
                      <a:prstDash val="solid"/>
                    </a:lnT>
                    <a:lnB w="9525" cmpd="sng">
                      <a:solidFill>
                        <a:srgbClr val="DEE4EF"/>
                      </a:solidFill>
                      <a:prstDash val="solid"/>
                    </a:lnB>
                    <a:solidFill>
                      <a:srgbClr val="212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100"/>
                        <a:buFont typeface="Calibri"/>
                        <a:buNone/>
                      </a:pPr>
                      <a:r>
                        <a:rPr sz="1100" b="1" i="0" u="none" strike="noStrike" cap="none">
                          <a:solidFill>
                            <a:srgbClr val="1B1F3B"/>
                          </a:solidFill>
                          <a:latin typeface="Calibri"/>
                          <a:ea typeface="Calibri"/>
                          <a:cs typeface="Calibri"/>
                        </a:rPr>
                        <a:t>Problem framing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lnL w="9525" cmpd="sng">
                      <a:solidFill>
                        <a:srgbClr val="DEE4EF"/>
                      </a:solidFill>
                      <a:prstDash val="solid"/>
                    </a:lnL>
                    <a:lnR w="9525" cmpd="sng">
                      <a:solidFill>
                        <a:srgbClr val="DEE4EF"/>
                      </a:solidFill>
                      <a:prstDash val="solid"/>
                    </a:lnR>
                    <a:lnT w="9525" cmpd="sng">
                      <a:solidFill>
                        <a:srgbClr val="DEE4EF"/>
                      </a:solidFill>
                      <a:prstDash val="solid"/>
                    </a:lnT>
                    <a:lnB w="9525" cmpd="sng">
                      <a:solidFill>
                        <a:srgbClr val="DEE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100"/>
                        <a:buFont typeface="Calibri"/>
                        <a:buNone/>
                      </a:pPr>
                      <a:r>
                        <a:rPr sz="1100" b="0" i="0" u="none" strike="noStrike" cap="none">
                          <a:solidFill>
                            <a:srgbClr val="1B1F3B"/>
                          </a:solidFill>
                          <a:latin typeface="Calibri"/>
                          <a:ea typeface="Calibri"/>
                          <a:cs typeface="Calibri"/>
                        </a:rPr>
                        <a:t>Identify the difficulty of finding household help in an unfamiliar locality.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lnL w="9525" cmpd="sng">
                      <a:solidFill>
                        <a:srgbClr val="DEE4EF"/>
                      </a:solidFill>
                      <a:prstDash val="solid"/>
                    </a:lnL>
                    <a:lnR w="9525" cmpd="sng">
                      <a:solidFill>
                        <a:srgbClr val="DEE4EF"/>
                      </a:solidFill>
                      <a:prstDash val="solid"/>
                    </a:lnR>
                    <a:lnT w="9525" cmpd="sng">
                      <a:solidFill>
                        <a:srgbClr val="DEE4EF"/>
                      </a:solidFill>
                      <a:prstDash val="solid"/>
                    </a:lnT>
                    <a:lnB w="9525" cmpd="sng">
                      <a:solidFill>
                        <a:srgbClr val="DEE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100"/>
                        <a:buFont typeface="Calibri"/>
                        <a:buNone/>
                      </a:pPr>
                      <a:r>
                        <a:rPr sz="1100" b="0" i="0" u="none" strike="noStrike" cap="none">
                          <a:solidFill>
                            <a:srgbClr val="1B1F3B"/>
                          </a:solidFill>
                          <a:latin typeface="Calibri"/>
                          <a:ea typeface="Calibri"/>
                          <a:cs typeface="Calibri"/>
                        </a:rPr>
                        <a:t>On-demand service concept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lnL w="9525" cmpd="sng">
                      <a:solidFill>
                        <a:srgbClr val="DEE4EF"/>
                      </a:solidFill>
                      <a:prstDash val="solid"/>
                    </a:lnL>
                    <a:lnR w="9525" cmpd="sng">
                      <a:solidFill>
                        <a:srgbClr val="DEE4EF"/>
                      </a:solidFill>
                      <a:prstDash val="solid"/>
                    </a:lnR>
                    <a:lnT w="9525" cmpd="sng">
                      <a:solidFill>
                        <a:srgbClr val="DEE4EF"/>
                      </a:solidFill>
                      <a:prstDash val="solid"/>
                    </a:lnT>
                    <a:lnB w="9525" cmpd="sng">
                      <a:solidFill>
                        <a:srgbClr val="DEE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100"/>
                        <a:buFont typeface="Calibri"/>
                        <a:buNone/>
                      </a:pPr>
                      <a:r>
                        <a:rPr sz="1100" b="0" i="0" u="none" strike="noStrike" cap="none">
                          <a:solidFill>
                            <a:srgbClr val="1B1F3B"/>
                          </a:solidFill>
                          <a:latin typeface="Calibri"/>
                          <a:ea typeface="Calibri"/>
                          <a:cs typeface="Calibri"/>
                        </a:rPr>
                        <a:t>A single place to express a service need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lnL w="9525" cmpd="sng">
                      <a:solidFill>
                        <a:srgbClr val="DEE4EF"/>
                      </a:solidFill>
                      <a:prstDash val="solid"/>
                    </a:lnL>
                    <a:lnR w="9525" cmpd="sng">
                      <a:solidFill>
                        <a:srgbClr val="DEE4EF"/>
                      </a:solidFill>
                      <a:prstDash val="solid"/>
                    </a:lnR>
                    <a:lnT w="9525" cmpd="sng">
                      <a:solidFill>
                        <a:srgbClr val="DEE4EF"/>
                      </a:solidFill>
                      <a:prstDash val="solid"/>
                    </a:lnT>
                    <a:lnB w="9525" cmpd="sng">
                      <a:solidFill>
                        <a:srgbClr val="DEE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100"/>
                        <a:buFont typeface="Calibri"/>
                        <a:buNone/>
                      </a:pPr>
                      <a:r>
                        <a:rPr sz="1100" b="1" i="0" u="none" strike="noStrike" cap="none">
                          <a:solidFill>
                            <a:srgbClr val="1B1F3B"/>
                          </a:solidFill>
                          <a:latin typeface="Calibri"/>
                          <a:ea typeface="Calibri"/>
                          <a:cs typeface="Calibri"/>
                        </a:rPr>
                        <a:t>Inputs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lnL w="9525" cmpd="sng">
                      <a:solidFill>
                        <a:srgbClr val="DEE4EF"/>
                      </a:solidFill>
                      <a:prstDash val="solid"/>
                    </a:lnL>
                    <a:lnR w="9525" cmpd="sng">
                      <a:solidFill>
                        <a:srgbClr val="DEE4EF"/>
                      </a:solidFill>
                      <a:prstDash val="solid"/>
                    </a:lnR>
                    <a:lnT w="9525" cmpd="sng">
                      <a:solidFill>
                        <a:srgbClr val="DEE4EF"/>
                      </a:solidFill>
                      <a:prstDash val="solid"/>
                    </a:lnT>
                    <a:lnB w="9525" cmpd="sng">
                      <a:solidFill>
                        <a:srgbClr val="DEE4EF"/>
                      </a:solidFill>
                      <a:prstDash val="soli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100"/>
                        <a:buFont typeface="Calibri"/>
                        <a:buNone/>
                      </a:pPr>
                      <a:r>
                        <a:rPr sz="1100" b="0" i="0" u="none" strike="noStrike" cap="none">
                          <a:solidFill>
                            <a:srgbClr val="1B1F3B"/>
                          </a:solidFill>
                          <a:latin typeface="Calibri"/>
                          <a:ea typeface="Calibri"/>
                          <a:cs typeface="Calibri"/>
                        </a:rPr>
                        <a:t>Define service choice, contact details, location, preferred slot and work description.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lnL w="9525" cmpd="sng">
                      <a:solidFill>
                        <a:srgbClr val="DEE4EF"/>
                      </a:solidFill>
                      <a:prstDash val="solid"/>
                    </a:lnL>
                    <a:lnR w="9525" cmpd="sng">
                      <a:solidFill>
                        <a:srgbClr val="DEE4EF"/>
                      </a:solidFill>
                      <a:prstDash val="solid"/>
                    </a:lnR>
                    <a:lnT w="9525" cmpd="sng">
                      <a:solidFill>
                        <a:srgbClr val="DEE4EF"/>
                      </a:solidFill>
                      <a:prstDash val="solid"/>
                    </a:lnT>
                    <a:lnB w="9525" cmpd="sng">
                      <a:solidFill>
                        <a:srgbClr val="DEE4EF"/>
                      </a:solidFill>
                      <a:prstDash val="soli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100"/>
                        <a:buFont typeface="Calibri"/>
                        <a:buNone/>
                      </a:pPr>
                      <a:r>
                        <a:rPr sz="1100" b="0" i="0" u="none" strike="noStrike" cap="none">
                          <a:solidFill>
                            <a:srgbClr val="1B1F3B"/>
                          </a:solidFill>
                          <a:latin typeface="Calibri"/>
                          <a:ea typeface="Calibri"/>
                          <a:cs typeface="Calibri"/>
                        </a:rPr>
                        <a:t>Booking form fields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lnL w="9525" cmpd="sng">
                      <a:solidFill>
                        <a:srgbClr val="DEE4EF"/>
                      </a:solidFill>
                      <a:prstDash val="solid"/>
                    </a:lnL>
                    <a:lnR w="9525" cmpd="sng">
                      <a:solidFill>
                        <a:srgbClr val="DEE4EF"/>
                      </a:solidFill>
                      <a:prstDash val="solid"/>
                    </a:lnR>
                    <a:lnT w="9525" cmpd="sng">
                      <a:solidFill>
                        <a:srgbClr val="DEE4EF"/>
                      </a:solidFill>
                      <a:prstDash val="solid"/>
                    </a:lnT>
                    <a:lnB w="9525" cmpd="sng">
                      <a:solidFill>
                        <a:srgbClr val="DEE4EF"/>
                      </a:solidFill>
                      <a:prstDash val="soli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100"/>
                        <a:buFont typeface="Calibri"/>
                        <a:buNone/>
                      </a:pPr>
                      <a:r>
                        <a:rPr sz="1100" b="0" i="0" u="none" strike="noStrike" cap="none">
                          <a:solidFill>
                            <a:srgbClr val="1B1F3B"/>
                          </a:solidFill>
                          <a:latin typeface="Calibri"/>
                          <a:ea typeface="Calibri"/>
                          <a:cs typeface="Calibri"/>
                        </a:rPr>
                        <a:t>Structured request information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lnL w="9525" cmpd="sng">
                      <a:solidFill>
                        <a:srgbClr val="DEE4EF"/>
                      </a:solidFill>
                      <a:prstDash val="solid"/>
                    </a:lnL>
                    <a:lnR w="9525" cmpd="sng">
                      <a:solidFill>
                        <a:srgbClr val="DEE4EF"/>
                      </a:solidFill>
                      <a:prstDash val="solid"/>
                    </a:lnR>
                    <a:lnT w="9525" cmpd="sng">
                      <a:solidFill>
                        <a:srgbClr val="DEE4EF"/>
                      </a:solidFill>
                      <a:prstDash val="solid"/>
                    </a:lnT>
                    <a:lnB w="9525" cmpd="sng">
                      <a:solidFill>
                        <a:srgbClr val="DEE4EF"/>
                      </a:solidFill>
                      <a:prstDash val="solid"/>
                    </a:lnB>
                    <a:solidFill>
                      <a:srgbClr val="EA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100"/>
                        <a:buFont typeface="Calibri"/>
                        <a:buNone/>
                      </a:pPr>
                      <a:r>
                        <a:rPr sz="1100" b="1" i="0" u="none" strike="noStrike" cap="none">
                          <a:solidFill>
                            <a:srgbClr val="1B1F3B"/>
                          </a:solidFill>
                          <a:latin typeface="Calibri"/>
                          <a:ea typeface="Calibri"/>
                          <a:cs typeface="Calibri"/>
                        </a:rPr>
                        <a:t>UI layout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lnL w="9525" cmpd="sng">
                      <a:solidFill>
                        <a:srgbClr val="DEE4EF"/>
                      </a:solidFill>
                      <a:prstDash val="solid"/>
                    </a:lnL>
                    <a:lnR w="9525" cmpd="sng">
                      <a:solidFill>
                        <a:srgbClr val="DEE4EF"/>
                      </a:solidFill>
                      <a:prstDash val="solid"/>
                    </a:lnR>
                    <a:lnT w="9525" cmpd="sng">
                      <a:solidFill>
                        <a:srgbClr val="DEE4EF"/>
                      </a:solidFill>
                      <a:prstDash val="solid"/>
                    </a:lnT>
                    <a:lnB w="9525" cmpd="sng">
                      <a:solidFill>
                        <a:srgbClr val="DEE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100"/>
                        <a:buFont typeface="Calibri"/>
                        <a:buNone/>
                      </a:pPr>
                      <a:r>
                        <a:rPr sz="1100" b="0" i="0" u="none" strike="noStrike" cap="none">
                          <a:solidFill>
                            <a:srgbClr val="1B1F3B"/>
                          </a:solidFill>
                          <a:latin typeface="Calibri"/>
                          <a:ea typeface="Calibri"/>
                          <a:cs typeface="Calibri"/>
                        </a:rPr>
                        <a:t>Organise category cards, booking details and status feedback on one page.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lnL w="9525" cmpd="sng">
                      <a:solidFill>
                        <a:srgbClr val="DEE4EF"/>
                      </a:solidFill>
                      <a:prstDash val="solid"/>
                    </a:lnL>
                    <a:lnR w="9525" cmpd="sng">
                      <a:solidFill>
                        <a:srgbClr val="DEE4EF"/>
                      </a:solidFill>
                      <a:prstDash val="solid"/>
                    </a:lnR>
                    <a:lnT w="9525" cmpd="sng">
                      <a:solidFill>
                        <a:srgbClr val="DEE4EF"/>
                      </a:solidFill>
                      <a:prstDash val="solid"/>
                    </a:lnT>
                    <a:lnB w="9525" cmpd="sng">
                      <a:solidFill>
                        <a:srgbClr val="DEE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100"/>
                        <a:buFont typeface="Calibri"/>
                        <a:buNone/>
                      </a:pPr>
                      <a:r>
                        <a:rPr sz="1100" b="0" i="0" u="none" strike="noStrike" cap="none">
                          <a:solidFill>
                            <a:srgbClr val="1B1F3B"/>
                          </a:solidFill>
                          <a:latin typeface="Calibri"/>
                          <a:ea typeface="Calibri"/>
                          <a:cs typeface="Calibri"/>
                        </a:rPr>
                        <a:t>HTML structure and CSS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lnL w="9525" cmpd="sng">
                      <a:solidFill>
                        <a:srgbClr val="DEE4EF"/>
                      </a:solidFill>
                      <a:prstDash val="solid"/>
                    </a:lnL>
                    <a:lnR w="9525" cmpd="sng">
                      <a:solidFill>
                        <a:srgbClr val="DEE4EF"/>
                      </a:solidFill>
                      <a:prstDash val="solid"/>
                    </a:lnR>
                    <a:lnT w="9525" cmpd="sng">
                      <a:solidFill>
                        <a:srgbClr val="DEE4EF"/>
                      </a:solidFill>
                      <a:prstDash val="solid"/>
                    </a:lnT>
                    <a:lnB w="9525" cmpd="sng">
                      <a:solidFill>
                        <a:srgbClr val="DEE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100"/>
                        <a:buFont typeface="Calibri"/>
                        <a:buNone/>
                      </a:pPr>
                      <a:r>
                        <a:rPr sz="1100" b="0" i="0" u="none" strike="noStrike" cap="none">
                          <a:solidFill>
                            <a:srgbClr val="1B1F3B"/>
                          </a:solidFill>
                          <a:latin typeface="Calibri"/>
                          <a:ea typeface="Calibri"/>
                          <a:cs typeface="Calibri"/>
                        </a:rPr>
                        <a:t>Clear step-by-step page flow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lnL w="9525" cmpd="sng">
                      <a:solidFill>
                        <a:srgbClr val="DEE4EF"/>
                      </a:solidFill>
                      <a:prstDash val="solid"/>
                    </a:lnL>
                    <a:lnR w="9525" cmpd="sng">
                      <a:solidFill>
                        <a:srgbClr val="DEE4EF"/>
                      </a:solidFill>
                      <a:prstDash val="solid"/>
                    </a:lnR>
                    <a:lnT w="9525" cmpd="sng">
                      <a:solidFill>
                        <a:srgbClr val="DEE4EF"/>
                      </a:solidFill>
                      <a:prstDash val="solid"/>
                    </a:lnT>
                    <a:lnB w="9525" cmpd="sng">
                      <a:solidFill>
                        <a:srgbClr val="DEE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100"/>
                        <a:buFont typeface="Calibri"/>
                        <a:buNone/>
                      </a:pPr>
                      <a:r>
                        <a:rPr sz="1100" b="1" i="0" u="none" strike="noStrike" cap="none">
                          <a:solidFill>
                            <a:srgbClr val="1B1F3B"/>
                          </a:solidFill>
                          <a:latin typeface="Calibri"/>
                          <a:ea typeface="Calibri"/>
                          <a:cs typeface="Calibri"/>
                        </a:rPr>
                        <a:t>Logic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lnL w="9525" cmpd="sng">
                      <a:solidFill>
                        <a:srgbClr val="DEE4EF"/>
                      </a:solidFill>
                      <a:prstDash val="solid"/>
                    </a:lnL>
                    <a:lnR w="9525" cmpd="sng">
                      <a:solidFill>
                        <a:srgbClr val="DEE4EF"/>
                      </a:solidFill>
                      <a:prstDash val="solid"/>
                    </a:lnR>
                    <a:lnT w="9525" cmpd="sng">
                      <a:solidFill>
                        <a:srgbClr val="DEE4EF"/>
                      </a:solidFill>
                      <a:prstDash val="solid"/>
                    </a:lnT>
                    <a:lnB w="9525" cmpd="sng">
                      <a:solidFill>
                        <a:srgbClr val="DEE4EF"/>
                      </a:solidFill>
                      <a:prstDash val="soli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100"/>
                        <a:buFont typeface="Calibri"/>
                        <a:buNone/>
                      </a:pPr>
                      <a:r>
                        <a:rPr sz="1100" b="0" i="0" u="none" strike="noStrike" cap="none">
                          <a:solidFill>
                            <a:srgbClr val="1B1F3B"/>
                          </a:solidFill>
                          <a:latin typeface="Calibri"/>
                          <a:ea typeface="Calibri"/>
                          <a:cs typeface="Calibri"/>
                        </a:rPr>
                        <a:t>Handle selection, required inputs, phone format, date minimum and confirmation.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lnL w="9525" cmpd="sng">
                      <a:solidFill>
                        <a:srgbClr val="DEE4EF"/>
                      </a:solidFill>
                      <a:prstDash val="solid"/>
                    </a:lnL>
                    <a:lnR w="9525" cmpd="sng">
                      <a:solidFill>
                        <a:srgbClr val="DEE4EF"/>
                      </a:solidFill>
                      <a:prstDash val="solid"/>
                    </a:lnR>
                    <a:lnT w="9525" cmpd="sng">
                      <a:solidFill>
                        <a:srgbClr val="DEE4EF"/>
                      </a:solidFill>
                      <a:prstDash val="solid"/>
                    </a:lnT>
                    <a:lnB w="9525" cmpd="sng">
                      <a:solidFill>
                        <a:srgbClr val="DEE4EF"/>
                      </a:solidFill>
                      <a:prstDash val="soli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100"/>
                        <a:buFont typeface="Calibri"/>
                        <a:buNone/>
                      </a:pPr>
                      <a:r>
                        <a:rPr sz="1100" b="0" i="0" u="none" strike="noStrike" cap="none">
                          <a:solidFill>
                            <a:srgbClr val="1B1F3B"/>
                          </a:solidFill>
                          <a:latin typeface="Calibri"/>
                          <a:ea typeface="Calibri"/>
                          <a:cs typeface="Calibri"/>
                        </a:rPr>
                        <a:t>JavaScript and browser form checks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lnL w="9525" cmpd="sng">
                      <a:solidFill>
                        <a:srgbClr val="DEE4EF"/>
                      </a:solidFill>
                      <a:prstDash val="solid"/>
                    </a:lnL>
                    <a:lnR w="9525" cmpd="sng">
                      <a:solidFill>
                        <a:srgbClr val="DEE4EF"/>
                      </a:solidFill>
                      <a:prstDash val="solid"/>
                    </a:lnR>
                    <a:lnT w="9525" cmpd="sng">
                      <a:solidFill>
                        <a:srgbClr val="DEE4EF"/>
                      </a:solidFill>
                      <a:prstDash val="solid"/>
                    </a:lnT>
                    <a:lnB w="9525" cmpd="sng">
                      <a:solidFill>
                        <a:srgbClr val="DEE4EF"/>
                      </a:solidFill>
                      <a:prstDash val="soli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100"/>
                        <a:buFont typeface="Calibri"/>
                        <a:buNone/>
                      </a:pPr>
                      <a:r>
                        <a:rPr sz="1100" b="0" i="0" u="none" strike="noStrike" cap="none">
                          <a:solidFill>
                            <a:srgbClr val="1B1F3B"/>
                          </a:solidFill>
                          <a:latin typeface="Calibri"/>
                          <a:ea typeface="Calibri"/>
                          <a:cs typeface="Calibri"/>
                        </a:rPr>
                        <a:t>Interactive front-end demonstration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lnL w="9525" cmpd="sng">
                      <a:solidFill>
                        <a:srgbClr val="DEE4EF"/>
                      </a:solidFill>
                      <a:prstDash val="solid"/>
                    </a:lnL>
                    <a:lnR w="9525" cmpd="sng">
                      <a:solidFill>
                        <a:srgbClr val="DEE4EF"/>
                      </a:solidFill>
                      <a:prstDash val="solid"/>
                    </a:lnR>
                    <a:lnT w="9525" cmpd="sng">
                      <a:solidFill>
                        <a:srgbClr val="DEE4EF"/>
                      </a:solidFill>
                      <a:prstDash val="solid"/>
                    </a:lnT>
                    <a:lnB w="9525" cmpd="sng">
                      <a:solidFill>
                        <a:srgbClr val="DEE4EF"/>
                      </a:solidFill>
                      <a:prstDash val="solid"/>
                    </a:lnB>
                    <a:solidFill>
                      <a:srgbClr val="EA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100"/>
                        <a:buFont typeface="Calibri"/>
                        <a:buNone/>
                      </a:pPr>
                      <a:r>
                        <a:rPr sz="1100" b="1" i="0" u="none" strike="noStrike" cap="none">
                          <a:solidFill>
                            <a:srgbClr val="1B1F3B"/>
                          </a:solidFill>
                          <a:latin typeface="Calibri"/>
                          <a:ea typeface="Calibri"/>
                          <a:cs typeface="Calibri"/>
                        </a:rPr>
                        <a:t>Status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lnL w="9525" cmpd="sng">
                      <a:solidFill>
                        <a:srgbClr val="DEE4EF"/>
                      </a:solidFill>
                      <a:prstDash val="solid"/>
                    </a:lnL>
                    <a:lnR w="9525" cmpd="sng">
                      <a:solidFill>
                        <a:srgbClr val="DEE4EF"/>
                      </a:solidFill>
                      <a:prstDash val="solid"/>
                    </a:lnR>
                    <a:lnT w="9525" cmpd="sng">
                      <a:solidFill>
                        <a:srgbClr val="DEE4EF"/>
                      </a:solidFill>
                      <a:prstDash val="solid"/>
                    </a:lnT>
                    <a:lnB w="9525" cmpd="sng">
                      <a:solidFill>
                        <a:srgbClr val="DEE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100"/>
                        <a:buFont typeface="Calibri"/>
                        <a:buNone/>
                      </a:pPr>
                      <a:r>
                        <a:rPr sz="1100" b="0" i="0" u="none" strike="noStrike" cap="none">
                          <a:solidFill>
                            <a:srgbClr val="1B1F3B"/>
                          </a:solidFill>
                          <a:latin typeface="Calibri"/>
                          <a:ea typeface="Calibri"/>
                          <a:cs typeface="Calibri"/>
                        </a:rPr>
                        <a:t>Create a temporary demo ID and allow sample status changes.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lnL w="9525" cmpd="sng">
                      <a:solidFill>
                        <a:srgbClr val="DEE4EF"/>
                      </a:solidFill>
                      <a:prstDash val="solid"/>
                    </a:lnL>
                    <a:lnR w="9525" cmpd="sng">
                      <a:solidFill>
                        <a:srgbClr val="DEE4EF"/>
                      </a:solidFill>
                      <a:prstDash val="solid"/>
                    </a:lnR>
                    <a:lnT w="9525" cmpd="sng">
                      <a:solidFill>
                        <a:srgbClr val="DEE4EF"/>
                      </a:solidFill>
                      <a:prstDash val="solid"/>
                    </a:lnT>
                    <a:lnB w="9525" cmpd="sng">
                      <a:solidFill>
                        <a:srgbClr val="DEE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100"/>
                        <a:buFont typeface="Calibri"/>
                        <a:buNone/>
                      </a:pPr>
                      <a:r>
                        <a:rPr sz="1100" b="0" i="0" u="none" strike="noStrike" cap="none">
                          <a:solidFill>
                            <a:srgbClr val="1B1F3B"/>
                          </a:solidFill>
                          <a:latin typeface="Calibri"/>
                          <a:ea typeface="Calibri"/>
                          <a:cs typeface="Calibri"/>
                        </a:rPr>
                        <a:t>In-memory booking object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lnL w="9525" cmpd="sng">
                      <a:solidFill>
                        <a:srgbClr val="DEE4EF"/>
                      </a:solidFill>
                      <a:prstDash val="solid"/>
                    </a:lnL>
                    <a:lnR w="9525" cmpd="sng">
                      <a:solidFill>
                        <a:srgbClr val="DEE4EF"/>
                      </a:solidFill>
                      <a:prstDash val="solid"/>
                    </a:lnR>
                    <a:lnT w="9525" cmpd="sng">
                      <a:solidFill>
                        <a:srgbClr val="DEE4EF"/>
                      </a:solidFill>
                      <a:prstDash val="solid"/>
                    </a:lnT>
                    <a:lnB w="9525" cmpd="sng">
                      <a:solidFill>
                        <a:srgbClr val="DEE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100"/>
                        <a:buFont typeface="Calibri"/>
                        <a:buNone/>
                      </a:pPr>
                      <a:r>
                        <a:rPr sz="1100" b="0" i="0" u="none" strike="noStrike" cap="none">
                          <a:solidFill>
                            <a:srgbClr val="1B1F3B"/>
                          </a:solidFill>
                          <a:latin typeface="Calibri"/>
                          <a:ea typeface="Calibri"/>
                          <a:cs typeface="Calibri"/>
                        </a:rPr>
                        <a:t>Request-to-completion status flow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lnL w="9525" cmpd="sng">
                      <a:solidFill>
                        <a:srgbClr val="DEE4EF"/>
                      </a:solidFill>
                      <a:prstDash val="solid"/>
                    </a:lnL>
                    <a:lnR w="9525" cmpd="sng">
                      <a:solidFill>
                        <a:srgbClr val="DEE4EF"/>
                      </a:solidFill>
                      <a:prstDash val="solid"/>
                    </a:lnR>
                    <a:lnT w="9525" cmpd="sng">
                      <a:solidFill>
                        <a:srgbClr val="DEE4EF"/>
                      </a:solidFill>
                      <a:prstDash val="solid"/>
                    </a:lnT>
                    <a:lnB w="9525" cmpd="sng">
                      <a:solidFill>
                        <a:srgbClr val="DEE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100"/>
                        <a:buFont typeface="Calibri"/>
                        <a:buNone/>
                      </a:pPr>
                      <a:r>
                        <a:rPr sz="1100" b="1" i="0" u="none" strike="noStrike" cap="none">
                          <a:solidFill>
                            <a:srgbClr val="1B1F3B"/>
                          </a:solidFill>
                          <a:latin typeface="Calibri"/>
                          <a:ea typeface="Calibri"/>
                          <a:cs typeface="Calibri"/>
                        </a:rPr>
                        <a:t>Review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lnL w="9525" cmpd="sng">
                      <a:solidFill>
                        <a:srgbClr val="DEE4EF"/>
                      </a:solidFill>
                      <a:prstDash val="solid"/>
                    </a:lnL>
                    <a:lnR w="9525" cmpd="sng">
                      <a:solidFill>
                        <a:srgbClr val="DEE4EF"/>
                      </a:solidFill>
                      <a:prstDash val="solid"/>
                    </a:lnR>
                    <a:lnT w="9525" cmpd="sng">
                      <a:solidFill>
                        <a:srgbClr val="DEE4EF"/>
                      </a:solidFill>
                      <a:prstDash val="solid"/>
                    </a:lnT>
                    <a:lnB w="9525" cmpd="sng">
                      <a:solidFill>
                        <a:srgbClr val="DEE4EF"/>
                      </a:solidFill>
                      <a:prstDash val="soli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100"/>
                        <a:buFont typeface="Calibri"/>
                        <a:buNone/>
                      </a:pPr>
                      <a:r>
                        <a:rPr sz="1100" b="0" i="0" u="none" strike="noStrike" cap="none">
                          <a:solidFill>
                            <a:srgbClr val="1B1F3B"/>
                          </a:solidFill>
                          <a:latin typeface="Calibri"/>
                          <a:ea typeface="Calibri"/>
                          <a:cs typeface="Calibri"/>
                        </a:rPr>
                        <a:t>Document what works in the demo and what still requires a backend.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lnL w="9525" cmpd="sng">
                      <a:solidFill>
                        <a:srgbClr val="DEE4EF"/>
                      </a:solidFill>
                      <a:prstDash val="solid"/>
                    </a:lnL>
                    <a:lnR w="9525" cmpd="sng">
                      <a:solidFill>
                        <a:srgbClr val="DEE4EF"/>
                      </a:solidFill>
                      <a:prstDash val="solid"/>
                    </a:lnR>
                    <a:lnT w="9525" cmpd="sng">
                      <a:solidFill>
                        <a:srgbClr val="DEE4EF"/>
                      </a:solidFill>
                      <a:prstDash val="solid"/>
                    </a:lnT>
                    <a:lnB w="9525" cmpd="sng">
                      <a:solidFill>
                        <a:srgbClr val="DEE4EF"/>
                      </a:solidFill>
                      <a:prstDash val="soli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100"/>
                        <a:buFont typeface="Calibri"/>
                        <a:buNone/>
                      </a:pPr>
                      <a:r>
                        <a:rPr sz="1100" b="0" i="0" u="none" strike="noStrike" cap="none">
                          <a:solidFill>
                            <a:srgbClr val="1B1F3B"/>
                          </a:solidFill>
                          <a:latin typeface="Calibri"/>
                          <a:ea typeface="Calibri"/>
                          <a:cs typeface="Calibri"/>
                        </a:rPr>
                        <a:t>Source code and project report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lnL w="9525" cmpd="sng">
                      <a:solidFill>
                        <a:srgbClr val="DEE4EF"/>
                      </a:solidFill>
                      <a:prstDash val="solid"/>
                    </a:lnL>
                    <a:lnR w="9525" cmpd="sng">
                      <a:solidFill>
                        <a:srgbClr val="DEE4EF"/>
                      </a:solidFill>
                      <a:prstDash val="solid"/>
                    </a:lnR>
                    <a:lnT w="9525" cmpd="sng">
                      <a:solidFill>
                        <a:srgbClr val="DEE4EF"/>
                      </a:solidFill>
                      <a:prstDash val="solid"/>
                    </a:lnT>
                    <a:lnB w="9525" cmpd="sng">
                      <a:solidFill>
                        <a:srgbClr val="DEE4EF"/>
                      </a:solidFill>
                      <a:prstDash val="soli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100"/>
                        <a:buFont typeface="Calibri"/>
                        <a:buNone/>
                      </a:pPr>
                      <a:r>
                        <a:rPr sz="1100" b="0" i="0" u="none" strike="noStrike" cap="none">
                          <a:solidFill>
                            <a:srgbClr val="1B1F3B"/>
                          </a:solidFill>
                          <a:latin typeface="Calibri"/>
                          <a:ea typeface="Calibri"/>
                          <a:cs typeface="Calibri"/>
                        </a:rPr>
                        <a:t>Limitations and next steps made explicit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lnL w="9525" cmpd="sng">
                      <a:solidFill>
                        <a:srgbClr val="DEE4EF"/>
                      </a:solidFill>
                      <a:prstDash val="solid"/>
                    </a:lnL>
                    <a:lnR w="9525" cmpd="sng">
                      <a:solidFill>
                        <a:srgbClr val="DEE4EF"/>
                      </a:solidFill>
                      <a:prstDash val="solid"/>
                    </a:lnR>
                    <a:lnT w="9525" cmpd="sng">
                      <a:solidFill>
                        <a:srgbClr val="DEE4EF"/>
                      </a:solidFill>
                      <a:prstDash val="solid"/>
                    </a:lnT>
                    <a:lnB w="9525" cmpd="sng">
                      <a:solidFill>
                        <a:srgbClr val="DEE4EF"/>
                      </a:solidFill>
                      <a:prstDash val="solid"/>
                    </a:lnB>
                    <a:solidFill>
                      <a:srgbClr val="EA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2" name="Google Shape;122;p8">
            <a:extLst>
              <a:ext uri="{FF2B5EF4-FFF2-40B4-BE49-F238E27FC236}">
                <a16:creationId xmlns:a16="http://schemas.microsoft.com/office/drawing/2014/main" id="{3AC17BD2-6B9D-47D1-9E48-F3CD1D5A8682}"/>
              </a:ext>
            </a:extLst>
          </p:cNvPr>
          <p:cNvSpPr>
            <a:spLocks noGrp="1"/>
          </p:cNvSpPr>
          <p:nvPr/>
        </p:nvSpPr>
        <p:spPr>
          <a:xfrm>
            <a:off x="502920" y="651967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sz="900" b="0" i="0" u="none" strike="noStrike" cap="none">
                <a:solidFill>
                  <a:srgbClr val="6B7593"/>
                </a:solidFill>
                <a:latin typeface="Calibri"/>
                <a:ea typeface="Calibri"/>
                <a:cs typeface="Calibri"/>
              </a:rPr>
              <a:t>MINI PROJECT PRESENTATION  ·  OWN DEMAND SERVICE APP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3" name="Google Shape;123;p8">
            <a:extLst>
              <a:ext uri="{FF2B5EF4-FFF2-40B4-BE49-F238E27FC236}">
                <a16:creationId xmlns:a16="http://schemas.microsoft.com/office/drawing/2014/main" id="{2536D1F9-C523-415B-8C2A-DD89D2EFB1CF}"/>
              </a:ext>
            </a:extLst>
          </p:cNvPr>
          <p:cNvSpPr>
            <a:spLocks noGrp="1"/>
          </p:cNvSpPr>
          <p:nvPr/>
        </p:nvSpPr>
        <p:spPr>
          <a:xfrm>
            <a:off x="11228832" y="651967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sz="900" b="0" i="0" u="none" strike="noStrike" cap="none">
                <a:solidFill>
                  <a:srgbClr val="6B7593"/>
                </a:solidFill>
                <a:latin typeface="Calibri"/>
                <a:ea typeface="Calibri"/>
                <a:cs typeface="Calibri"/>
              </a:rPr>
              <a:t>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567756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">
            <a:extLst>
              <a:ext uri="{FF2B5EF4-FFF2-40B4-BE49-F238E27FC236}">
                <a16:creationId xmlns:a16="http://schemas.microsoft.com/office/drawing/2014/main" id="{C6EBE701-145E-4BA1-812D-78EFF60C077B}"/>
              </a:ext>
            </a:extLst>
          </p:cNvPr>
          <p:cNvSpPr>
            <a:spLocks noGrp="1"/>
          </p:cNvSpPr>
          <p:nvPr/>
        </p:nvSpPr>
        <p:spPr>
          <a:xfrm>
            <a:off x="10424160" y="-1463040"/>
            <a:ext cx="3108960" cy="3108960"/>
          </a:xfrm>
          <a:prstGeom prst="ellipse">
            <a:avLst/>
          </a:prstGeom>
          <a:solidFill>
            <a:srgbClr val="1C7293">
              <a:alpha val="7843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0" name="Google Shape;130;p9">
            <a:extLst>
              <a:ext uri="{FF2B5EF4-FFF2-40B4-BE49-F238E27FC236}">
                <a16:creationId xmlns:a16="http://schemas.microsoft.com/office/drawing/2014/main" id="{3E100867-2140-478B-B860-B5D6DC476EEC}"/>
              </a:ext>
            </a:extLst>
          </p:cNvPr>
          <p:cNvSpPr>
            <a:spLocks noGrp="1"/>
          </p:cNvSpPr>
          <p:nvPr/>
        </p:nvSpPr>
        <p:spPr>
          <a:xfrm>
            <a:off x="-1097280" y="5669280"/>
            <a:ext cx="2194560" cy="2194560"/>
          </a:xfrm>
          <a:prstGeom prst="ellipse">
            <a:avLst/>
          </a:prstGeom>
          <a:solidFill>
            <a:srgbClr val="21295C">
              <a:alpha val="5098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1" name="Google Shape;131;p9">
            <a:extLst>
              <a:ext uri="{FF2B5EF4-FFF2-40B4-BE49-F238E27FC236}">
                <a16:creationId xmlns:a16="http://schemas.microsoft.com/office/drawing/2014/main" id="{7A927AB7-795B-487F-B523-90C702EC9867}"/>
              </a:ext>
            </a:extLst>
          </p:cNvPr>
          <p:cNvSpPr>
            <a:spLocks noGrp="1"/>
          </p:cNvSpPr>
          <p:nvPr/>
        </p:nvSpPr>
        <p:spPr>
          <a:xfrm>
            <a:off x="502920" y="457200"/>
            <a:ext cx="530352" cy="530352"/>
          </a:xfrm>
          <a:prstGeom prst="roundRect">
            <a:avLst>
              <a:gd name="adj" fmla="val 20690"/>
            </a:avLst>
          </a:prstGeom>
          <a:solidFill>
            <a:srgbClr val="21295C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2" name="Google Shape;132;p9">
            <a:extLst>
              <a:ext uri="{FF2B5EF4-FFF2-40B4-BE49-F238E27FC236}">
                <a16:creationId xmlns:a16="http://schemas.microsoft.com/office/drawing/2014/main" id="{AF65BD37-69BE-4DDC-8AAE-3A82036AF53C}"/>
              </a:ext>
            </a:extLst>
          </p:cNvPr>
          <p:cNvSpPr>
            <a:spLocks noGrp="1"/>
          </p:cNvSpPr>
          <p:nvPr/>
        </p:nvSpPr>
        <p:spPr>
          <a:xfrm>
            <a:off x="502920" y="45720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06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3" name="Google Shape;133;p9">
            <a:extLst>
              <a:ext uri="{FF2B5EF4-FFF2-40B4-BE49-F238E27FC236}">
                <a16:creationId xmlns:a16="http://schemas.microsoft.com/office/drawing/2014/main" id="{2DF4AB70-A6FB-449E-8AAE-7716B904E115}"/>
              </a:ext>
            </a:extLst>
          </p:cNvPr>
          <p:cNvSpPr>
            <a:spLocks noGrp="1"/>
          </p:cNvSpPr>
          <p:nvPr/>
        </p:nvSpPr>
        <p:spPr>
          <a:xfrm>
            <a:off x="1234440" y="4297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sz="1100" b="1" i="0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SECTION 06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4" name="Google Shape;134;p9">
            <a:extLst>
              <a:ext uri="{FF2B5EF4-FFF2-40B4-BE49-F238E27FC236}">
                <a16:creationId xmlns:a16="http://schemas.microsoft.com/office/drawing/2014/main" id="{B8CB3C34-3976-4265-A547-88B0ADA21D2C}"/>
              </a:ext>
            </a:extLst>
          </p:cNvPr>
          <p:cNvSpPr>
            <a:spLocks noGrp="1"/>
          </p:cNvSpPr>
          <p:nvPr/>
        </p:nvSpPr>
        <p:spPr>
          <a:xfrm>
            <a:off x="1234440" y="676656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sz="3000" b="1" i="0" u="none" strike="noStrike" cap="none">
                <a:solidFill>
                  <a:srgbClr val="21295C"/>
                </a:solidFill>
                <a:latin typeface="Cambria"/>
                <a:ea typeface="Cambria"/>
                <a:cs typeface="Cambria"/>
              </a:rPr>
              <a:t>Booking Request Workflow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5" name="Google Shape;135;p9">
            <a:extLst>
              <a:ext uri="{FF2B5EF4-FFF2-40B4-BE49-F238E27FC236}">
                <a16:creationId xmlns:a16="http://schemas.microsoft.com/office/drawing/2014/main" id="{1D6D579D-9D64-49F4-ACC7-CCD44D63AD40}"/>
              </a:ext>
            </a:extLst>
          </p:cNvPr>
          <p:cNvSpPr>
            <a:spLocks noGrp="1"/>
          </p:cNvSpPr>
          <p:nvPr/>
        </p:nvSpPr>
        <p:spPr>
          <a:xfrm>
            <a:off x="1234450" y="1517488"/>
            <a:ext cx="9692700" cy="466800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5875" cap="flat" cmpd="sng">
            <a:solidFill>
              <a:srgbClr val="DEE4EF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7" name="Google Shape;137;p9">
            <a:extLst>
              <a:ext uri="{FF2B5EF4-FFF2-40B4-BE49-F238E27FC236}">
                <a16:creationId xmlns:a16="http://schemas.microsoft.com/office/drawing/2014/main" id="{F2467DB0-FB5A-471F-89BC-6711D3738ABF}"/>
              </a:ext>
            </a:extLst>
          </p:cNvPr>
          <p:cNvSpPr>
            <a:spLocks noGrp="1"/>
          </p:cNvSpPr>
          <p:nvPr/>
        </p:nvSpPr>
        <p:spPr>
          <a:xfrm>
            <a:off x="502920" y="651967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sz="900" b="0" i="0" u="none" strike="noStrike" cap="none">
                <a:solidFill>
                  <a:srgbClr val="6B7593"/>
                </a:solidFill>
                <a:latin typeface="Calibri"/>
                <a:ea typeface="Calibri"/>
                <a:cs typeface="Calibri"/>
              </a:rPr>
              <a:t>MINI PROJECT PRESENTATION  ·  OWN DEMAND SERVICE APP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8" name="Google Shape;138;p9">
            <a:extLst>
              <a:ext uri="{FF2B5EF4-FFF2-40B4-BE49-F238E27FC236}">
                <a16:creationId xmlns:a16="http://schemas.microsoft.com/office/drawing/2014/main" id="{37A02EA9-A727-4AFC-9E3A-BF3C1FFC2DC6}"/>
              </a:ext>
            </a:extLst>
          </p:cNvPr>
          <p:cNvSpPr>
            <a:spLocks noGrp="1"/>
          </p:cNvSpPr>
          <p:nvPr/>
        </p:nvSpPr>
        <p:spPr>
          <a:xfrm>
            <a:off x="11228832" y="651967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sz="900" b="0" i="0" u="none" strike="noStrike" cap="none">
                <a:solidFill>
                  <a:srgbClr val="6B7593"/>
                </a:solidFill>
                <a:latin typeface="Calibri"/>
                <a:ea typeface="Calibri"/>
                <a:cs typeface="Calibri"/>
              </a:rPr>
              <a:t>7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9" name="Workflow step 1">
            <a:extLst>
              <a:ext uri="{FF2B5EF4-FFF2-40B4-BE49-F238E27FC236}">
                <a16:creationId xmlns:a16="http://schemas.microsoft.com/office/drawing/2014/main" id="{C1C4E51E-6C7D-4D81-84BD-FF47E98C162C}"/>
              </a:ext>
            </a:extLst>
          </p:cNvPr>
          <p:cNvSpPr>
            <a:spLocks noGrp="1"/>
          </p:cNvSpPr>
          <p:nvPr/>
        </p:nvSpPr>
        <p:spPr>
          <a:xfrm>
            <a:off x="1500000" y="1700000"/>
            <a:ext cx="1500000" cy="1250000"/>
          </a:xfrm>
          <a:prstGeom prst="roundRect">
            <a:avLst>
              <a:gd name="adj" fmla="val 8000"/>
            </a:avLst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60000" rIns="70000" bIns="60000" anchor="ctr"/>
          <a:lstStyle/>
          <a:p>
            <a:pPr algn="ctr">
              <a:buNone/>
            </a:pPr>
            <a:r>
              <a:rPr sz="1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Select Service</a:t>
            </a:r>
          </a:p>
          <a:p>
            <a:pPr algn="ctr">
              <a:spcBef>
                <a:spcPts val="400"/>
              </a:spcBef>
              <a:buNone/>
            </a:pPr>
            <a:r>
              <a:rPr sz="12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Choose one of six categories</a:t>
            </a:r>
          </a:p>
        </p:txBody>
      </p:sp>
      <p:sp>
        <p:nvSpPr>
          <p:cNvPr id="140" name="Workflow arrow 1">
            <a:extLst>
              <a:ext uri="{FF2B5EF4-FFF2-40B4-BE49-F238E27FC236}">
                <a16:creationId xmlns:a16="http://schemas.microsoft.com/office/drawing/2014/main" id="{D6A35061-1D8A-481C-8223-EA7E8F215995}"/>
              </a:ext>
            </a:extLst>
          </p:cNvPr>
          <p:cNvSpPr>
            <a:spLocks noGrp="1"/>
          </p:cNvSpPr>
          <p:nvPr/>
        </p:nvSpPr>
        <p:spPr>
          <a:xfrm>
            <a:off x="3075000" y="2195000"/>
            <a:ext cx="275000" cy="260000"/>
          </a:xfrm>
          <a:prstGeom prst="rightArrow">
            <a:avLst/>
          </a:prstGeom>
          <a:solidFill>
            <a:srgbClr val="9AA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1" name="Workflow step 2">
            <a:extLst>
              <a:ext uri="{FF2B5EF4-FFF2-40B4-BE49-F238E27FC236}">
                <a16:creationId xmlns:a16="http://schemas.microsoft.com/office/drawing/2014/main" id="{695C7DDA-5F4C-45D2-9331-C39A4ED4EE63}"/>
              </a:ext>
            </a:extLst>
          </p:cNvPr>
          <p:cNvSpPr>
            <a:spLocks noGrp="1"/>
          </p:cNvSpPr>
          <p:nvPr/>
        </p:nvSpPr>
        <p:spPr>
          <a:xfrm>
            <a:off x="3425000" y="1700000"/>
            <a:ext cx="1500000" cy="12500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60000" rIns="70000" bIns="60000" anchor="ctr"/>
          <a:lstStyle/>
          <a:p>
            <a:pPr algn="ctr">
              <a:buNone/>
            </a:pPr>
            <a:r>
              <a:rPr sz="1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Enter Details</a:t>
            </a:r>
          </a:p>
          <a:p>
            <a:pPr algn="ctr">
              <a:spcBef>
                <a:spcPts val="400"/>
              </a:spcBef>
              <a:buNone/>
            </a:pPr>
            <a:r>
              <a:rPr sz="12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Contact, address and request</a:t>
            </a:r>
          </a:p>
        </p:txBody>
      </p:sp>
      <p:sp>
        <p:nvSpPr>
          <p:cNvPr id="142" name="Workflow arrow 2">
            <a:extLst>
              <a:ext uri="{FF2B5EF4-FFF2-40B4-BE49-F238E27FC236}">
                <a16:creationId xmlns:a16="http://schemas.microsoft.com/office/drawing/2014/main" id="{EFD09B65-0DAD-48DF-AA54-278A9AAA409A}"/>
              </a:ext>
            </a:extLst>
          </p:cNvPr>
          <p:cNvSpPr>
            <a:spLocks noGrp="1"/>
          </p:cNvSpPr>
          <p:nvPr/>
        </p:nvSpPr>
        <p:spPr>
          <a:xfrm>
            <a:off x="5000000" y="2195000"/>
            <a:ext cx="275000" cy="260000"/>
          </a:xfrm>
          <a:prstGeom prst="rightArrow">
            <a:avLst/>
          </a:prstGeom>
          <a:solidFill>
            <a:srgbClr val="9AA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3" name="Workflow step 3">
            <a:extLst>
              <a:ext uri="{FF2B5EF4-FFF2-40B4-BE49-F238E27FC236}">
                <a16:creationId xmlns:a16="http://schemas.microsoft.com/office/drawing/2014/main" id="{42260983-2DA6-4FF7-A240-E7461FCA6B7D}"/>
              </a:ext>
            </a:extLst>
          </p:cNvPr>
          <p:cNvSpPr>
            <a:spLocks noGrp="1"/>
          </p:cNvSpPr>
          <p:nvPr/>
        </p:nvSpPr>
        <p:spPr>
          <a:xfrm>
            <a:off x="5350000" y="1700000"/>
            <a:ext cx="1500000" cy="1250000"/>
          </a:xfrm>
          <a:prstGeom prst="roundRect">
            <a:avLst>
              <a:gd name="adj" fmla="val 8000"/>
            </a:avLst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60000" rIns="70000" bIns="60000" anchor="ctr"/>
          <a:lstStyle/>
          <a:p>
            <a:pPr algn="ctr">
              <a:buNone/>
            </a:pPr>
            <a:r>
              <a:rPr sz="1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Validate Inputs</a:t>
            </a:r>
          </a:p>
          <a:p>
            <a:pPr algn="ctr">
              <a:spcBef>
                <a:spcPts val="400"/>
              </a:spcBef>
              <a:buNone/>
            </a:pPr>
            <a:r>
              <a:rPr sz="12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Required fields and phone</a:t>
            </a:r>
          </a:p>
        </p:txBody>
      </p:sp>
      <p:sp>
        <p:nvSpPr>
          <p:cNvPr id="144" name="Workflow arrow 3">
            <a:extLst>
              <a:ext uri="{FF2B5EF4-FFF2-40B4-BE49-F238E27FC236}">
                <a16:creationId xmlns:a16="http://schemas.microsoft.com/office/drawing/2014/main" id="{CEC2B0B8-9CED-42D3-88FF-C74B09F9F47D}"/>
              </a:ext>
            </a:extLst>
          </p:cNvPr>
          <p:cNvSpPr>
            <a:spLocks noGrp="1"/>
          </p:cNvSpPr>
          <p:nvPr/>
        </p:nvSpPr>
        <p:spPr>
          <a:xfrm>
            <a:off x="6925000" y="2195000"/>
            <a:ext cx="275000" cy="260000"/>
          </a:xfrm>
          <a:prstGeom prst="rightArrow">
            <a:avLst/>
          </a:prstGeom>
          <a:solidFill>
            <a:srgbClr val="9AA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5" name="Workflow step 4">
            <a:extLst>
              <a:ext uri="{FF2B5EF4-FFF2-40B4-BE49-F238E27FC236}">
                <a16:creationId xmlns:a16="http://schemas.microsoft.com/office/drawing/2014/main" id="{0559B21D-3279-4FE4-99C6-AE2F121D0562}"/>
              </a:ext>
            </a:extLst>
          </p:cNvPr>
          <p:cNvSpPr>
            <a:spLocks noGrp="1"/>
          </p:cNvSpPr>
          <p:nvPr/>
        </p:nvSpPr>
        <p:spPr>
          <a:xfrm>
            <a:off x="7275000" y="1700000"/>
            <a:ext cx="1500000" cy="12500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60000" rIns="70000" bIns="60000" anchor="ctr"/>
          <a:lstStyle/>
          <a:p>
            <a:pPr algn="ctr">
              <a:buNone/>
            </a:pPr>
            <a:r>
              <a:rPr sz="1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Create Demo Booking</a:t>
            </a:r>
          </a:p>
          <a:p>
            <a:pPr algn="ctr">
              <a:spcBef>
                <a:spcPts val="400"/>
              </a:spcBef>
              <a:buNone/>
            </a:pPr>
            <a:r>
              <a:rPr sz="12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Temporary ODS ID and summary</a:t>
            </a:r>
          </a:p>
        </p:txBody>
      </p:sp>
      <p:sp>
        <p:nvSpPr>
          <p:cNvPr id="146" name="Workflow arrow 4">
            <a:extLst>
              <a:ext uri="{FF2B5EF4-FFF2-40B4-BE49-F238E27FC236}">
                <a16:creationId xmlns:a16="http://schemas.microsoft.com/office/drawing/2014/main" id="{9883B7DA-8CA3-4984-A449-43834620294A}"/>
              </a:ext>
            </a:extLst>
          </p:cNvPr>
          <p:cNvSpPr>
            <a:spLocks noGrp="1"/>
          </p:cNvSpPr>
          <p:nvPr/>
        </p:nvSpPr>
        <p:spPr>
          <a:xfrm>
            <a:off x="8850000" y="2195000"/>
            <a:ext cx="275000" cy="260000"/>
          </a:xfrm>
          <a:prstGeom prst="rightArrow">
            <a:avLst/>
          </a:prstGeom>
          <a:solidFill>
            <a:srgbClr val="9AA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7" name="Workflow step 5">
            <a:extLst>
              <a:ext uri="{FF2B5EF4-FFF2-40B4-BE49-F238E27FC236}">
                <a16:creationId xmlns:a16="http://schemas.microsoft.com/office/drawing/2014/main" id="{A5EC12CB-09A3-438D-94C8-F27602720058}"/>
              </a:ext>
            </a:extLst>
          </p:cNvPr>
          <p:cNvSpPr>
            <a:spLocks noGrp="1"/>
          </p:cNvSpPr>
          <p:nvPr/>
        </p:nvSpPr>
        <p:spPr>
          <a:xfrm>
            <a:off x="9200000" y="1700000"/>
            <a:ext cx="1500000" cy="1250000"/>
          </a:xfrm>
          <a:prstGeom prst="roundRect">
            <a:avLst>
              <a:gd name="adj" fmla="val 8000"/>
            </a:avLst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60000" rIns="70000" bIns="60000" anchor="ctr"/>
          <a:lstStyle/>
          <a:p>
            <a:pPr algn="ctr">
              <a:buNone/>
            </a:pPr>
            <a:r>
              <a:rPr sz="1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Show Status</a:t>
            </a:r>
          </a:p>
          <a:p>
            <a:pPr algn="ctr">
              <a:spcBef>
                <a:spcPts val="400"/>
              </a:spcBef>
              <a:buNone/>
            </a:pPr>
            <a:r>
              <a:rPr sz="12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Sample progress updates</a:t>
            </a:r>
          </a:p>
        </p:txBody>
      </p:sp>
      <p:sp>
        <p:nvSpPr>
          <p:cNvPr id="148" name="Contribution card">
            <a:extLst>
              <a:ext uri="{FF2B5EF4-FFF2-40B4-BE49-F238E27FC236}">
                <a16:creationId xmlns:a16="http://schemas.microsoft.com/office/drawing/2014/main" id="{AF51E38C-CDAC-4827-8463-27D080032F85}"/>
              </a:ext>
            </a:extLst>
          </p:cNvPr>
          <p:cNvSpPr>
            <a:spLocks noGrp="1"/>
          </p:cNvSpPr>
          <p:nvPr/>
        </p:nvSpPr>
        <p:spPr>
          <a:xfrm>
            <a:off x="1500000" y="3250000"/>
            <a:ext cx="4500000" cy="275000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270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0000" tIns="180000" rIns="150000" bIns="100000" anchor="t"/>
          <a:lstStyle/>
          <a:p>
            <a:pPr algn="l">
              <a:buNone/>
            </a:pPr>
            <a:r>
              <a:rPr sz="1600" b="1" i="0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Prototype Capabilities</a:t>
            </a:r>
          </a:p>
          <a:p>
            <a:pPr algn="l">
              <a:spcBef>
                <a:spcPts val="800"/>
              </a:spcBef>
              <a:buNone/>
            </a:pPr>
            <a:r>
              <a:rPr sz="1400" b="0" i="0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• Six selectable service categories</a:t>
            </a:r>
          </a:p>
          <a:p>
            <a:pPr algn="l">
              <a:spcBef>
                <a:spcPts val="800"/>
              </a:spcBef>
              <a:buNone/>
            </a:pPr>
            <a:r>
              <a:rPr sz="1400" b="0" i="0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• Booking form with preferred date and time</a:t>
            </a:r>
          </a:p>
          <a:p>
            <a:pPr algn="l">
              <a:spcBef>
                <a:spcPts val="800"/>
              </a:spcBef>
              <a:buNone/>
            </a:pPr>
            <a:r>
              <a:rPr sz="1400" b="0" i="0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• Required-field and 10-digit phone checks</a:t>
            </a:r>
          </a:p>
          <a:p>
            <a:pPr algn="l">
              <a:spcBef>
                <a:spcPts val="800"/>
              </a:spcBef>
              <a:buNone/>
            </a:pPr>
            <a:r>
              <a:rPr sz="1400" b="0" i="0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• Confirmation summary with a temporary ID</a:t>
            </a:r>
          </a:p>
          <a:p>
            <a:pPr algn="l">
              <a:spcBef>
                <a:spcPts val="800"/>
              </a:spcBef>
              <a:buNone/>
            </a:pPr>
            <a:r>
              <a:rPr sz="1400" b="0" i="0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• Sample status controls and clear-form action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8B1BCF5-DF29-4209-9327-90C4D000B3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0000" y="3245478"/>
            <a:ext cx="3850000" cy="2566042"/>
          </a:xfrm>
          <a:prstGeom prst="rect">
            <a:avLst/>
          </a:prstGeom>
        </p:spPr>
      </p:pic>
      <p:sp>
        <p:nvSpPr>
          <p:cNvPr id="149" name="Project status flow panel">
            <a:extLst>
              <a:ext uri="{FF2B5EF4-FFF2-40B4-BE49-F238E27FC236}">
                <a16:creationId xmlns:a16="http://schemas.microsoft.com/office/drawing/2014/main" id="{FD288901-7AEF-4A53-994F-057E832712C4}"/>
              </a:ext>
            </a:extLst>
          </p:cNvPr>
          <p:cNvSpPr>
            <a:spLocks noGrp="1"/>
          </p:cNvSpPr>
          <p:nvPr/>
        </p:nvSpPr>
        <p:spPr>
          <a:xfrm>
            <a:off x="6849999" y="3245453"/>
            <a:ext cx="3850005" cy="2566035"/>
          </a:xfrm>
          <a:prstGeom prst="roundRect">
            <a:avLst>
              <a:gd name="adj" fmla="val 4454"/>
            </a:avLst>
          </a:prstGeom>
          <a:solidFill>
            <a:srgbClr val="FFFFFF"/>
          </a:solidFill>
          <a:ln w="14288">
            <a:solidFill>
              <a:srgbClr val="CFE3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0" name="Project status flow title">
            <a:extLst>
              <a:ext uri="{FF2B5EF4-FFF2-40B4-BE49-F238E27FC236}">
                <a16:creationId xmlns:a16="http://schemas.microsoft.com/office/drawing/2014/main" id="{EDDAA08B-5FCE-4272-9D4A-1DE730ED6F67}"/>
              </a:ext>
            </a:extLst>
          </p:cNvPr>
          <p:cNvSpPr>
            <a:spLocks noGrp="1"/>
          </p:cNvSpPr>
          <p:nvPr/>
        </p:nvSpPr>
        <p:spPr>
          <a:xfrm>
            <a:off x="7058025" y="3371850"/>
            <a:ext cx="34290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>
            <a:defPPr algn="ctr">
              <a:defRPr sz="1275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defPPr>
            <a:lvl1pPr algn="ctr">
              <a:buNone/>
              <a:defRPr sz="1275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275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275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275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275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275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275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275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275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buNone/>
              <a:defRPr sz="1275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SAMPLE STATUS FLOW</a:t>
            </a:r>
          </a:p>
        </p:txBody>
      </p:sp>
      <p:sp>
        <p:nvSpPr>
          <p:cNvPr id="151" name="Status 1 Booking Requested">
            <a:extLst>
              <a:ext uri="{FF2B5EF4-FFF2-40B4-BE49-F238E27FC236}">
                <a16:creationId xmlns:a16="http://schemas.microsoft.com/office/drawing/2014/main" id="{5432D3F3-1DDA-4C38-BABB-EB508C4CA044}"/>
              </a:ext>
            </a:extLst>
          </p:cNvPr>
          <p:cNvSpPr>
            <a:spLocks noGrp="1"/>
          </p:cNvSpPr>
          <p:nvPr/>
        </p:nvSpPr>
        <p:spPr>
          <a:xfrm>
            <a:off x="7181850" y="3714750"/>
            <a:ext cx="3181350" cy="361950"/>
          </a:xfrm>
          <a:prstGeom prst="roundRect">
            <a:avLst>
              <a:gd name="adj" fmla="val 21053"/>
            </a:avLst>
          </a:prstGeom>
          <a:solidFill>
            <a:srgbClr val="F4F7FB"/>
          </a:solidFill>
          <a:ln w="9525">
            <a:solidFill>
              <a:srgbClr val="D6E1EC"/>
            </a:solidFill>
            <a:prstDash val="solid"/>
          </a:ln>
        </p:spPr>
        <p:txBody>
          <a:bodyPr lIns="0" tIns="0" rIns="0" bIns="0" anchor="ctr"/>
          <a:lstStyle>
            <a:defPPr algn="ctr">
              <a:defRPr sz="1275" b="1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defPPr>
            <a:lvl1pPr algn="ctr">
              <a:buNone/>
              <a:defRPr sz="1275" b="1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275" b="1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275" b="1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275" b="1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275" b="1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275" b="1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275" b="1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275" b="1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275" b="1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buNone/>
              <a:defRPr sz="1275" b="1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1   Booking Requested</a:t>
            </a:r>
          </a:p>
        </p:txBody>
      </p:sp>
      <p:sp>
        <p:nvSpPr>
          <p:cNvPr id="152" name="Status 2 Confirmed">
            <a:extLst>
              <a:ext uri="{FF2B5EF4-FFF2-40B4-BE49-F238E27FC236}">
                <a16:creationId xmlns:a16="http://schemas.microsoft.com/office/drawing/2014/main" id="{D14862C0-C8FB-426C-A1AC-5444E7487F3F}"/>
              </a:ext>
            </a:extLst>
          </p:cNvPr>
          <p:cNvSpPr>
            <a:spLocks noGrp="1"/>
          </p:cNvSpPr>
          <p:nvPr/>
        </p:nvSpPr>
        <p:spPr>
          <a:xfrm>
            <a:off x="7181850" y="4181475"/>
            <a:ext cx="3181350" cy="361950"/>
          </a:xfrm>
          <a:prstGeom prst="roundRect">
            <a:avLst>
              <a:gd name="adj" fmla="val 21053"/>
            </a:avLst>
          </a:prstGeom>
          <a:solidFill>
            <a:srgbClr val="EAF1F5"/>
          </a:solidFill>
          <a:ln w="9525">
            <a:solidFill>
              <a:srgbClr val="D6E1EC"/>
            </a:solidFill>
            <a:prstDash val="solid"/>
          </a:ln>
        </p:spPr>
        <p:txBody>
          <a:bodyPr lIns="0" tIns="0" rIns="0" bIns="0" anchor="ctr"/>
          <a:lstStyle>
            <a:defPPr algn="ctr">
              <a:defRPr sz="1275" b="1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defPPr>
            <a:lvl1pPr algn="ctr">
              <a:buNone/>
              <a:defRPr sz="1275" b="1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275" b="1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275" b="1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275" b="1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275" b="1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275" b="1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275" b="1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275" b="1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275" b="1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buNone/>
              <a:defRPr sz="1275" b="1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2   Confirmed</a:t>
            </a:r>
          </a:p>
        </p:txBody>
      </p:sp>
      <p:sp>
        <p:nvSpPr>
          <p:cNvPr id="153" name="Status 3 In Progress">
            <a:extLst>
              <a:ext uri="{FF2B5EF4-FFF2-40B4-BE49-F238E27FC236}">
                <a16:creationId xmlns:a16="http://schemas.microsoft.com/office/drawing/2014/main" id="{3DE0633D-C5D2-413A-911E-CACD45A78057}"/>
              </a:ext>
            </a:extLst>
          </p:cNvPr>
          <p:cNvSpPr>
            <a:spLocks noGrp="1"/>
          </p:cNvSpPr>
          <p:nvPr/>
        </p:nvSpPr>
        <p:spPr>
          <a:xfrm>
            <a:off x="7181850" y="4648200"/>
            <a:ext cx="3181350" cy="361950"/>
          </a:xfrm>
          <a:prstGeom prst="roundRect">
            <a:avLst>
              <a:gd name="adj" fmla="val 21053"/>
            </a:avLst>
          </a:prstGeom>
          <a:solidFill>
            <a:srgbClr val="F4F7FB"/>
          </a:solidFill>
          <a:ln w="9525">
            <a:solidFill>
              <a:srgbClr val="D6E1EC"/>
            </a:solidFill>
            <a:prstDash val="solid"/>
          </a:ln>
        </p:spPr>
        <p:txBody>
          <a:bodyPr lIns="0" tIns="0" rIns="0" bIns="0" anchor="ctr"/>
          <a:lstStyle>
            <a:defPPr algn="ctr">
              <a:defRPr sz="1275" b="1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defPPr>
            <a:lvl1pPr algn="ctr">
              <a:buNone/>
              <a:defRPr sz="1275" b="1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275" b="1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275" b="1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275" b="1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275" b="1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275" b="1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275" b="1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275" b="1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275" b="1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buNone/>
              <a:defRPr sz="1275" b="1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3   In Progress</a:t>
            </a:r>
          </a:p>
        </p:txBody>
      </p:sp>
      <p:sp>
        <p:nvSpPr>
          <p:cNvPr id="154" name="Status 4 Completed">
            <a:extLst>
              <a:ext uri="{FF2B5EF4-FFF2-40B4-BE49-F238E27FC236}">
                <a16:creationId xmlns:a16="http://schemas.microsoft.com/office/drawing/2014/main" id="{08C7AECA-5D5C-4139-B14A-9B5C0F2022E3}"/>
              </a:ext>
            </a:extLst>
          </p:cNvPr>
          <p:cNvSpPr>
            <a:spLocks noGrp="1"/>
          </p:cNvSpPr>
          <p:nvPr/>
        </p:nvSpPr>
        <p:spPr>
          <a:xfrm>
            <a:off x="7181850" y="5114925"/>
            <a:ext cx="3181350" cy="361950"/>
          </a:xfrm>
          <a:prstGeom prst="roundRect">
            <a:avLst>
              <a:gd name="adj" fmla="val 21053"/>
            </a:avLst>
          </a:prstGeom>
          <a:solidFill>
            <a:srgbClr val="EAF1F5"/>
          </a:solidFill>
          <a:ln w="9525">
            <a:solidFill>
              <a:srgbClr val="D6E1EC"/>
            </a:solidFill>
            <a:prstDash val="solid"/>
          </a:ln>
        </p:spPr>
        <p:txBody>
          <a:bodyPr lIns="0" tIns="0" rIns="0" bIns="0" anchor="ctr"/>
          <a:lstStyle>
            <a:defPPr algn="ctr">
              <a:defRPr sz="1275" b="1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defPPr>
            <a:lvl1pPr algn="ctr">
              <a:buNone/>
              <a:defRPr sz="1275" b="1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275" b="1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275" b="1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275" b="1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275" b="1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275" b="1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275" b="1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275" b="1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275" b="1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buNone/>
              <a:defRPr sz="1275" b="1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4   Completed</a:t>
            </a:r>
          </a:p>
        </p:txBody>
      </p:sp>
    </p:spTree>
    <p:extLst>
      <p:ext uri="{BB962C8B-B14F-4D97-AF65-F5344CB8AC3E}">
        <p14:creationId xmlns:p14="http://schemas.microsoft.com/office/powerpoint/2010/main" val="6197710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0">
            <a:extLst>
              <a:ext uri="{FF2B5EF4-FFF2-40B4-BE49-F238E27FC236}">
                <a16:creationId xmlns:a16="http://schemas.microsoft.com/office/drawing/2014/main" id="{E54E4F83-DB18-4B6D-9724-48EB7B6DACCB}"/>
              </a:ext>
            </a:extLst>
          </p:cNvPr>
          <p:cNvSpPr>
            <a:spLocks noGrp="1"/>
          </p:cNvSpPr>
          <p:nvPr/>
        </p:nvSpPr>
        <p:spPr>
          <a:xfrm>
            <a:off x="10424160" y="-1463040"/>
            <a:ext cx="3108960" cy="3108960"/>
          </a:xfrm>
          <a:prstGeom prst="ellipse">
            <a:avLst/>
          </a:prstGeom>
          <a:solidFill>
            <a:srgbClr val="1C7293">
              <a:alpha val="7843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" name="Google Shape;145;p10">
            <a:extLst>
              <a:ext uri="{FF2B5EF4-FFF2-40B4-BE49-F238E27FC236}">
                <a16:creationId xmlns:a16="http://schemas.microsoft.com/office/drawing/2014/main" id="{32B555DF-5A8E-470D-AC25-585BB1FA5780}"/>
              </a:ext>
            </a:extLst>
          </p:cNvPr>
          <p:cNvSpPr>
            <a:spLocks noGrp="1"/>
          </p:cNvSpPr>
          <p:nvPr/>
        </p:nvSpPr>
        <p:spPr>
          <a:xfrm>
            <a:off x="-1097280" y="5669280"/>
            <a:ext cx="2194560" cy="2194560"/>
          </a:xfrm>
          <a:prstGeom prst="ellipse">
            <a:avLst/>
          </a:prstGeom>
          <a:solidFill>
            <a:srgbClr val="21295C">
              <a:alpha val="5098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6" name="Google Shape;146;p10">
            <a:extLst>
              <a:ext uri="{FF2B5EF4-FFF2-40B4-BE49-F238E27FC236}">
                <a16:creationId xmlns:a16="http://schemas.microsoft.com/office/drawing/2014/main" id="{CCE20085-433A-4750-82C8-19A188BD7952}"/>
              </a:ext>
            </a:extLst>
          </p:cNvPr>
          <p:cNvSpPr>
            <a:spLocks noGrp="1"/>
          </p:cNvSpPr>
          <p:nvPr/>
        </p:nvSpPr>
        <p:spPr>
          <a:xfrm>
            <a:off x="502920" y="457200"/>
            <a:ext cx="530352" cy="530352"/>
          </a:xfrm>
          <a:prstGeom prst="roundRect">
            <a:avLst>
              <a:gd name="adj" fmla="val 20690"/>
            </a:avLst>
          </a:prstGeom>
          <a:solidFill>
            <a:srgbClr val="21295C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7" name="Google Shape;147;p10">
            <a:extLst>
              <a:ext uri="{FF2B5EF4-FFF2-40B4-BE49-F238E27FC236}">
                <a16:creationId xmlns:a16="http://schemas.microsoft.com/office/drawing/2014/main" id="{2A9F8A9B-8C87-4B1E-9757-A04AC1B881E0}"/>
              </a:ext>
            </a:extLst>
          </p:cNvPr>
          <p:cNvSpPr>
            <a:spLocks noGrp="1"/>
          </p:cNvSpPr>
          <p:nvPr/>
        </p:nvSpPr>
        <p:spPr>
          <a:xfrm>
            <a:off x="502920" y="45720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07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8" name="Google Shape;148;p10">
            <a:extLst>
              <a:ext uri="{FF2B5EF4-FFF2-40B4-BE49-F238E27FC236}">
                <a16:creationId xmlns:a16="http://schemas.microsoft.com/office/drawing/2014/main" id="{903019B6-747E-4A33-BCFD-C992089594E3}"/>
              </a:ext>
            </a:extLst>
          </p:cNvPr>
          <p:cNvSpPr>
            <a:spLocks noGrp="1"/>
          </p:cNvSpPr>
          <p:nvPr/>
        </p:nvSpPr>
        <p:spPr>
          <a:xfrm>
            <a:off x="1234440" y="4297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sz="1100" b="1" i="0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SECTION 07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9" name="Google Shape;149;p10">
            <a:extLst>
              <a:ext uri="{FF2B5EF4-FFF2-40B4-BE49-F238E27FC236}">
                <a16:creationId xmlns:a16="http://schemas.microsoft.com/office/drawing/2014/main" id="{9492DDF9-B82E-4970-802E-25AEC380D968}"/>
              </a:ext>
            </a:extLst>
          </p:cNvPr>
          <p:cNvSpPr>
            <a:spLocks noGrp="1"/>
          </p:cNvSpPr>
          <p:nvPr/>
        </p:nvSpPr>
        <p:spPr>
          <a:xfrm>
            <a:off x="1234440" y="676656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sz="3000" b="1" i="0" u="none" strike="noStrike" cap="none">
                <a:solidFill>
                  <a:srgbClr val="21295C"/>
                </a:solidFill>
                <a:latin typeface="Cambria"/>
                <a:ea typeface="Cambria"/>
                <a:cs typeface="Cambria"/>
              </a:rPr>
              <a:t>Testing Logic &amp; Demo Behavior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0" name="Google Shape;150;p10">
            <a:extLst>
              <a:ext uri="{FF2B5EF4-FFF2-40B4-BE49-F238E27FC236}">
                <a16:creationId xmlns:a16="http://schemas.microsoft.com/office/drawing/2014/main" id="{270A0953-4BED-4EDA-B5FC-B23E865995D5}"/>
              </a:ext>
            </a:extLst>
          </p:cNvPr>
          <p:cNvSpPr>
            <a:spLocks noGrp="1"/>
          </p:cNvSpPr>
          <p:nvPr/>
        </p:nvSpPr>
        <p:spPr>
          <a:xfrm>
            <a:off x="1249640" y="1600190"/>
            <a:ext cx="9692700" cy="77730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 cap="flat" cmpd="sng">
            <a:solidFill>
              <a:srgbClr val="DEE4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23850" tIns="0" rIns="228600" bIns="0" anchor="ctr">
            <a:normAutofit/>
          </a:bodyPr>
          <a:lstStyle>
            <a:defPPr algn="l">
              <a:defRPr sz="13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3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3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3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3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3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3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3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3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3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3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Service selection — </a:t>
            </a:r>
            <a:r>
              <a:rPr sz="1350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a category must be selected before the demo booking can be created.</a:t>
            </a:r>
          </a:p>
        </p:txBody>
      </p:sp>
      <p:sp>
        <p:nvSpPr>
          <p:cNvPr id="151" name="Google Shape;151;p10">
            <a:extLst>
              <a:ext uri="{FF2B5EF4-FFF2-40B4-BE49-F238E27FC236}">
                <a16:creationId xmlns:a16="http://schemas.microsoft.com/office/drawing/2014/main" id="{79716B06-3B75-4C21-B93B-5AA0C626C518}"/>
              </a:ext>
            </a:extLst>
          </p:cNvPr>
          <p:cNvSpPr>
            <a:spLocks noGrp="1"/>
          </p:cNvSpPr>
          <p:nvPr/>
        </p:nvSpPr>
        <p:spPr>
          <a:xfrm>
            <a:off x="1249640" y="2560310"/>
            <a:ext cx="9692700" cy="77730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 cap="flat" cmpd="sng">
            <a:solidFill>
              <a:srgbClr val="DEE4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23850" tIns="0" rIns="228600" bIns="0" anchor="ctr">
            <a:normAutofit/>
          </a:bodyPr>
          <a:lstStyle>
            <a:defPPr algn="l">
              <a:defRPr sz="13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3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3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3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3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3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3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3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3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3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3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Required inputs and phone — </a:t>
            </a:r>
            <a:r>
              <a:rPr sz="1350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required fields are enforced; JavaScript checks for exactly 10 digits.</a:t>
            </a:r>
          </a:p>
        </p:txBody>
      </p:sp>
      <p:sp>
        <p:nvSpPr>
          <p:cNvPr id="152" name="Google Shape;152;p10">
            <a:extLst>
              <a:ext uri="{FF2B5EF4-FFF2-40B4-BE49-F238E27FC236}">
                <a16:creationId xmlns:a16="http://schemas.microsoft.com/office/drawing/2014/main" id="{3D5F4CED-932B-48B2-BD8D-B51A3251EBD3}"/>
              </a:ext>
            </a:extLst>
          </p:cNvPr>
          <p:cNvSpPr>
            <a:spLocks noGrp="1"/>
          </p:cNvSpPr>
          <p:nvPr/>
        </p:nvSpPr>
        <p:spPr>
          <a:xfrm>
            <a:off x="1249640" y="3520430"/>
            <a:ext cx="9692700" cy="77730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 cap="flat" cmpd="sng">
            <a:solidFill>
              <a:srgbClr val="DEE4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23850" tIns="0" rIns="228600" bIns="0" anchor="ctr">
            <a:normAutofit/>
          </a:bodyPr>
          <a:lstStyle>
            <a:defPPr algn="l">
              <a:defRPr sz="13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3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3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3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3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3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3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3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3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3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3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Date and status — </a:t>
            </a:r>
            <a:r>
              <a:rPr sz="1350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the browser date minimum is set to today; sample status buttons update the current booking.</a:t>
            </a:r>
          </a:p>
        </p:txBody>
      </p:sp>
      <p:sp>
        <p:nvSpPr>
          <p:cNvPr id="153" name="Google Shape;153;p10">
            <a:extLst>
              <a:ext uri="{FF2B5EF4-FFF2-40B4-BE49-F238E27FC236}">
                <a16:creationId xmlns:a16="http://schemas.microsoft.com/office/drawing/2014/main" id="{A2D8185D-9CC1-4C1E-BA9D-E9C87A3D556A}"/>
              </a:ext>
            </a:extLst>
          </p:cNvPr>
          <p:cNvSpPr>
            <a:spLocks noGrp="1"/>
          </p:cNvSpPr>
          <p:nvPr/>
        </p:nvSpPr>
        <p:spPr>
          <a:xfrm>
            <a:off x="1249640" y="4480550"/>
            <a:ext cx="9692700" cy="77730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 cap="flat" cmpd="sng">
            <a:solidFill>
              <a:srgbClr val="DEE4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23850" tIns="0" rIns="228600" bIns="0" anchor="ctr">
            <a:normAutofit/>
          </a:bodyPr>
          <a:lstStyle>
            <a:defPPr algn="l">
              <a:defRPr sz="13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3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3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3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3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3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3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3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3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3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3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Evidence boundary — </a:t>
            </a:r>
            <a:r>
              <a:rPr sz="1350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these behaviors are implemented in the supplied source; no formal test execution log or performance metrics were provided.</a:t>
            </a:r>
          </a:p>
        </p:txBody>
      </p:sp>
      <p:sp>
        <p:nvSpPr>
          <p:cNvPr id="154" name="Google Shape;154;p10">
            <a:extLst>
              <a:ext uri="{FF2B5EF4-FFF2-40B4-BE49-F238E27FC236}">
                <a16:creationId xmlns:a16="http://schemas.microsoft.com/office/drawing/2014/main" id="{5FB55847-9B6E-4C5E-99DA-2DF52E9EC529}"/>
              </a:ext>
            </a:extLst>
          </p:cNvPr>
          <p:cNvSpPr>
            <a:spLocks noGrp="1"/>
          </p:cNvSpPr>
          <p:nvPr/>
        </p:nvSpPr>
        <p:spPr>
          <a:xfrm>
            <a:off x="502920" y="651967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sz="900" b="0" i="0" u="none" strike="noStrike" cap="none">
                <a:solidFill>
                  <a:srgbClr val="6B7593"/>
                </a:solidFill>
                <a:latin typeface="Calibri"/>
                <a:ea typeface="Calibri"/>
                <a:cs typeface="Calibri"/>
              </a:rPr>
              <a:t>MINI PROJECT PRESENTATION  ·  OWN DEMAND SERVICE APP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5" name="Google Shape;155;p10">
            <a:extLst>
              <a:ext uri="{FF2B5EF4-FFF2-40B4-BE49-F238E27FC236}">
                <a16:creationId xmlns:a16="http://schemas.microsoft.com/office/drawing/2014/main" id="{76DB58B2-5536-47BE-9BA7-C343A86CD837}"/>
              </a:ext>
            </a:extLst>
          </p:cNvPr>
          <p:cNvSpPr>
            <a:spLocks noGrp="1"/>
          </p:cNvSpPr>
          <p:nvPr/>
        </p:nvSpPr>
        <p:spPr>
          <a:xfrm>
            <a:off x="11228832" y="651967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sz="900" b="0" i="0" u="none" strike="noStrike" cap="none">
                <a:solidFill>
                  <a:srgbClr val="6B7593"/>
                </a:solidFill>
                <a:latin typeface="Calibri"/>
                <a:ea typeface="Calibri"/>
                <a:cs typeface="Calibri"/>
              </a:rPr>
              <a:t>8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17589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1">
            <a:extLst>
              <a:ext uri="{FF2B5EF4-FFF2-40B4-BE49-F238E27FC236}">
                <a16:creationId xmlns:a16="http://schemas.microsoft.com/office/drawing/2014/main" id="{18BFBEC1-3BEA-4740-9E41-32EAC2978F3E}"/>
              </a:ext>
            </a:extLst>
          </p:cNvPr>
          <p:cNvSpPr>
            <a:spLocks noGrp="1"/>
          </p:cNvSpPr>
          <p:nvPr/>
        </p:nvSpPr>
        <p:spPr>
          <a:xfrm>
            <a:off x="10424160" y="-1463040"/>
            <a:ext cx="3108960" cy="3108960"/>
          </a:xfrm>
          <a:prstGeom prst="ellipse">
            <a:avLst/>
          </a:prstGeom>
          <a:solidFill>
            <a:srgbClr val="1C7293">
              <a:alpha val="7843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2" name="Google Shape;162;p11">
            <a:extLst>
              <a:ext uri="{FF2B5EF4-FFF2-40B4-BE49-F238E27FC236}">
                <a16:creationId xmlns:a16="http://schemas.microsoft.com/office/drawing/2014/main" id="{816567A0-013C-4C28-988B-407A57019AC8}"/>
              </a:ext>
            </a:extLst>
          </p:cNvPr>
          <p:cNvSpPr>
            <a:spLocks noGrp="1"/>
          </p:cNvSpPr>
          <p:nvPr/>
        </p:nvSpPr>
        <p:spPr>
          <a:xfrm>
            <a:off x="-1097280" y="5669280"/>
            <a:ext cx="2194560" cy="2194560"/>
          </a:xfrm>
          <a:prstGeom prst="ellipse">
            <a:avLst/>
          </a:prstGeom>
          <a:solidFill>
            <a:srgbClr val="21295C">
              <a:alpha val="5098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3" name="Google Shape;163;p11">
            <a:extLst>
              <a:ext uri="{FF2B5EF4-FFF2-40B4-BE49-F238E27FC236}">
                <a16:creationId xmlns:a16="http://schemas.microsoft.com/office/drawing/2014/main" id="{2FA5940F-549B-4639-9C02-14B149C7D43E}"/>
              </a:ext>
            </a:extLst>
          </p:cNvPr>
          <p:cNvSpPr>
            <a:spLocks noGrp="1"/>
          </p:cNvSpPr>
          <p:nvPr/>
        </p:nvSpPr>
        <p:spPr>
          <a:xfrm>
            <a:off x="502920" y="457200"/>
            <a:ext cx="530352" cy="530352"/>
          </a:xfrm>
          <a:prstGeom prst="roundRect">
            <a:avLst>
              <a:gd name="adj" fmla="val 20690"/>
            </a:avLst>
          </a:prstGeom>
          <a:solidFill>
            <a:srgbClr val="21295C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4" name="Google Shape;164;p11">
            <a:extLst>
              <a:ext uri="{FF2B5EF4-FFF2-40B4-BE49-F238E27FC236}">
                <a16:creationId xmlns:a16="http://schemas.microsoft.com/office/drawing/2014/main" id="{6FDDA7DE-BFB0-4210-BA00-6C01AD4BC112}"/>
              </a:ext>
            </a:extLst>
          </p:cNvPr>
          <p:cNvSpPr>
            <a:spLocks noGrp="1"/>
          </p:cNvSpPr>
          <p:nvPr/>
        </p:nvSpPr>
        <p:spPr>
          <a:xfrm>
            <a:off x="502920" y="45720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08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5" name="Google Shape;165;p11">
            <a:extLst>
              <a:ext uri="{FF2B5EF4-FFF2-40B4-BE49-F238E27FC236}">
                <a16:creationId xmlns:a16="http://schemas.microsoft.com/office/drawing/2014/main" id="{351E5F0C-EE9B-401C-973B-DEA2189A7BB1}"/>
              </a:ext>
            </a:extLst>
          </p:cNvPr>
          <p:cNvSpPr>
            <a:spLocks noGrp="1"/>
          </p:cNvSpPr>
          <p:nvPr/>
        </p:nvSpPr>
        <p:spPr>
          <a:xfrm>
            <a:off x="1234440" y="4297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sz="1100" b="1" i="0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SECTION 08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6" name="Google Shape;166;p11">
            <a:extLst>
              <a:ext uri="{FF2B5EF4-FFF2-40B4-BE49-F238E27FC236}">
                <a16:creationId xmlns:a16="http://schemas.microsoft.com/office/drawing/2014/main" id="{8045C2AB-E1C8-4607-9935-DC9860BE6850}"/>
              </a:ext>
            </a:extLst>
          </p:cNvPr>
          <p:cNvSpPr>
            <a:spLocks noGrp="1"/>
          </p:cNvSpPr>
          <p:nvPr/>
        </p:nvSpPr>
        <p:spPr>
          <a:xfrm>
            <a:off x="1234440" y="676656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sz="3000" b="1" i="0" u="none" strike="noStrike" cap="none">
                <a:solidFill>
                  <a:srgbClr val="21295C"/>
                </a:solidFill>
                <a:latin typeface="Cambria"/>
                <a:ea typeface="Cambria"/>
                <a:cs typeface="Cambria"/>
              </a:rPr>
              <a:t>Results &amp; Future Scope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7" name="Google Shape;167;p11">
            <a:extLst>
              <a:ext uri="{FF2B5EF4-FFF2-40B4-BE49-F238E27FC236}">
                <a16:creationId xmlns:a16="http://schemas.microsoft.com/office/drawing/2014/main" id="{24519851-CA97-4F26-A787-22C12B48464B}"/>
              </a:ext>
            </a:extLst>
          </p:cNvPr>
          <p:cNvSpPr>
            <a:spLocks noGrp="1"/>
          </p:cNvSpPr>
          <p:nvPr/>
        </p:nvSpPr>
        <p:spPr>
          <a:xfrm>
            <a:off x="1249640" y="1600190"/>
            <a:ext cx="9692700" cy="77730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 cap="flat" cmpd="sng">
            <a:solidFill>
              <a:srgbClr val="DEE4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8" name="Google Shape;168;p11">
            <a:extLst>
              <a:ext uri="{FF2B5EF4-FFF2-40B4-BE49-F238E27FC236}">
                <a16:creationId xmlns:a16="http://schemas.microsoft.com/office/drawing/2014/main" id="{14115AFC-4582-4E51-9D3D-1B2C24FA7324}"/>
              </a:ext>
            </a:extLst>
          </p:cNvPr>
          <p:cNvSpPr>
            <a:spLocks noGrp="1"/>
          </p:cNvSpPr>
          <p:nvPr/>
        </p:nvSpPr>
        <p:spPr>
          <a:xfrm>
            <a:off x="1478240" y="1801358"/>
            <a:ext cx="384000" cy="3840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9" name="Google Shape;169;p11">
            <a:extLst>
              <a:ext uri="{FF2B5EF4-FFF2-40B4-BE49-F238E27FC236}">
                <a16:creationId xmlns:a16="http://schemas.microsoft.com/office/drawing/2014/main" id="{03F02BAD-5064-498D-84AA-2A7A1ACC513A}"/>
              </a:ext>
            </a:extLst>
          </p:cNvPr>
          <p:cNvSpPr>
            <a:spLocks noGrp="1"/>
          </p:cNvSpPr>
          <p:nvPr/>
        </p:nvSpPr>
        <p:spPr>
          <a:xfrm>
            <a:off x="1478240" y="1801358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→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0" name="Google Shape;170;p11">
            <a:extLst>
              <a:ext uri="{FF2B5EF4-FFF2-40B4-BE49-F238E27FC236}">
                <a16:creationId xmlns:a16="http://schemas.microsoft.com/office/drawing/2014/main" id="{EF08597F-0B31-4020-80D8-84E35C73249B}"/>
              </a:ext>
            </a:extLst>
          </p:cNvPr>
          <p:cNvSpPr>
            <a:spLocks noGrp="1"/>
          </p:cNvSpPr>
          <p:nvPr/>
        </p:nvSpPr>
        <p:spPr>
          <a:xfrm>
            <a:off x="2072600" y="1600190"/>
            <a:ext cx="85953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rmAutofit/>
          </a:bodyPr>
          <a:lstStyle>
            <a:defPPr algn="l">
              <a:defRPr sz="13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3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3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3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3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3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3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3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3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3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3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Current result — </a:t>
            </a:r>
            <a:r>
              <a:rPr sz="1350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the browser demo shows service selection, a booking form, confirmation and sample status progression.</a:t>
            </a:r>
          </a:p>
        </p:txBody>
      </p:sp>
      <p:sp>
        <p:nvSpPr>
          <p:cNvPr id="171" name="Google Shape;171;p11">
            <a:extLst>
              <a:ext uri="{FF2B5EF4-FFF2-40B4-BE49-F238E27FC236}">
                <a16:creationId xmlns:a16="http://schemas.microsoft.com/office/drawing/2014/main" id="{8634AC10-DC2B-4EFF-9879-CC302F44E1FB}"/>
              </a:ext>
            </a:extLst>
          </p:cNvPr>
          <p:cNvSpPr>
            <a:spLocks noGrp="1"/>
          </p:cNvSpPr>
          <p:nvPr/>
        </p:nvSpPr>
        <p:spPr>
          <a:xfrm>
            <a:off x="1249640" y="2560310"/>
            <a:ext cx="9692700" cy="77730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 cap="flat" cmpd="sng">
            <a:solidFill>
              <a:srgbClr val="DEE4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2" name="Google Shape;172;p11">
            <a:extLst>
              <a:ext uri="{FF2B5EF4-FFF2-40B4-BE49-F238E27FC236}">
                <a16:creationId xmlns:a16="http://schemas.microsoft.com/office/drawing/2014/main" id="{94A519AF-6DC9-419E-A174-A96787FDF81C}"/>
              </a:ext>
            </a:extLst>
          </p:cNvPr>
          <p:cNvSpPr>
            <a:spLocks noGrp="1"/>
          </p:cNvSpPr>
          <p:nvPr/>
        </p:nvSpPr>
        <p:spPr>
          <a:xfrm>
            <a:off x="1478240" y="2761478"/>
            <a:ext cx="384000" cy="3840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3" name="Google Shape;173;p11">
            <a:extLst>
              <a:ext uri="{FF2B5EF4-FFF2-40B4-BE49-F238E27FC236}">
                <a16:creationId xmlns:a16="http://schemas.microsoft.com/office/drawing/2014/main" id="{03D1391E-8881-49E8-AE8A-5EFE0ADB547E}"/>
              </a:ext>
            </a:extLst>
          </p:cNvPr>
          <p:cNvSpPr>
            <a:spLocks noGrp="1"/>
          </p:cNvSpPr>
          <p:nvPr/>
        </p:nvSpPr>
        <p:spPr>
          <a:xfrm>
            <a:off x="1478240" y="2761478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→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" name="Google Shape;174;p11">
            <a:extLst>
              <a:ext uri="{FF2B5EF4-FFF2-40B4-BE49-F238E27FC236}">
                <a16:creationId xmlns:a16="http://schemas.microsoft.com/office/drawing/2014/main" id="{933BD501-292B-4F99-8C4D-7C93FE09DD9A}"/>
              </a:ext>
            </a:extLst>
          </p:cNvPr>
          <p:cNvSpPr>
            <a:spLocks noGrp="1"/>
          </p:cNvSpPr>
          <p:nvPr/>
        </p:nvSpPr>
        <p:spPr>
          <a:xfrm>
            <a:off x="2072600" y="2560310"/>
            <a:ext cx="85953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rmAutofit/>
          </a:bodyPr>
          <a:lstStyle>
            <a:defPPr algn="l">
              <a:defRPr sz="13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3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3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3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3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3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3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3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3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3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3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Temporary data — </a:t>
            </a:r>
            <a:r>
              <a:rPr sz="1350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booking state remains in page memory and is cleared when the page is reset or refreshed.</a:t>
            </a:r>
          </a:p>
        </p:txBody>
      </p:sp>
      <p:sp>
        <p:nvSpPr>
          <p:cNvPr id="175" name="Google Shape;175;p11">
            <a:extLst>
              <a:ext uri="{FF2B5EF4-FFF2-40B4-BE49-F238E27FC236}">
                <a16:creationId xmlns:a16="http://schemas.microsoft.com/office/drawing/2014/main" id="{374F4FF0-1BA8-4705-BA41-374F70E25134}"/>
              </a:ext>
            </a:extLst>
          </p:cNvPr>
          <p:cNvSpPr>
            <a:spLocks noGrp="1"/>
          </p:cNvSpPr>
          <p:nvPr/>
        </p:nvSpPr>
        <p:spPr>
          <a:xfrm>
            <a:off x="1249640" y="3520430"/>
            <a:ext cx="9692700" cy="77730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 cap="flat" cmpd="sng">
            <a:solidFill>
              <a:srgbClr val="DEE4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6" name="Google Shape;176;p11">
            <a:extLst>
              <a:ext uri="{FF2B5EF4-FFF2-40B4-BE49-F238E27FC236}">
                <a16:creationId xmlns:a16="http://schemas.microsoft.com/office/drawing/2014/main" id="{7E2A2C01-F03E-4721-B3E5-3D4235544F1C}"/>
              </a:ext>
            </a:extLst>
          </p:cNvPr>
          <p:cNvSpPr>
            <a:spLocks noGrp="1"/>
          </p:cNvSpPr>
          <p:nvPr/>
        </p:nvSpPr>
        <p:spPr>
          <a:xfrm>
            <a:off x="1478240" y="3721598"/>
            <a:ext cx="384000" cy="3840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7" name="Google Shape;177;p11">
            <a:extLst>
              <a:ext uri="{FF2B5EF4-FFF2-40B4-BE49-F238E27FC236}">
                <a16:creationId xmlns:a16="http://schemas.microsoft.com/office/drawing/2014/main" id="{EB8F4C26-4082-47AD-8570-BF42EACC3C2A}"/>
              </a:ext>
            </a:extLst>
          </p:cNvPr>
          <p:cNvSpPr>
            <a:spLocks noGrp="1"/>
          </p:cNvSpPr>
          <p:nvPr/>
        </p:nvSpPr>
        <p:spPr>
          <a:xfrm>
            <a:off x="1478240" y="3721598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→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8" name="Google Shape;178;p11">
            <a:extLst>
              <a:ext uri="{FF2B5EF4-FFF2-40B4-BE49-F238E27FC236}">
                <a16:creationId xmlns:a16="http://schemas.microsoft.com/office/drawing/2014/main" id="{712661B8-D54F-4ADF-BC59-09C3D430B51A}"/>
              </a:ext>
            </a:extLst>
          </p:cNvPr>
          <p:cNvSpPr>
            <a:spLocks noGrp="1"/>
          </p:cNvSpPr>
          <p:nvPr/>
        </p:nvSpPr>
        <p:spPr>
          <a:xfrm>
            <a:off x="2072600" y="3520430"/>
            <a:ext cx="85953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rmAutofit/>
          </a:bodyPr>
          <a:lstStyle>
            <a:defPPr algn="l">
              <a:defRPr sz="13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3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3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3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3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3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3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3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3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3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3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Not included yet — </a:t>
            </a:r>
            <a:r>
              <a:rPr sz="1350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server, database, user accounts, payments, real provider listings or service dispatch.</a:t>
            </a:r>
          </a:p>
        </p:txBody>
      </p:sp>
      <p:sp>
        <p:nvSpPr>
          <p:cNvPr id="179" name="Google Shape;179;p11">
            <a:extLst>
              <a:ext uri="{FF2B5EF4-FFF2-40B4-BE49-F238E27FC236}">
                <a16:creationId xmlns:a16="http://schemas.microsoft.com/office/drawing/2014/main" id="{9C669A69-EB9B-4B74-AFE9-A9B30F5D39BB}"/>
              </a:ext>
            </a:extLst>
          </p:cNvPr>
          <p:cNvSpPr>
            <a:spLocks noGrp="1"/>
          </p:cNvSpPr>
          <p:nvPr/>
        </p:nvSpPr>
        <p:spPr>
          <a:xfrm>
            <a:off x="1249640" y="4480550"/>
            <a:ext cx="9692700" cy="77730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 cap="flat" cmpd="sng">
            <a:solidFill>
              <a:srgbClr val="DEE4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0" name="Google Shape;180;p11">
            <a:extLst>
              <a:ext uri="{FF2B5EF4-FFF2-40B4-BE49-F238E27FC236}">
                <a16:creationId xmlns:a16="http://schemas.microsoft.com/office/drawing/2014/main" id="{B23809CB-5CF7-4324-BD98-F571FBB5731D}"/>
              </a:ext>
            </a:extLst>
          </p:cNvPr>
          <p:cNvSpPr>
            <a:spLocks noGrp="1"/>
          </p:cNvSpPr>
          <p:nvPr/>
        </p:nvSpPr>
        <p:spPr>
          <a:xfrm>
            <a:off x="1478240" y="4681718"/>
            <a:ext cx="384000" cy="3840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1" name="Google Shape;181;p11">
            <a:extLst>
              <a:ext uri="{FF2B5EF4-FFF2-40B4-BE49-F238E27FC236}">
                <a16:creationId xmlns:a16="http://schemas.microsoft.com/office/drawing/2014/main" id="{0F71C343-5E6A-446B-B8C9-A88B386C2F87}"/>
              </a:ext>
            </a:extLst>
          </p:cNvPr>
          <p:cNvSpPr>
            <a:spLocks noGrp="1"/>
          </p:cNvSpPr>
          <p:nvPr/>
        </p:nvSpPr>
        <p:spPr>
          <a:xfrm>
            <a:off x="1478240" y="4681718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✓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2" name="Google Shape;182;p11">
            <a:extLst>
              <a:ext uri="{FF2B5EF4-FFF2-40B4-BE49-F238E27FC236}">
                <a16:creationId xmlns:a16="http://schemas.microsoft.com/office/drawing/2014/main" id="{88DDA27C-AF3F-40C9-8DE6-2A815099004E}"/>
              </a:ext>
            </a:extLst>
          </p:cNvPr>
          <p:cNvSpPr>
            <a:spLocks noGrp="1"/>
          </p:cNvSpPr>
          <p:nvPr/>
        </p:nvSpPr>
        <p:spPr>
          <a:xfrm>
            <a:off x="2072600" y="4480550"/>
            <a:ext cx="85953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400"/>
              <a:buFont typeface="Calibri"/>
              <a:buNone/>
            </a:pPr>
            <a:r>
              <a:rPr sz="1500" b="1" i="0" u="none" strike="noStrike" cap="none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Future scope — add secure storage, verified providers, location search, notifications, payment and admin tools.</a:t>
            </a:r>
            <a:endParaRPr/>
          </a:p>
        </p:txBody>
      </p:sp>
      <p:sp>
        <p:nvSpPr>
          <p:cNvPr id="183" name="Google Shape;183;p11">
            <a:extLst>
              <a:ext uri="{FF2B5EF4-FFF2-40B4-BE49-F238E27FC236}">
                <a16:creationId xmlns:a16="http://schemas.microsoft.com/office/drawing/2014/main" id="{4A78FCA3-D062-4C3C-A77D-B0F100D6B43D}"/>
              </a:ext>
            </a:extLst>
          </p:cNvPr>
          <p:cNvSpPr>
            <a:spLocks noGrp="1"/>
          </p:cNvSpPr>
          <p:nvPr/>
        </p:nvSpPr>
        <p:spPr>
          <a:xfrm>
            <a:off x="502920" y="651967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sz="900" b="0" i="0" u="none" strike="noStrike" cap="none">
                <a:solidFill>
                  <a:srgbClr val="6B7593"/>
                </a:solidFill>
                <a:latin typeface="Calibri"/>
                <a:ea typeface="Calibri"/>
                <a:cs typeface="Calibri"/>
              </a:rPr>
              <a:t>MINI PROJECT PRESENTATION  ·  OWN DEMAND SERVICE APP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4" name="Google Shape;184;p11">
            <a:extLst>
              <a:ext uri="{FF2B5EF4-FFF2-40B4-BE49-F238E27FC236}">
                <a16:creationId xmlns:a16="http://schemas.microsoft.com/office/drawing/2014/main" id="{7FA24E55-CB90-4353-AD2A-4DAACD2565DA}"/>
              </a:ext>
            </a:extLst>
          </p:cNvPr>
          <p:cNvSpPr>
            <a:spLocks noGrp="1"/>
          </p:cNvSpPr>
          <p:nvPr/>
        </p:nvSpPr>
        <p:spPr>
          <a:xfrm>
            <a:off x="11228832" y="651967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sz="900" b="0" i="0" u="none" strike="noStrike" cap="none">
                <a:solidFill>
                  <a:srgbClr val="6B7593"/>
                </a:solidFill>
                <a:latin typeface="Calibri"/>
                <a:ea typeface="Calibri"/>
                <a:cs typeface="Calibri"/>
              </a:rPr>
              <a:t>9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5" name="Future scope row background">
            <a:extLst>
              <a:ext uri="{FF2B5EF4-FFF2-40B4-BE49-F238E27FC236}">
                <a16:creationId xmlns:a16="http://schemas.microsoft.com/office/drawing/2014/main" id="{D90C24A0-B2AA-42D1-81F7-B314C46C075C}"/>
              </a:ext>
            </a:extLst>
          </p:cNvPr>
          <p:cNvSpPr>
            <a:spLocks noGrp="1"/>
          </p:cNvSpPr>
          <p:nvPr/>
        </p:nvSpPr>
        <p:spPr>
          <a:xfrm>
            <a:off x="1252098" y="4472037"/>
            <a:ext cx="971550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D6E1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6" name="Future scope arrow badge">
            <a:extLst>
              <a:ext uri="{FF2B5EF4-FFF2-40B4-BE49-F238E27FC236}">
                <a16:creationId xmlns:a16="http://schemas.microsoft.com/office/drawing/2014/main" id="{98965A6D-EFEB-4AB9-AD02-8654E0A496FF}"/>
              </a:ext>
            </a:extLst>
          </p:cNvPr>
          <p:cNvSpPr>
            <a:spLocks noGrp="1"/>
          </p:cNvSpPr>
          <p:nvPr/>
        </p:nvSpPr>
        <p:spPr>
          <a:xfrm>
            <a:off x="1476375" y="4676775"/>
            <a:ext cx="381000" cy="381000"/>
          </a:xfrm>
          <a:prstGeom prst="ellipse">
            <a:avLst/>
          </a:prstGeom>
          <a:solidFill>
            <a:srgbClr val="1C7293"/>
          </a:solidFill>
          <a:ln w="9525">
            <a:solidFill>
              <a:srgbClr val="1C7293"/>
            </a:solidFill>
            <a:prstDash val="solid"/>
          </a:ln>
        </p:spPr>
        <p:txBody>
          <a:bodyPr lIns="0" tIns="0" rIns="0" bIns="0" anchor="ctr"/>
          <a:lstStyle>
            <a:defPPr algn="ctr">
              <a:defRPr sz="1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buNone/>
              <a:defRPr sz="1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buNone/>
              <a:defRPr sz="1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187" name="Future scope content">
            <a:extLst>
              <a:ext uri="{FF2B5EF4-FFF2-40B4-BE49-F238E27FC236}">
                <a16:creationId xmlns:a16="http://schemas.microsoft.com/office/drawing/2014/main" id="{39D93314-1CE3-4D2E-8C28-F53A6C9246A8}"/>
              </a:ext>
            </a:extLst>
          </p:cNvPr>
          <p:cNvSpPr>
            <a:spLocks noGrp="1"/>
          </p:cNvSpPr>
          <p:nvPr/>
        </p:nvSpPr>
        <p:spPr>
          <a:xfrm>
            <a:off x="2076450" y="4476750"/>
            <a:ext cx="8572500" cy="7810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13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3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3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3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3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3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3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3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3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3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13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pPr>
            <a:r>
              <a:rPr sz="1350" b="1" dirty="0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Future</a:t>
            </a:r>
            <a:r>
              <a:rPr sz="1350" dirty="0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350" b="1" dirty="0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scope</a:t>
            </a:r>
            <a:r>
              <a:rPr sz="1350" dirty="0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350" b="1" dirty="0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—</a:t>
            </a:r>
            <a:r>
              <a:rPr sz="1350" dirty="0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 add secure storage, verified providers, location search, notifications, payment and admin tools.</a:t>
            </a:r>
          </a:p>
        </p:txBody>
      </p:sp>
      <p:sp>
        <p:nvSpPr>
          <p:cNvPr id="188" name="Project footer cover">
            <a:extLst>
              <a:ext uri="{FF2B5EF4-FFF2-40B4-BE49-F238E27FC236}">
                <a16:creationId xmlns:a16="http://schemas.microsoft.com/office/drawing/2014/main" id="{F122308A-9CA9-492A-8FED-BF3937FFF0AB}"/>
              </a:ext>
            </a:extLst>
          </p:cNvPr>
          <p:cNvSpPr>
            <a:spLocks noGrp="1"/>
          </p:cNvSpPr>
          <p:nvPr/>
        </p:nvSpPr>
        <p:spPr>
          <a:xfrm>
            <a:off x="495300" y="6515100"/>
            <a:ext cx="7334250" cy="219075"/>
          </a:xfrm>
          <a:prstGeom prst="rect">
            <a:avLst/>
          </a:prstGeom>
          <a:solidFill>
            <a:srgbClr val="F6F8FB"/>
          </a:solidFill>
          <a:ln w="0">
            <a:solidFill>
              <a:srgbClr val="F6F8F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9" name="Project footer">
            <a:extLst>
              <a:ext uri="{FF2B5EF4-FFF2-40B4-BE49-F238E27FC236}">
                <a16:creationId xmlns:a16="http://schemas.microsoft.com/office/drawing/2014/main" id="{EC07C77A-7734-4B3D-8BE8-6A23E214B75F}"/>
              </a:ext>
            </a:extLst>
          </p:cNvPr>
          <p:cNvSpPr>
            <a:spLocks noGrp="1"/>
          </p:cNvSpPr>
          <p:nvPr/>
        </p:nvSpPr>
        <p:spPr>
          <a:xfrm>
            <a:off x="590550" y="6515100"/>
            <a:ext cx="7239000" cy="190500"/>
          </a:xfrm>
          <a:prstGeom prst="rect">
            <a:avLst/>
          </a:prstGeom>
          <a:solidFill>
            <a:srgbClr val="F6F8FB"/>
          </a:solidFill>
          <a:ln w="0">
            <a:solidFill>
              <a:srgbClr val="F6F8FB"/>
            </a:solidFill>
            <a:prstDash val="solid"/>
          </a:ln>
        </p:spPr>
        <p:txBody>
          <a:bodyPr lIns="0" tIns="0" rIns="0" bIns="0" anchor="ctr"/>
          <a:lstStyle>
            <a:defPPr algn="l">
              <a:defRPr sz="750">
                <a:solidFill>
                  <a:srgbClr val="788AA3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750">
                <a:solidFill>
                  <a:srgbClr val="788AA3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750">
                <a:solidFill>
                  <a:srgbClr val="788AA3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750">
                <a:solidFill>
                  <a:srgbClr val="788AA3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750">
                <a:solidFill>
                  <a:srgbClr val="788AA3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750">
                <a:solidFill>
                  <a:srgbClr val="788AA3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750">
                <a:solidFill>
                  <a:srgbClr val="788AA3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750">
                <a:solidFill>
                  <a:srgbClr val="788AA3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750">
                <a:solidFill>
                  <a:srgbClr val="788AA3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750">
                <a:solidFill>
                  <a:srgbClr val="788AA3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buNone/>
              <a:defRPr sz="750">
                <a:solidFill>
                  <a:srgbClr val="788AA3"/>
                </a:solidFill>
                <a:latin typeface="Calibri"/>
                <a:ea typeface="Calibri"/>
                <a:cs typeface="Calibri"/>
              </a:defRPr>
            </a:pPr>
            <a:r>
              <a:rPr sz="750">
                <a:solidFill>
                  <a:srgbClr val="788AA3"/>
                </a:solidFill>
                <a:latin typeface="Calibri"/>
                <a:ea typeface="Calibri"/>
                <a:cs typeface="Calibri"/>
              </a:rPr>
              <a:t>MINI PROJECT PRESENTATION  ·  OWN DEMAND SERVICE APP</a:t>
            </a:r>
          </a:p>
        </p:txBody>
      </p:sp>
    </p:spTree>
    <p:extLst>
      <p:ext uri="{BB962C8B-B14F-4D97-AF65-F5344CB8AC3E}">
        <p14:creationId xmlns:p14="http://schemas.microsoft.com/office/powerpoint/2010/main" val="21342314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2">
            <a:extLst>
              <a:ext uri="{FF2B5EF4-FFF2-40B4-BE49-F238E27FC236}">
                <a16:creationId xmlns:a16="http://schemas.microsoft.com/office/drawing/2014/main" id="{9ACEEC19-E9EF-4A79-A2FF-D08AC0BE05D8}"/>
              </a:ext>
            </a:extLst>
          </p:cNvPr>
          <p:cNvSpPr>
            <a:spLocks noGrp="1"/>
          </p:cNvSpPr>
          <p:nvPr/>
        </p:nvSpPr>
        <p:spPr>
          <a:xfrm>
            <a:off x="10424160" y="-1463040"/>
            <a:ext cx="3108960" cy="3108960"/>
          </a:xfrm>
          <a:prstGeom prst="ellipse">
            <a:avLst/>
          </a:prstGeom>
          <a:solidFill>
            <a:srgbClr val="1C7293">
              <a:alpha val="18039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1" name="Google Shape;191;p12">
            <a:extLst>
              <a:ext uri="{FF2B5EF4-FFF2-40B4-BE49-F238E27FC236}">
                <a16:creationId xmlns:a16="http://schemas.microsoft.com/office/drawing/2014/main" id="{68BC586C-07B7-405E-B4AD-EEE5255C4288}"/>
              </a:ext>
            </a:extLst>
          </p:cNvPr>
          <p:cNvSpPr>
            <a:spLocks noGrp="1"/>
          </p:cNvSpPr>
          <p:nvPr/>
        </p:nvSpPr>
        <p:spPr>
          <a:xfrm>
            <a:off x="-1097280" y="5669280"/>
            <a:ext cx="2194560" cy="2194560"/>
          </a:xfrm>
          <a:prstGeom prst="ellipse">
            <a:avLst/>
          </a:prstGeom>
          <a:solidFill>
            <a:srgbClr val="CFE3EE">
              <a:alpha val="10196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2" name="Google Shape;192;p12">
            <a:extLst>
              <a:ext uri="{FF2B5EF4-FFF2-40B4-BE49-F238E27FC236}">
                <a16:creationId xmlns:a16="http://schemas.microsoft.com/office/drawing/2014/main" id="{173CAB8D-EEDF-45AB-ABB1-F51285C2D212}"/>
              </a:ext>
            </a:extLst>
          </p:cNvPr>
          <p:cNvSpPr>
            <a:spLocks noGrp="1"/>
          </p:cNvSpPr>
          <p:nvPr/>
        </p:nvSpPr>
        <p:spPr>
          <a:xfrm>
            <a:off x="914400" y="2201525"/>
            <a:ext cx="10360200" cy="113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mbria"/>
              <a:buNone/>
            </a:pPr>
            <a:r>
              <a:rPr sz="48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THANK YOU</a:t>
            </a:r>
            <a:endParaRPr sz="4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3" name="Google Shape;193;p12">
            <a:extLst>
              <a:ext uri="{FF2B5EF4-FFF2-40B4-BE49-F238E27FC236}">
                <a16:creationId xmlns:a16="http://schemas.microsoft.com/office/drawing/2014/main" id="{6C93FCD4-8939-4C43-9989-1328D37C6781}"/>
              </a:ext>
            </a:extLst>
          </p:cNvPr>
          <p:cNvSpPr>
            <a:spLocks noGrp="1"/>
          </p:cNvSpPr>
          <p:nvPr/>
        </p:nvSpPr>
        <p:spPr>
          <a:xfrm>
            <a:off x="914400" y="3337626"/>
            <a:ext cx="10360200" cy="4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E3EE"/>
              </a:buClr>
              <a:buSzPts val="1600"/>
              <a:buFont typeface="Calibri"/>
              <a:buNone/>
            </a:pPr>
            <a:r>
              <a:rPr sz="1600" b="0" i="1" u="none" strike="noStrike" cap="none">
                <a:solidFill>
                  <a:srgbClr val="CFE3EE"/>
                </a:solidFill>
                <a:latin typeface="Calibri"/>
                <a:ea typeface="Calibri"/>
                <a:cs typeface="Calibri"/>
              </a:rPr>
              <a:t>Questions &amp; suggestions from the panel are welcome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194" name="Google Shape;194;p12">
            <a:extLst>
              <a:ext uri="{FF2B5EF4-FFF2-40B4-BE49-F238E27FC236}">
                <a16:creationId xmlns:a16="http://schemas.microsoft.com/office/drawing/2014/main" id="{8F679B20-E702-4A4A-804F-6FD16B74B5A5}"/>
              </a:ext>
            </a:extLst>
          </p:cNvPr>
          <p:cNvCxnSpPr/>
          <p:nvPr/>
        </p:nvCxnSpPr>
        <p:spPr>
          <a:xfrm>
            <a:off x="5271516" y="4160520"/>
            <a:ext cx="1645920" cy="0"/>
          </a:xfrm>
          <a:prstGeom prst="straightConnector1">
            <a:avLst/>
          </a:prstGeom>
          <a:ln w="25400" cap="flat">
            <a:solidFill>
              <a:srgbClr val="1C729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5" name="Google Shape;195;p12">
            <a:extLst>
              <a:ext uri="{FF2B5EF4-FFF2-40B4-BE49-F238E27FC236}">
                <a16:creationId xmlns:a16="http://schemas.microsoft.com/office/drawing/2014/main" id="{0888101B-7BC7-4C71-B7FF-FD2E92EF0EB1}"/>
              </a:ext>
            </a:extLst>
          </p:cNvPr>
          <p:cNvSpPr>
            <a:spLocks noGrp="1"/>
          </p:cNvSpPr>
          <p:nvPr/>
        </p:nvSpPr>
        <p:spPr>
          <a:xfrm>
            <a:off x="915925" y="4559880"/>
            <a:ext cx="103602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E3EE"/>
              </a:buClr>
              <a:buSzPts val="1100"/>
              <a:buFont typeface="Calibri"/>
              <a:buNone/>
            </a:pPr>
            <a:r>
              <a:rPr sz="1300" b="0" i="0" u="none" strike="noStrike" cap="none">
                <a:solidFill>
                  <a:srgbClr val="CFE3EE"/>
                </a:solidFill>
                <a:latin typeface="Calibri"/>
                <a:ea typeface="Calibri"/>
                <a:cs typeface="Calibri"/>
              </a:rPr>
              <a:t>Lloyd Institute of Engineering &amp; Technology, Greater Noida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267104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886</Words>
  <Application>Microsoft Office PowerPoint</Application>
  <DocSecurity>0</DocSecurity>
  <PresentationFormat>Widescreen</PresentationFormat>
  <Paragraphs>166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sushant kumar</cp:lastModifiedBy>
  <cp:revision>1</cp:revision>
  <dcterms:created xsi:type="dcterms:W3CDTF">2026-10-23T18:32:13Z</dcterms:created>
  <dcterms:modified xsi:type="dcterms:W3CDTF">2026-10-23T18:35:32Z</dcterms:modified>
</cp:coreProperties>
</file>